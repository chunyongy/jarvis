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f079c217484705" /><Relationship Type="http://schemas.openxmlformats.org/officeDocument/2006/relationships/extended-properties" Target="/docProps/app.xml" Id="R62dafc98565244be" /><Relationship Type="http://schemas.openxmlformats.org/officeDocument/2006/relationships/officeDocument" Target="/ppt/presentation.xml" Id="Rb555ae6f7d0844f1" /></Relationships>
</file>

<file path=ppt/presentation.xml><?xml version="1.0" encoding="utf-8"?>
<p:presentation xmlns:p="http://schemas.openxmlformats.org/presentationml/2006/main">
  <p:sldMasterIdLst>
    <p:sldMasterId xmlns:r="http://schemas.openxmlformats.org/officeDocument/2006/relationships" id="2147483648" r:id="R20d4924533434e0a"/>
  </p:sldMasterIdLst>
  <p:notesMasterIdLst>
    <p:notesMasterId xmlns:r="http://schemas.openxmlformats.org/officeDocument/2006/relationships" r:id="Rc39aac48f4ef4d5e"/>
  </p:notesMasterIdLst>
  <p:sldIdLst>
    <p:sldId xmlns:r="http://schemas.openxmlformats.org/officeDocument/2006/relationships" id="256" r:id="R9b3e260d3d054567"/>
    <p:sldId xmlns:r="http://schemas.openxmlformats.org/officeDocument/2006/relationships" id="257" r:id="Re6fdfe78c2a3401c"/>
    <p:sldId xmlns:r="http://schemas.openxmlformats.org/officeDocument/2006/relationships" id="258" r:id="R9b8db4276219435f"/>
    <p:sldId xmlns:r="http://schemas.openxmlformats.org/officeDocument/2006/relationships" id="259" r:id="Rbcd7b46d900c4d47"/>
    <p:sldId xmlns:r="http://schemas.openxmlformats.org/officeDocument/2006/relationships" id="260" r:id="Rce70ba449dd44c8a"/>
    <p:sldId xmlns:r="http://schemas.openxmlformats.org/officeDocument/2006/relationships" id="261" r:id="Rca3e3b2a464e4a1e"/>
    <p:sldId xmlns:r="http://schemas.openxmlformats.org/officeDocument/2006/relationships" id="262" r:id="R6128a0bcf7f44864"/>
    <p:sldId xmlns:r="http://schemas.openxmlformats.org/officeDocument/2006/relationships" id="263" r:id="R0959934a3e6645eb"/>
    <p:sldId xmlns:r="http://schemas.openxmlformats.org/officeDocument/2006/relationships" id="264" r:id="R1f354d049acb4ab7"/>
    <p:sldId xmlns:r="http://schemas.openxmlformats.org/officeDocument/2006/relationships" id="265" r:id="R99850c005bdc4b16"/>
    <p:sldId xmlns:r="http://schemas.openxmlformats.org/officeDocument/2006/relationships" id="266" r:id="R350ce3eb13534cd5"/>
    <p:sldId xmlns:r="http://schemas.openxmlformats.org/officeDocument/2006/relationships" id="267" r:id="R5b5b07cc20974d6f"/>
    <p:sldId xmlns:r="http://schemas.openxmlformats.org/officeDocument/2006/relationships" id="268" r:id="R4a3bf133d55b425f"/>
    <p:sldId xmlns:r="http://schemas.openxmlformats.org/officeDocument/2006/relationships" id="269" r:id="Re3831b60191c41bb"/>
    <p:sldId xmlns:r="http://schemas.openxmlformats.org/officeDocument/2006/relationships" id="270" r:id="R0c571d222c6e4153"/>
    <p:sldId xmlns:r="http://schemas.openxmlformats.org/officeDocument/2006/relationships" id="271" r:id="Rfbfdd7e6246a47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cea3b42fb143e1" /><Relationship Type="http://schemas.openxmlformats.org/officeDocument/2006/relationships/slideMaster" Target="/ppt/slideMasters/slideMaster1.xml" Id="R20d4924533434e0a" /><Relationship Type="http://schemas.openxmlformats.org/officeDocument/2006/relationships/notesMaster" Target="/ppt/notesMasters/notesMaster1.xml" Id="Rc39aac48f4ef4d5e" /><Relationship Type="http://schemas.openxmlformats.org/officeDocument/2006/relationships/presProps" Target="/ppt/presProps.xml" Id="Reb5f0003f4264a33" /><Relationship Type="http://schemas.openxmlformats.org/officeDocument/2006/relationships/tableStyles" Target="/ppt/tableStyles.xml" Id="Rbbe3aa65029441aa" /><Relationship Type="http://schemas.openxmlformats.org/officeDocument/2006/relationships/slide" Target="/ppt/slides/slide1.xml" Id="R9b3e260d3d054567" /><Relationship Type="http://schemas.openxmlformats.org/officeDocument/2006/relationships/slide" Target="/ppt/slides/slide2.xml" Id="Re6fdfe78c2a3401c" /><Relationship Type="http://schemas.openxmlformats.org/officeDocument/2006/relationships/slide" Target="/ppt/slides/slide3.xml" Id="R9b8db4276219435f" /><Relationship Type="http://schemas.openxmlformats.org/officeDocument/2006/relationships/slide" Target="/ppt/slides/slide4.xml" Id="Rbcd7b46d900c4d47" /><Relationship Type="http://schemas.openxmlformats.org/officeDocument/2006/relationships/slide" Target="/ppt/slides/slide5.xml" Id="Rce70ba449dd44c8a" /><Relationship Type="http://schemas.openxmlformats.org/officeDocument/2006/relationships/slide" Target="/ppt/slides/slide6.xml" Id="Rca3e3b2a464e4a1e" /><Relationship Type="http://schemas.openxmlformats.org/officeDocument/2006/relationships/slide" Target="/ppt/slides/slide7.xml" Id="R6128a0bcf7f44864" /><Relationship Type="http://schemas.openxmlformats.org/officeDocument/2006/relationships/slide" Target="/ppt/slides/slide8.xml" Id="R0959934a3e6645eb" /><Relationship Type="http://schemas.openxmlformats.org/officeDocument/2006/relationships/slide" Target="/ppt/slides/slide9.xml" Id="R1f354d049acb4ab7" /><Relationship Type="http://schemas.openxmlformats.org/officeDocument/2006/relationships/slide" Target="/ppt/slides/slide10.xml" Id="R99850c005bdc4b16" /><Relationship Type="http://schemas.openxmlformats.org/officeDocument/2006/relationships/slide" Target="/ppt/slides/slide11.xml" Id="R350ce3eb13534cd5" /><Relationship Type="http://schemas.openxmlformats.org/officeDocument/2006/relationships/slide" Target="/ppt/slides/slide12.xml" Id="R5b5b07cc20974d6f" /><Relationship Type="http://schemas.openxmlformats.org/officeDocument/2006/relationships/slide" Target="/ppt/slides/slide13.xml" Id="R4a3bf133d55b425f" /><Relationship Type="http://schemas.openxmlformats.org/officeDocument/2006/relationships/slide" Target="/ppt/slides/slide14.xml" Id="Re3831b60191c41bb" /><Relationship Type="http://schemas.openxmlformats.org/officeDocument/2006/relationships/slide" Target="/ppt/slides/slide15.xml" Id="R0c571d222c6e4153" /><Relationship Type="http://schemas.openxmlformats.org/officeDocument/2006/relationships/slide" Target="/ppt/slides/slide16.xml" Id="Rfbfdd7e6246a47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9edbe8ad6440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a16620132048aa" /><Relationship Type="http://schemas.openxmlformats.org/officeDocument/2006/relationships/notesMaster" Target="/ppt/notesMasters/notesMaster1.xml" Id="Rd330f83cb5cc4f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eb353413084bd1" /><Relationship Type="http://schemas.openxmlformats.org/officeDocument/2006/relationships/notesMaster" Target="/ppt/notesMasters/notesMaster1.xml" Id="Ra08b0642e26645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b90ac8b1544c4b" /><Relationship Type="http://schemas.openxmlformats.org/officeDocument/2006/relationships/notesMaster" Target="/ppt/notesMasters/notesMaster1.xml" Id="Reece7e9e0ec644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e6ee21d6c341c5" /><Relationship Type="http://schemas.openxmlformats.org/officeDocument/2006/relationships/notesMaster" Target="/ppt/notesMasters/notesMaster1.xml" Id="R43e8f391491f44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1ba58807d645bd" /><Relationship Type="http://schemas.openxmlformats.org/officeDocument/2006/relationships/notesMaster" Target="/ppt/notesMasters/notesMaster1.xml" Id="Rcc6b033e8a9b4e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648871486e4cf1" /><Relationship Type="http://schemas.openxmlformats.org/officeDocument/2006/relationships/notesMaster" Target="/ppt/notesMasters/notesMaster1.xml" Id="Re2ae627ac2cc47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7a1973e61d458c" /><Relationship Type="http://schemas.openxmlformats.org/officeDocument/2006/relationships/notesMaster" Target="/ppt/notesMasters/notesMaster1.xml" Id="Rd844f00c127d4f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ca6674cdd3a4bf9" /><Relationship Type="http://schemas.openxmlformats.org/officeDocument/2006/relationships/notesMaster" Target="/ppt/notesMasters/notesMaster1.xml" Id="Ra9e8a1c34a60499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f2aaa3fb7bc48c0" /><Relationship Type="http://schemas.openxmlformats.org/officeDocument/2006/relationships/notesMaster" Target="/ppt/notesMasters/notesMaster1.xml" Id="R290770f2ff7346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5aebeb26614ee5" /><Relationship Type="http://schemas.openxmlformats.org/officeDocument/2006/relationships/notesMaster" Target="/ppt/notesMasters/notesMaster1.xml" Id="R4b0e0d88f2534a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7f30d48ba114924" /><Relationship Type="http://schemas.openxmlformats.org/officeDocument/2006/relationships/notesMaster" Target="/ppt/notesMasters/notesMaster1.xml" Id="R1d78dca423a444c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71e6eef2d546d7" /><Relationship Type="http://schemas.openxmlformats.org/officeDocument/2006/relationships/notesMaster" Target="/ppt/notesMasters/notesMaster1.xml" Id="R5feb1d6554a5496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b475b24cfe543a7" /><Relationship Type="http://schemas.openxmlformats.org/officeDocument/2006/relationships/notesMaster" Target="/ppt/notesMasters/notesMaster1.xml" Id="Ra8671a81d0484db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54ee181f364a32" /><Relationship Type="http://schemas.openxmlformats.org/officeDocument/2006/relationships/notesMaster" Target="/ppt/notesMasters/notesMaster1.xml" Id="R6f4297eaecff4e9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cbfce53860442ec" /><Relationship Type="http://schemas.openxmlformats.org/officeDocument/2006/relationships/notesMaster" Target="/ppt/notesMasters/notesMaster1.xml" Id="Rcb5ea4f4071e409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ab0a00525b94bd5" /><Relationship Type="http://schemas.openxmlformats.org/officeDocument/2006/relationships/notesMaster" Target="/ppt/notesMasters/notesMaster1.xml" Id="Rb21e50ba1dd14c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발표의 핵심은 음성비서 기능 자체가 아닙니다. 사용자의 말을 명령으로 볼지, 어떤 행동을 허용할지, 실행 결과가 실제로 맞는지를 분리해 통제하는 Windows 작업 에이전트를 만들고 있습니다. 작품은 전체 시스템이고 논문은 이 실행 제어 하네스의 효과를 비교 실험합니다.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상시대기형에서는 오인식보다 더 큰 문제가 있습니다. 문장을 정확히 인식했더라도 사용자가 실제 명령한 것인지, 단순한 대화인지, 그리고 자동 실행해도 되는지를 별도로 판단해야 합니다. 이 구분이 없으면 작은 오류가 파일 삭제나 초기화 같은 큰 사고로 이어집니다.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PC를 클릭하는 기능 자체는 이미 여러 에이전트가 제공합니다. JARVIS-PC의 차이는 상시 음성에서 명령인지 먼저 판별하고, 모델의 계획과 실행 권한을 분리하며, 실행 후 운영체제 상태를 독립적으로 확인한다는 점입니다. OSWorld 2.0에서 Claude Opus 4.8 최대 추론 설정의 완전 완료율은 20.6%였습니다. 이 수치는 기존 시스템이 쓸모없다는 뜻이 아니라 긴 작업에서 제약 유지와 검증이 여전히 어렵다는 뜻입니다.</a:t>
            </a:r>
          </a:p>
          <a:p xmlns:a="http://schemas.openxmlformats.org/drawingml/2006/main">
            <a:r>
              <a:t/>
            </a:r>
          </a:p>
          <a:p xmlns:a="http://schemas.openxmlformats.org/drawingml/2006/main">
            <a:r>
              <a:t>출처</a:t>
            </a:r>
          </a:p>
          <a:p xmlns:a="http://schemas.openxmlformats.org/drawingml/2006/main">
            <a:r>
              <a:t>Yuan et al., OSWorld 2.0, 2026, https://arxiv.org/abs/2606.29537</a:t>
            </a:r>
          </a:p>
          <a:p xmlns:a="http://schemas.openxmlformats.org/drawingml/2006/main">
            <a:r>
              <a:t>Microsoft Research, UFO2, 2026, https://www.microsoft.com/en-us/research/publication/ufo2-the-desktop-agentos/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졸업작품과 논문을 분리해 설명할 수 있습니다. 작품에서는 음성 입력부터 Windows 조작과 결과 검증까지 전체 시스템을 보여줍니다. 논문에서는 Intent, Risk, Execution 세 단계 제어가 오작동을 얼마나 줄이는지 실험합니다.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시스템은 일곱 단계로 구성됩니다. 비용을 줄이기 위해 화면을 계속 촬영하지 않고 창 변경이나 UI 이벤트가 있을 때만 비전 모델을 호출합니다. 실행은 API나 PowerShell을 우선하고, 불가능할 때 UI Automation과 화면 기반 클릭을 사용합니다. 실행 후에는 반드시 결과를 확인하고 실패하면 재계획합니다.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실행 정책은 세 단계입니다. 낮은 위험은 즉시 실행하고, 중간 위험은 작업 계획과 취소 시간을 제공합니다. 삭제나 초기화, 외부 메시지와 결제는 음성 확인만으로 실행하지 않고 화면 승인이나 본인 인증을 요구합니다. OS-Harm 연구도 컴퓨터 사용 에이전트가 오용 요청과 프롬프트 주입에 취약할 수 있음을 보여줍니다.</a:t>
            </a:r>
          </a:p>
          <a:p xmlns:a="http://schemas.openxmlformats.org/drawingml/2006/main">
            <a:r>
              <a:t/>
            </a:r>
          </a:p>
          <a:p xmlns:a="http://schemas.openxmlformats.org/drawingml/2006/main">
            <a:r>
              <a:t>출처</a:t>
            </a:r>
          </a:p>
          <a:p xmlns:a="http://schemas.openxmlformats.org/drawingml/2006/main">
            <a:r>
              <a:t>Kuntz et al., OS-Harm: A Benchmark for Measuring Safety of Computer Use Agents, 2025, https://arxiv.org/abs/2506.14866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구현은 모듈 경계를 명확히 나눕니다. 각 함수는 원시 문자열 대신 구조화된 객체를 주고받습니다. 따라서 STT나 LLM 모델을 바꾸더라도 전체 코드를 다시 만들 필요가 없고, 의도 분류기와 위험 판단기만 독립적으로 정확도를 측정할 수 있습니다.</a:t>
            </a:r>
          </a:p>
          <a:p xmlns:a="http://schemas.openxmlformats.org/drawingml/2006/main">
            <a:r>
              <a:t/>
            </a:r>
          </a:p>
          <a:p xmlns:a="http://schemas.openxmlformats.org/drawingml/2006/main">
            <a:r>
              <a:t>출처</a:t>
            </a:r>
          </a:p>
          <a:p xmlns:a="http://schemas.openxmlformats.org/drawingml/2006/main">
            <a:r>
              <a:t/>
            </a:r>
          </a:p>
          <a:p xmlns:a="http://schemas.openxmlformats.org/drawingml/2006/main">
            <a:r>
              <a:t/>
            </a:r>
          </a:p>
          <a:p xmlns:a="http://schemas.openxmlformats.org/drawingml/2006/main">
            <a:r>
              <a:t>발표 후 참고</a:t>
            </a:r>
          </a:p>
          <a:p xmlns:a="http://schemas.openxmlformats.org/drawingml/2006/main">
            <a:r>
              <a:t>마스터 프롬프트 핵심 규칙:</a:t>
            </a:r>
          </a:p>
          <a:p xmlns:a="http://schemas.openxmlformats.org/drawingml/2006/main">
            <a:r>
              <a:t>1) 사용자의 최종 목표를 TaskPlan의 원자적 단계로 분해한다.</a:t>
            </a:r>
          </a:p>
          <a:p xmlns:a="http://schemas.openxmlformats.org/drawingml/2006/main">
            <a:r>
              <a:t>2) 각 단계에 tool, target, parameters, expected_state, rollback, risk_features를 기록한다.</a:t>
            </a:r>
          </a:p>
          <a:p xmlns:a="http://schemas.openxmlformats.org/drawingml/2006/main">
            <a:r>
              <a:t>3) 시스템 상태를 추측하지 말고 ContextSnapshot에 없는 정보는 관찰 또는 질문으로 해결한다.</a:t>
            </a:r>
          </a:p>
          <a:p xmlns:a="http://schemas.openxmlformats.org/drawingml/2006/main">
            <a:r>
              <a:t>4) 외부 전송·삭제·설치·권한 상승·계정·결제·초기화는 실행하지 말고 SafetyDecision을 요청한다.</a:t>
            </a:r>
          </a:p>
          <a:p xmlns:a="http://schemas.openxmlformats.org/drawingml/2006/main">
            <a:r>
              <a:t>5) 실행 후 expected_state와 실제 상태를 비교하고 불일치하면 최대 2회 재계획한다.</a:t>
            </a:r>
          </a:p>
          <a:p xmlns:a="http://schemas.openxmlformats.org/drawingml/2006/main">
            <a:r>
              <a:t>6) 출력은 설명문 없이 Goal, Assumptions, Plan, RequiredApprovals, CompletionCriteria JSON 스키마를 따른다.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논문은 모델을 바꾸는 실험이 아닙니다. 동일 모델, 동일 작업, 동일 초기 상태에서 하네스의 제어 수준만 바꿉니다. B0는 직접 실행, B1은 매번 확인, P1은 의도와 위험 정책, P2는 독립 검증과 제한된 복구까지 포함합니다. P2가 더 좋다는 결론은 실험 전에 정하지 않습니다. 성공률, 위험 실행, 확인 부담, 시간과 비용을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하네스는 모델을 실제 컴퓨터에 연결하는 실행 틀입니다. 스킬은 반복 작업의 절차이고 도구는 실제 한 번의 동작입니다. 가장 중요한 구분은 스킬이 권한을 늘리지 않는다는 점입니다. JARVIS-PC에서는 모델이나 스킬이 임의 명령을 실행하지 못하고 등록된 기능만 정책과 승인 뒤에 실행합니다.</a:t>
            </a:r>
          </a:p>
          <a:p xmlns:a="http://schemas.openxmlformats.org/drawingml/2006/main">
            <a:r>
              <a:t/>
            </a:r>
          </a:p>
          <a:p xmlns:a="http://schemas.openxmlformats.org/drawingml/2006/main">
            <a:r>
              <a:t>출처</a:t>
            </a:r>
          </a:p>
          <a:p xmlns:a="http://schemas.openxmlformats.org/drawingml/2006/main">
            <a:r>
              <a:t>OpenAI, Skills, https://developers.openai.com/api/docs/guides/tools-skills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하네스는 모델을 재학습하지 않습니다. 대신 모델이 무엇을 보고, 어떤 행동을 선택하며, 실패했을 때 어떤 피드백을 받는지를 바꿉니다. SWE-agent는 에이전트용 컴퓨터 인터페이스 설계가 실제 코드 수정 성능과 행동에 영향을 준다고 보고했습니다. ReAct는 추론과 행동을 번갈아 수행해 외부 관찰로 계획을 갱신하는 구조를 제시했습니다.</a:t>
            </a:r>
          </a:p>
          <a:p xmlns:a="http://schemas.openxmlformats.org/drawingml/2006/main">
            <a:r>
              <a:t/>
            </a:r>
          </a:p>
          <a:p xmlns:a="http://schemas.openxmlformats.org/drawingml/2006/main">
            <a:r>
              <a:t>출처</a:t>
            </a:r>
          </a:p>
          <a:p xmlns:a="http://schemas.openxmlformats.org/drawingml/2006/main">
            <a:r>
              <a:t>Yao et al., ReAct, 2023, https://arxiv.org/abs/2210.03629</a:t>
            </a:r>
          </a:p>
          <a:p xmlns:a="http://schemas.openxmlformats.org/drawingml/2006/main">
            <a:r>
              <a:t>Yang et al., SWE-agent, 2024, https://arxiv.org/abs/2405.15793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연구들은 JARVIS-PC 전체가 이미 증명됐다는 뜻이 아닙니다. ReAct는 행동과 관찰, Voyager는 스킬 재사용, SWE-agent는 인터페이스, OSWorld와 Windows Agent Arena는 실제 컴퓨터 평가, OS-Harm은 안전 평가의 선례입니다. JARVIS-PC는 이 원리를 상시 음성 명령 판별과 위험·결과 검증에 결합하고 B0/B1/P1/P2로 자체 검증합니다.</a:t>
            </a:r>
          </a:p>
          <a:p xmlns:a="http://schemas.openxmlformats.org/drawingml/2006/main">
            <a:r>
              <a:t/>
            </a:r>
          </a:p>
          <a:p xmlns:a="http://schemas.openxmlformats.org/drawingml/2006/main">
            <a:r>
              <a:t>출처</a:t>
            </a:r>
          </a:p>
          <a:p xmlns:a="http://schemas.openxmlformats.org/drawingml/2006/main">
            <a:r>
              <a:t>Yao et al., ReAct, https://arxiv.org/abs/2210.03629</a:t>
            </a:r>
          </a:p>
          <a:p xmlns:a="http://schemas.openxmlformats.org/drawingml/2006/main">
            <a:r>
              <a:t>Wang et al., Voyager, https://arxiv.org/abs/2305.16291</a:t>
            </a:r>
          </a:p>
          <a:p xmlns:a="http://schemas.openxmlformats.org/drawingml/2006/main">
            <a:r>
              <a:t>Yang et al., SWE-agent, https://arxiv.org/abs/2405.15793</a:t>
            </a:r>
          </a:p>
          <a:p xmlns:a="http://schemas.openxmlformats.org/drawingml/2006/main">
            <a:r>
              <a:t>Xie et al., OSWorld, https://arxiv.org/abs/2404.07972</a:t>
            </a:r>
          </a:p>
          <a:p xmlns:a="http://schemas.openxmlformats.org/drawingml/2006/main">
            <a:r>
              <a:t>Bonatti et al., Windows Agent Arena, https://arxiv.org/abs/2409.08264</a:t>
            </a:r>
          </a:p>
          <a:p xmlns:a="http://schemas.openxmlformats.org/drawingml/2006/main">
            <a:r>
              <a:t>Kuntz et al., OS-Harm, https://arxiv.org/abs/2506.14866</a:t>
            </a:r>
          </a:p>
          <a:p xmlns:a="http://schemas.openxmlformats.org/drawingml/2006/main">
            <a:r>
              <a:t>Yuan et al., OSWorld 2.0, https://arxiv.org/abs/2606.29537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교수님이 기존 에이전트보다 얼마나 효율적인지 물으면 아직 확정 수치가 없다고 답해야 합니다. 현재 120개 정확한 실험 셀 중 70개를 수집했고 50개는 snapshot VM이 필요합니다. 효율성은 단순 속도가 아니라 검증된 성공을 얻는 데 필요한 시간, 모델 호출, 토큰, 사용자 확인으로 계산합니다. P2는 안전성과 복구율을 높일 수 있지만 검증 비용도 늘 수 있습니다. 정확도와 비용을 함께 평가해야 한다는 근거는 AI Agents That Matter에 있습니다.</a:t>
            </a:r>
          </a:p>
          <a:p xmlns:a="http://schemas.openxmlformats.org/drawingml/2006/main">
            <a:r>
              <a:t/>
            </a:r>
          </a:p>
          <a:p xmlns:a="http://schemas.openxmlformats.org/drawingml/2006/main">
            <a:r>
              <a:t>출처</a:t>
            </a:r>
          </a:p>
          <a:p xmlns:a="http://schemas.openxmlformats.org/drawingml/2006/main">
            <a:r>
              <a:t>Kapoor et al., AI Agents That Matter, 2024, https://arxiv.org/abs/2407.01502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프로그램 핵심 경로와 안전 제어는 구현 및 자동 검증을 마쳤습니다. 전체 회귀는 766개 통과, 3개 건너뜀, 코드 줄 기준 시험 범위 83%입니다. 배치 기반 설치 프로그램으로 깨끗한 사용자 설치 경로에 실제 최초 설치를 완료했고 원본과 설치본 manifest가 일치했습니다. 다만 Authenticode 코드 서명 인증서가 없어 공개 배포 완료로 보지는 않습니다. 벤치마크는 70/120이며 현재 PC에서 가능한 70셀은 모두 완료했습니다. 남은 50셀은 snapshot VM이 필요합니다. 실제 음성, Windows Hello, 참가자 연구는 새 동의와 외부 조건이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구현과 실험 결과를 구분해서 말해야 합니다. 프로그램에는 13개 제한 기능, 정책, 승인, 독립 검증, 감사와 STOP이 연결되어 있습니다. 최신 완전 회귀 기준은 766 통과, 3 건너뜀, 코드 줄 기준 83%입니다. 설치 프로그램은 실제 최초 설치, 설치본 manifest 일치, 자격 증명 사전 점검, 13개 기능 서비스 조립, 자동 시작 미등록까지 확인했습니다. 그러나 코드 서명, VM 50셀, 실제 음성·Hello, 참가자 실험은 외부 조건이 필요합니다. 따라서 공개 배포 완료나 논문 효과를 과장하지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슬라이드는 질문을 받기 전에 빠르게 훑거나 질의응답 때 사용할 수 있습니다. 가장 중요한 답은 세 가지입니다. 첫째, 연구 기여는 특정 LLM이 아니라 실행 제어 하네스입니다. 둘째, 스킬은 권한이 아닙니다. 셋째, 효율 우월성은 아직 확정하지 않았고 완전한 비교 실험으로 검증합니다.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JARVIS-PC는 LLM의 말을 바로 실행하는 비서가 아닙니다. 모델은 계획을 제안하고, 등록 기능과 정책이 권한을 제한하며, 실행 후 독립 검증기가 실제 결과를 확인합니다. 졸업작품은 이 전체 시스템이고, 졸업논문은 같은 모델에서 하네스의 제어 수준을 바꿨을 때 성공률, 위험 실행, 확인 부담, 시간과 비용이 어떻게 달라지는지 검증합니다.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a8e0ad5ca348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e37552f44841e1" /><Relationship Type="http://schemas.openxmlformats.org/officeDocument/2006/relationships/slideLayout" Target="/ppt/slideLayouts/slideLayout1.xml" Id="R901a3198f75948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1a3198f75948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cdf8bcf3f584328" /><Relationship Type="http://schemas.openxmlformats.org/officeDocument/2006/relationships/notesSlide" Target="/ppt/notesSlides/notesSlide1.xml" Id="R1900f4eafc4b4e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a3d47efe3944dc" /><Relationship Type="http://schemas.openxmlformats.org/officeDocument/2006/relationships/notesSlide" Target="/ppt/notesSlides/notesSlide2.xml" Id="Rb130608648984a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8b77a0f4454ca8" /><Relationship Type="http://schemas.openxmlformats.org/officeDocument/2006/relationships/notesSlide" Target="/ppt/notesSlides/notesSlide3.xml" Id="Rd66cc286465449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ab47e4bac3d4c8f" /><Relationship Type="http://schemas.openxmlformats.org/officeDocument/2006/relationships/notesSlide" Target="/ppt/notesSlides/notesSlide4.xml" Id="R6fe3eaaaf6d345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295fd56c93b4f0f" /><Relationship Type="http://schemas.openxmlformats.org/officeDocument/2006/relationships/notesSlide" Target="/ppt/notesSlides/notesSlide5.xml" Id="R3bd4ece3ddd246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0fe584b63cd40da" /><Relationship Type="http://schemas.openxmlformats.org/officeDocument/2006/relationships/notesSlide" Target="/ppt/notesSlides/notesSlide6.xml" Id="R08f2bcddd0014f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6deaddb1f5343f3" /><Relationship Type="http://schemas.openxmlformats.org/officeDocument/2006/relationships/notesSlide" Target="/ppt/notesSlides/notesSlide7.xml" Id="R31577b3f9bfc48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f2d99a099d44555" /><Relationship Type="http://schemas.openxmlformats.org/officeDocument/2006/relationships/notesSlide" Target="/ppt/notesSlides/notesSlide8.xml" Id="Racc2133a6b6d4e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6cf9d2235cb4e2b" /><Relationship Type="http://schemas.openxmlformats.org/officeDocument/2006/relationships/notesSlide" Target="/ppt/notesSlides/notesSlide9.xml" Id="R690d59c577394f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927999db1504de9" /><Relationship Type="http://schemas.openxmlformats.org/officeDocument/2006/relationships/notesSlide" Target="/ppt/notesSlides/notesSlide10.xml" Id="R58024263043c459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33571bc9f8a47ba" /><Relationship Type="http://schemas.openxmlformats.org/officeDocument/2006/relationships/notesSlide" Target="/ppt/notesSlides/notesSlide11.xml" Id="R4c98d8342fa94fd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4895cff3b5741b0" /><Relationship Type="http://schemas.openxmlformats.org/officeDocument/2006/relationships/notesSlide" Target="/ppt/notesSlides/notesSlide12.xml" Id="R27aa1b9e1d1b490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fcd5920f5024cb4" /><Relationship Type="http://schemas.openxmlformats.org/officeDocument/2006/relationships/notesSlide" Target="/ppt/notesSlides/notesSlide13.xml" Id="R9fd8ebc75b994a9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765636656ad4bcf" /><Relationship Type="http://schemas.openxmlformats.org/officeDocument/2006/relationships/notesSlide" Target="/ppt/notesSlides/notesSlide14.xml" Id="Rad6b5203146f49c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5bda18d0a1642a7" /><Relationship Type="http://schemas.openxmlformats.org/officeDocument/2006/relationships/notesSlide" Target="/ppt/notesSlides/notesSlide15.xml" Id="R3683b9f256a74a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8add2b432af4923" /><Relationship Type="http://schemas.openxmlformats.org/officeDocument/2006/relationships/notesSlide" Target="/ppt/notesSlides/notesSlide16.xml" Id="Redd80e9004ee4a82" /></Relationships>
</file>

<file path=ppt/slides/slide1.xml><?xml version="1.0" encoding="utf-8"?>
<p:sld xmlns:p="http://schemas.openxmlformats.org/presentationml/2006/main">
  <p:cSld>
    <p:bg>
      <p:bgPr>
        <a:solidFill xmlns:a="http://schemas.openxmlformats.org/drawingml/2006/main">
          <a:srgbClr val="0E172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550880-2832-4DF0-B300-31D9CF78D100}"/>
              </a:ext>
            </a:extLst>
          </p:cNvPr>
          <p:cNvSpPr>
            <a:spLocks xmlns:a="http://schemas.openxmlformats.org/drawingml/2006/main" noGrp="1"/>
          </p:cNvSpPr>
          <p:nvPr/>
        </p:nvSpPr>
        <p:spPr>
          <a:xfrm xmlns:a="http://schemas.openxmlformats.org/drawingml/2006/main">
            <a:off x="685800" y="1143000"/>
            <a:ext cx="7524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600" b="1">
                <a:solidFill>
                  <a:srgbClr val="FFFFFF"/>
                </a:solidFill>
                <a:latin typeface="NanumGothic"/>
                <a:ea typeface="NanumGothic"/>
                <a:cs typeface="NanumGothic"/>
              </a:defRPr>
            </a:pPr>
            <a:r>
              <a:rPr sz="3600" b="1">
                <a:solidFill>
                  <a:srgbClr val="FFFFFF"/>
                </a:solidFill>
                <a:latin typeface="NanumGothic"/>
                <a:ea typeface="NanumGothic"/>
                <a:cs typeface="NanumGothic"/>
              </a:rPr>
              <a:t>음성 기반 Windows 작업 에이전트</a:t>
            </a:r>
          </a:p>
          <a:p xmlns:a="http://schemas.openxmlformats.org/drawingml/2006/main">
            <a:pPr algn="l">
              <a:buNone/>
              <a:defRPr sz="3600" b="1">
                <a:solidFill>
                  <a:srgbClr val="FFFFFF"/>
                </a:solidFill>
                <a:latin typeface="NanumGothic"/>
                <a:ea typeface="NanumGothic"/>
                <a:cs typeface="NanumGothic"/>
              </a:defRPr>
            </a:pPr>
            <a:r>
              <a:rPr sz="3600" b="1">
                <a:solidFill>
                  <a:srgbClr val="FFFFFF"/>
                </a:solidFill>
                <a:latin typeface="NanumGothic"/>
                <a:ea typeface="NanumGothic"/>
                <a:cs typeface="NanumGothic"/>
              </a:rPr>
              <a:t>JARVIS-PC</a:t>
            </a:r>
          </a:p>
        </p:txBody>
      </p:sp>
      <p:sp>
        <p:nvSpPr>
          <p:cNvPr id="2" name="">
            <a:extLst xmlns:a="http://schemas.openxmlformats.org/drawingml/2006/main">
              <a:ext uri="{FF2B5EF4-FFF2-40B4-BE49-F238E27FC236}">
                <a16:creationId xmlns:a16="http://schemas.microsoft.com/office/drawing/2014/main" id="{CC2CD248-F921-4C99-B261-2F4BAE033511}"/>
              </a:ext>
            </a:extLst>
          </p:cNvPr>
          <p:cNvSpPr>
            <a:spLocks xmlns:a="http://schemas.openxmlformats.org/drawingml/2006/main" noGrp="1"/>
          </p:cNvSpPr>
          <p:nvPr/>
        </p:nvSpPr>
        <p:spPr>
          <a:xfrm xmlns:a="http://schemas.openxmlformats.org/drawingml/2006/main">
            <a:off x="723900" y="309562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00" b="0">
                <a:solidFill>
                  <a:srgbClr val="C8D5E8"/>
                </a:solidFill>
                <a:latin typeface="NanumGothic"/>
                <a:ea typeface="NanumGothic"/>
                <a:cs typeface="NanumGothic"/>
              </a:defRPr>
            </a:pPr>
            <a:r>
              <a:rPr sz="1800" b="0">
                <a:solidFill>
                  <a:srgbClr val="C8D5E8"/>
                </a:solidFill>
                <a:latin typeface="NanumGothic"/>
                <a:ea typeface="NanumGothic"/>
                <a:cs typeface="NanumGothic"/>
              </a:rPr>
              <a:t>명령 의도, 작업 위험, 실제 결과를 분리해 판단하는 실행 제어 구조</a:t>
            </a:r>
          </a:p>
        </p:txBody>
      </p:sp>
      <p:sp>
        <p:nvSpPr>
          <p:cNvPr id="3" name="">
            <a:extLst xmlns:a="http://schemas.openxmlformats.org/drawingml/2006/main">
              <a:ext uri="{FF2B5EF4-FFF2-40B4-BE49-F238E27FC236}">
                <a16:creationId xmlns:a16="http://schemas.microsoft.com/office/drawing/2014/main" id="{13EDAF6C-0E6A-4474-8C83-4A5778AF3C66}"/>
              </a:ext>
            </a:extLst>
          </p:cNvPr>
          <p:cNvSpPr>
            <a:spLocks xmlns:a="http://schemas.openxmlformats.org/drawingml/2006/main" noGrp="1"/>
          </p:cNvSpPr>
          <p:nvPr/>
        </p:nvSpPr>
        <p:spPr>
          <a:xfrm xmlns:a="http://schemas.openxmlformats.org/drawingml/2006/main">
            <a:off x="742950" y="3895725"/>
            <a:ext cx="6762750" cy="0"/>
          </a:xfrm>
          <a:prstGeom xmlns:a="http://schemas.openxmlformats.org/drawingml/2006/main" prst="line">
            <a:avLst/>
          </a:prstGeom>
          <a:noFill xmlns:a="http://schemas.openxmlformats.org/drawingml/2006/main"/>
          <a:ln xmlns:a="http://schemas.openxmlformats.org/drawingml/2006/main" w="38100">
            <a:solidFill>
              <a:srgbClr val="59C3E5"/>
            </a:solidFill>
            <a:prstDash val="solid"/>
          </a:ln>
        </p:spPr>
      </p:sp>
      <p:sp>
        <p:nvSpPr>
          <p:cNvPr id="4" name="">
            <a:extLst xmlns:a="http://schemas.openxmlformats.org/drawingml/2006/main">
              <a:ext uri="{FF2B5EF4-FFF2-40B4-BE49-F238E27FC236}">
                <a16:creationId xmlns:a16="http://schemas.microsoft.com/office/drawing/2014/main" id="{1688986C-E7CD-4957-8A8B-1D9064D4F004}"/>
              </a:ext>
            </a:extLst>
          </p:cNvPr>
          <p:cNvSpPr>
            <a:spLocks xmlns:a="http://schemas.openxmlformats.org/drawingml/2006/main" noGrp="1"/>
          </p:cNvSpPr>
          <p:nvPr/>
        </p:nvSpPr>
        <p:spPr>
          <a:xfrm xmlns:a="http://schemas.openxmlformats.org/drawingml/2006/main">
            <a:off x="742950" y="4219575"/>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졸업작품: 안전한 Windows PC 제어 에이전트</a:t>
            </a:r>
          </a:p>
          <a:p xmlns:a="http://schemas.openxmlformats.org/drawingml/2006/main">
            <a:pPr algn="l">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졸업논문: 의도·위험·실행·검증 하네스의 효과</a:t>
            </a:r>
          </a:p>
        </p:txBody>
      </p:sp>
      <p:sp>
        <p:nvSpPr>
          <p:cNvPr id="5" name="">
            <a:extLst xmlns:a="http://schemas.openxmlformats.org/drawingml/2006/main">
              <a:ext uri="{FF2B5EF4-FFF2-40B4-BE49-F238E27FC236}">
                <a16:creationId xmlns:a16="http://schemas.microsoft.com/office/drawing/2014/main" id="{0BF06B70-E8BD-4E07-BD78-653B5746E821}"/>
              </a:ext>
            </a:extLst>
          </p:cNvPr>
          <p:cNvSpPr>
            <a:spLocks xmlns:a="http://schemas.openxmlformats.org/drawingml/2006/main" noGrp="1"/>
          </p:cNvSpPr>
          <p:nvPr/>
        </p:nvSpPr>
        <p:spPr>
          <a:xfrm xmlns:a="http://schemas.openxmlformats.org/drawingml/2006/main">
            <a:off x="8763000" y="1238250"/>
            <a:ext cx="2381250" cy="4095750"/>
          </a:xfrm>
          <a:prstGeom xmlns:a="http://schemas.openxmlformats.org/drawingml/2006/main" prst="roundRect">
            <a:avLst>
              <a:gd name="adj" fmla="val 7200"/>
            </a:avLst>
          </a:prstGeom>
          <a:solidFill xmlns:a="http://schemas.openxmlformats.org/drawingml/2006/main">
            <a:srgbClr val="15233B"/>
          </a:solidFill>
          <a:ln xmlns:a="http://schemas.openxmlformats.org/drawingml/2006/main" w="9525">
            <a:solidFill>
              <a:srgbClr val="314767"/>
            </a:solidFill>
            <a:prstDash val="solid"/>
          </a:ln>
        </p:spPr>
      </p:sp>
      <p:sp>
        <p:nvSpPr>
          <p:cNvPr id="6" name="">
            <a:extLst xmlns:a="http://schemas.openxmlformats.org/drawingml/2006/main">
              <a:ext uri="{FF2B5EF4-FFF2-40B4-BE49-F238E27FC236}">
                <a16:creationId xmlns:a16="http://schemas.microsoft.com/office/drawing/2014/main" id="{2EC5B56B-3F34-430D-B22C-03575D5B94DE}"/>
              </a:ext>
            </a:extLst>
          </p:cNvPr>
          <p:cNvSpPr>
            <a:spLocks xmlns:a="http://schemas.openxmlformats.org/drawingml/2006/main" noGrp="1"/>
          </p:cNvSpPr>
          <p:nvPr/>
        </p:nvSpPr>
        <p:spPr>
          <a:xfrm xmlns:a="http://schemas.openxmlformats.org/drawingml/2006/main">
            <a:off x="9048750" y="157162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59C3E5"/>
                </a:solidFill>
                <a:latin typeface="NanumGothic"/>
                <a:ea typeface="NanumGothic"/>
                <a:cs typeface="NanumGothic"/>
              </a:defRPr>
            </a:pPr>
            <a:r>
              <a:rPr sz="1500" b="1">
                <a:solidFill>
                  <a:srgbClr val="59C3E5"/>
                </a:solidFill>
                <a:latin typeface="NanumGothic"/>
                <a:ea typeface="NanumGothic"/>
                <a:cs typeface="NanumGothic"/>
              </a:rPr>
              <a:t>듣기</a:t>
            </a:r>
          </a:p>
        </p:txBody>
      </p:sp>
      <p:sp>
        <p:nvSpPr>
          <p:cNvPr id="7" name="">
            <a:extLst xmlns:a="http://schemas.openxmlformats.org/drawingml/2006/main">
              <a:ext uri="{FF2B5EF4-FFF2-40B4-BE49-F238E27FC236}">
                <a16:creationId xmlns:a16="http://schemas.microsoft.com/office/drawing/2014/main" id="{19442F4A-0EDF-4E76-A608-64DAEB9613E4}"/>
              </a:ext>
            </a:extLst>
          </p:cNvPr>
          <p:cNvSpPr>
            <a:spLocks xmlns:a="http://schemas.openxmlformats.org/drawingml/2006/main" noGrp="1"/>
          </p:cNvSpPr>
          <p:nvPr/>
        </p:nvSpPr>
        <p:spPr>
          <a:xfrm xmlns:a="http://schemas.openxmlformats.org/drawingml/2006/main">
            <a:off x="9048750" y="226695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이해</a:t>
            </a:r>
          </a:p>
        </p:txBody>
      </p:sp>
      <p:sp>
        <p:nvSpPr>
          <p:cNvPr id="8" name="">
            <a:extLst xmlns:a="http://schemas.openxmlformats.org/drawingml/2006/main">
              <a:ext uri="{FF2B5EF4-FFF2-40B4-BE49-F238E27FC236}">
                <a16:creationId xmlns:a16="http://schemas.microsoft.com/office/drawing/2014/main" id="{4163F3D1-7EBE-4AF1-B234-4BA58131B219}"/>
              </a:ext>
            </a:extLst>
          </p:cNvPr>
          <p:cNvSpPr>
            <a:spLocks xmlns:a="http://schemas.openxmlformats.org/drawingml/2006/main" noGrp="1"/>
          </p:cNvSpPr>
          <p:nvPr/>
        </p:nvSpPr>
        <p:spPr>
          <a:xfrm xmlns:a="http://schemas.openxmlformats.org/drawingml/2006/main">
            <a:off x="9048750" y="296227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2A93B"/>
                </a:solidFill>
                <a:latin typeface="NanumGothic"/>
                <a:ea typeface="NanumGothic"/>
                <a:cs typeface="NanumGothic"/>
              </a:defRPr>
            </a:pPr>
            <a:r>
              <a:rPr sz="1500" b="1">
                <a:solidFill>
                  <a:srgbClr val="F2A93B"/>
                </a:solidFill>
                <a:latin typeface="NanumGothic"/>
                <a:ea typeface="NanumGothic"/>
                <a:cs typeface="NanumGothic"/>
              </a:rPr>
              <a:t>판단</a:t>
            </a:r>
          </a:p>
        </p:txBody>
      </p:sp>
      <p:sp>
        <p:nvSpPr>
          <p:cNvPr id="9" name="">
            <a:extLst xmlns:a="http://schemas.openxmlformats.org/drawingml/2006/main">
              <a:ext uri="{FF2B5EF4-FFF2-40B4-BE49-F238E27FC236}">
                <a16:creationId xmlns:a16="http://schemas.microsoft.com/office/drawing/2014/main" id="{32B6F6AF-E678-4B8A-8583-BC481FEE7BD6}"/>
              </a:ext>
            </a:extLst>
          </p:cNvPr>
          <p:cNvSpPr>
            <a:spLocks xmlns:a="http://schemas.openxmlformats.org/drawingml/2006/main" noGrp="1"/>
          </p:cNvSpPr>
          <p:nvPr/>
        </p:nvSpPr>
        <p:spPr>
          <a:xfrm xmlns:a="http://schemas.openxmlformats.org/drawingml/2006/main">
            <a:off x="9048750" y="36576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2FA36B"/>
                </a:solidFill>
                <a:latin typeface="NanumGothic"/>
                <a:ea typeface="NanumGothic"/>
                <a:cs typeface="NanumGothic"/>
              </a:defRPr>
            </a:pPr>
            <a:r>
              <a:rPr sz="1500" b="1">
                <a:solidFill>
                  <a:srgbClr val="2FA36B"/>
                </a:solidFill>
                <a:latin typeface="NanumGothic"/>
                <a:ea typeface="NanumGothic"/>
                <a:cs typeface="NanumGothic"/>
              </a:rPr>
              <a:t>실행</a:t>
            </a:r>
          </a:p>
        </p:txBody>
      </p:sp>
      <p:sp>
        <p:nvSpPr>
          <p:cNvPr id="10" name="">
            <a:extLst xmlns:a="http://schemas.openxmlformats.org/drawingml/2006/main">
              <a:ext uri="{FF2B5EF4-FFF2-40B4-BE49-F238E27FC236}">
                <a16:creationId xmlns:a16="http://schemas.microsoft.com/office/drawing/2014/main" id="{C11E6BCB-4AD6-40F7-9049-EE07CA33A937}"/>
              </a:ext>
            </a:extLst>
          </p:cNvPr>
          <p:cNvSpPr>
            <a:spLocks xmlns:a="http://schemas.openxmlformats.org/drawingml/2006/main" noGrp="1"/>
          </p:cNvSpPr>
          <p:nvPr/>
        </p:nvSpPr>
        <p:spPr>
          <a:xfrm xmlns:a="http://schemas.openxmlformats.org/drawingml/2006/main">
            <a:off x="9048750" y="435292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확인</a:t>
            </a:r>
          </a:p>
        </p:txBody>
      </p:sp>
    </p:spTree>
    <p:extLst>
      <p:ext uri="{BB962C8B-B14F-4D97-AF65-F5344CB8AC3E}">
        <p14:creationId xmlns:p14="http://schemas.microsoft.com/office/powerpoint/2010/main" val="15524132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00AC1A2-1433-44E2-95B6-1A1B1DF97A7E}"/>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왜 ‘항상 듣는 PC 에이전트’가 어려운가</a:t>
            </a:r>
          </a:p>
        </p:txBody>
      </p:sp>
      <p:sp>
        <p:nvSpPr>
          <p:cNvPr id="2" name="">
            <a:extLst xmlns:a="http://schemas.openxmlformats.org/drawingml/2006/main">
              <a:ext uri="{FF2B5EF4-FFF2-40B4-BE49-F238E27FC236}">
                <a16:creationId xmlns:a16="http://schemas.microsoft.com/office/drawing/2014/main" id="{FE044968-E2A9-4A8B-9438-BCEC2686493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02</a:t>
            </a:r>
          </a:p>
        </p:txBody>
      </p:sp>
      <p:sp>
        <p:nvSpPr>
          <p:cNvPr id="3" name="">
            <a:extLst xmlns:a="http://schemas.openxmlformats.org/drawingml/2006/main">
              <a:ext uri="{FF2B5EF4-FFF2-40B4-BE49-F238E27FC236}">
                <a16:creationId xmlns:a16="http://schemas.microsoft.com/office/drawing/2014/main" id="{75BB9575-A632-4B69-9173-2FDAC8503D30}"/>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43939060-B52A-4718-AF96-9791DDC30E2E}"/>
              </a:ext>
            </a:extLst>
          </p:cNvPr>
          <p:cNvSpPr>
            <a:spLocks xmlns:a="http://schemas.openxmlformats.org/drawingml/2006/main" noGrp="1"/>
          </p:cNvSpPr>
          <p:nvPr/>
        </p:nvSpPr>
        <p:spPr>
          <a:xfrm xmlns:a="http://schemas.openxmlformats.org/drawingml/2006/main">
            <a:off x="762000" y="1352550"/>
            <a:ext cx="723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75" b="1">
                <a:solidFill>
                  <a:srgbClr val="172033"/>
                </a:solidFill>
                <a:latin typeface="NanumGothic"/>
                <a:ea typeface="NanumGothic"/>
                <a:cs typeface="NanumGothic"/>
              </a:defRPr>
            </a:pPr>
            <a:r>
              <a:rPr sz="2775" b="1">
                <a:solidFill>
                  <a:srgbClr val="172033"/>
                </a:solidFill>
                <a:latin typeface="NanumGothic"/>
                <a:ea typeface="NanumGothic"/>
                <a:cs typeface="NanumGothic"/>
              </a:rPr>
              <a:t>“아, 컴퓨터 그냥 초기화해 버릴까?”</a:t>
            </a:r>
          </a:p>
        </p:txBody>
      </p:sp>
      <p:sp>
        <p:nvSpPr>
          <p:cNvPr id="5" name="">
            <a:extLst xmlns:a="http://schemas.openxmlformats.org/drawingml/2006/main">
              <a:ext uri="{FF2B5EF4-FFF2-40B4-BE49-F238E27FC236}">
                <a16:creationId xmlns:a16="http://schemas.microsoft.com/office/drawing/2014/main" id="{89419827-7EE0-453C-B5F5-CACDA748007D}"/>
              </a:ext>
            </a:extLst>
          </p:cNvPr>
          <p:cNvSpPr>
            <a:spLocks xmlns:a="http://schemas.openxmlformats.org/drawingml/2006/main" noGrp="1"/>
          </p:cNvSpPr>
          <p:nvPr/>
        </p:nvSpPr>
        <p:spPr>
          <a:xfrm xmlns:a="http://schemas.openxmlformats.org/drawingml/2006/main">
            <a:off x="781050" y="20955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650" b="0">
                <a:solidFill>
                  <a:srgbClr val="657187"/>
                </a:solidFill>
                <a:latin typeface="NanumGothic"/>
                <a:ea typeface="NanumGothic"/>
                <a:cs typeface="NanumGothic"/>
              </a:defRPr>
            </a:pPr>
            <a:r>
              <a:rPr sz="1650" b="0">
                <a:solidFill>
                  <a:srgbClr val="657187"/>
                </a:solidFill>
                <a:latin typeface="NanumGothic"/>
                <a:ea typeface="NanumGothic"/>
                <a:cs typeface="NanumGothic"/>
              </a:rPr>
              <a:t>음성 인식(STT)이 문장을 정확히 받아써도, 실행 명령이라고 단정할 수 없다.</a:t>
            </a:r>
          </a:p>
        </p:txBody>
      </p:sp>
      <p:sp>
        <p:nvSpPr>
          <p:cNvPr id="6" name="">
            <a:extLst xmlns:a="http://schemas.openxmlformats.org/drawingml/2006/main">
              <a:ext uri="{FF2B5EF4-FFF2-40B4-BE49-F238E27FC236}">
                <a16:creationId xmlns:a16="http://schemas.microsoft.com/office/drawing/2014/main" id="{F232EE3E-1E0F-4BA7-B96C-6CD011857B9D}"/>
              </a:ext>
            </a:extLst>
          </p:cNvPr>
          <p:cNvSpPr>
            <a:spLocks xmlns:a="http://schemas.openxmlformats.org/drawingml/2006/main" noGrp="1"/>
          </p:cNvSpPr>
          <p:nvPr/>
        </p:nvSpPr>
        <p:spPr>
          <a:xfrm xmlns:a="http://schemas.openxmlformats.org/drawingml/2006/main">
            <a:off x="819150" y="3000375"/>
            <a:ext cx="2857500" cy="1676400"/>
          </a:xfrm>
          <a:prstGeom xmlns:a="http://schemas.openxmlformats.org/drawingml/2006/main" prst="roundRect">
            <a:avLst>
              <a:gd name="adj" fmla="val 7955"/>
            </a:avLst>
          </a:prstGeom>
          <a:solidFill xmlns:a="http://schemas.openxmlformats.org/drawingml/2006/main">
            <a:srgbClr val="F4F7FB"/>
          </a:solidFill>
          <a:ln xmlns:a="http://schemas.openxmlformats.org/drawingml/2006/main" w="9525">
            <a:solidFill>
              <a:srgbClr val="D9E0EA"/>
            </a:solidFill>
            <a:prstDash val="solid"/>
          </a:ln>
        </p:spPr>
      </p:sp>
      <p:sp>
        <p:nvSpPr>
          <p:cNvPr id="7" name="">
            <a:extLst xmlns:a="http://schemas.openxmlformats.org/drawingml/2006/main">
              <a:ext uri="{FF2B5EF4-FFF2-40B4-BE49-F238E27FC236}">
                <a16:creationId xmlns:a16="http://schemas.microsoft.com/office/drawing/2014/main" id="{1BE06A82-A487-421D-A50D-AAF76020E3F9}"/>
              </a:ext>
            </a:extLst>
          </p:cNvPr>
          <p:cNvSpPr>
            <a:spLocks xmlns:a="http://schemas.openxmlformats.org/drawingml/2006/main" noGrp="1"/>
          </p:cNvSpPr>
          <p:nvPr/>
        </p:nvSpPr>
        <p:spPr>
          <a:xfrm xmlns:a="http://schemas.openxmlformats.org/drawingml/2006/main">
            <a:off x="1000125" y="3181350"/>
            <a:ext cx="400050" cy="323850"/>
          </a:xfrm>
          <a:prstGeom xmlns:a="http://schemas.openxmlformats.org/drawingml/2006/main" prst="roundRect">
            <a:avLst>
              <a:gd name="adj" fmla="val 50000"/>
            </a:avLst>
          </a:prstGeom>
          <a:solidFill xmlns:a="http://schemas.openxmlformats.org/drawingml/2006/main">
            <a:srgbClr val="3478F6"/>
          </a:solidFill>
          <a:ln xmlns:a="http://schemas.openxmlformats.org/drawingml/2006/main" w="9525">
            <a:solidFill>
              <a:srgbClr val="3478F6"/>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1</a:t>
            </a:r>
          </a:p>
        </p:txBody>
      </p:sp>
      <p:sp>
        <p:nvSpPr>
          <p:cNvPr id="8" name="">
            <a:extLst xmlns:a="http://schemas.openxmlformats.org/drawingml/2006/main">
              <a:ext uri="{FF2B5EF4-FFF2-40B4-BE49-F238E27FC236}">
                <a16:creationId xmlns:a16="http://schemas.microsoft.com/office/drawing/2014/main" id="{C278ADC2-DA07-45B1-BDD6-802CBB88C2D7}"/>
              </a:ext>
            </a:extLst>
          </p:cNvPr>
          <p:cNvSpPr>
            <a:spLocks xmlns:a="http://schemas.openxmlformats.org/drawingml/2006/main" noGrp="1"/>
          </p:cNvSpPr>
          <p:nvPr/>
        </p:nvSpPr>
        <p:spPr>
          <a:xfrm xmlns:a="http://schemas.openxmlformats.org/drawingml/2006/main">
            <a:off x="15621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음성 인식</a:t>
            </a:r>
          </a:p>
        </p:txBody>
      </p:sp>
      <p:sp>
        <p:nvSpPr>
          <p:cNvPr id="9" name="">
            <a:extLst xmlns:a="http://schemas.openxmlformats.org/drawingml/2006/main">
              <a:ext uri="{FF2B5EF4-FFF2-40B4-BE49-F238E27FC236}">
                <a16:creationId xmlns:a16="http://schemas.microsoft.com/office/drawing/2014/main" id="{42CC106B-AFAD-4A9C-AEFF-603F44BE6DF1}"/>
              </a:ext>
            </a:extLst>
          </p:cNvPr>
          <p:cNvSpPr>
            <a:spLocks xmlns:a="http://schemas.openxmlformats.org/drawingml/2006/main" noGrp="1"/>
          </p:cNvSpPr>
          <p:nvPr/>
        </p:nvSpPr>
        <p:spPr>
          <a:xfrm xmlns:a="http://schemas.openxmlformats.org/drawingml/2006/main">
            <a:off x="10477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무슨 말을 했는가</a:t>
            </a:r>
          </a:p>
        </p:txBody>
      </p:sp>
      <p:sp>
        <p:nvSpPr>
          <p:cNvPr id="10" name="">
            <a:extLst xmlns:a="http://schemas.openxmlformats.org/drawingml/2006/main">
              <a:ext uri="{FF2B5EF4-FFF2-40B4-BE49-F238E27FC236}">
                <a16:creationId xmlns:a16="http://schemas.microsoft.com/office/drawing/2014/main" id="{F0E8988B-F05E-4F16-8E9F-84DDD1D3963B}"/>
              </a:ext>
            </a:extLst>
          </p:cNvPr>
          <p:cNvSpPr>
            <a:spLocks xmlns:a="http://schemas.openxmlformats.org/drawingml/2006/main" noGrp="1"/>
          </p:cNvSpPr>
          <p:nvPr/>
        </p:nvSpPr>
        <p:spPr>
          <a:xfrm xmlns:a="http://schemas.openxmlformats.org/drawingml/2006/main">
            <a:off x="4667250" y="3000375"/>
            <a:ext cx="2857500" cy="1676400"/>
          </a:xfrm>
          <a:prstGeom xmlns:a="http://schemas.openxmlformats.org/drawingml/2006/main" prst="roundRect">
            <a:avLst>
              <a:gd name="adj" fmla="val 7955"/>
            </a:avLst>
          </a:prstGeom>
          <a:solidFill xmlns:a="http://schemas.openxmlformats.org/drawingml/2006/main">
            <a:srgbClr val="FFF8EA"/>
          </a:solidFill>
          <a:ln xmlns:a="http://schemas.openxmlformats.org/drawingml/2006/main" w="9525">
            <a:solidFill>
              <a:srgbClr val="F0D293"/>
            </a:solidFill>
            <a:prstDash val="solid"/>
          </a:ln>
        </p:spPr>
      </p:sp>
      <p:sp>
        <p:nvSpPr>
          <p:cNvPr id="11" name="">
            <a:extLst xmlns:a="http://schemas.openxmlformats.org/drawingml/2006/main">
              <a:ext uri="{FF2B5EF4-FFF2-40B4-BE49-F238E27FC236}">
                <a16:creationId xmlns:a16="http://schemas.microsoft.com/office/drawing/2014/main" id="{F9AAD998-C22E-4D23-BF0F-45F9F617214C}"/>
              </a:ext>
            </a:extLst>
          </p:cNvPr>
          <p:cNvSpPr>
            <a:spLocks xmlns:a="http://schemas.openxmlformats.org/drawingml/2006/main" noGrp="1"/>
          </p:cNvSpPr>
          <p:nvPr/>
        </p:nvSpPr>
        <p:spPr>
          <a:xfrm xmlns:a="http://schemas.openxmlformats.org/drawingml/2006/main">
            <a:off x="4848225" y="3181350"/>
            <a:ext cx="400050" cy="323850"/>
          </a:xfrm>
          <a:prstGeom xmlns:a="http://schemas.openxmlformats.org/drawingml/2006/main" prst="roundRect">
            <a:avLst>
              <a:gd name="adj" fmla="val 50000"/>
            </a:avLst>
          </a:prstGeom>
          <a:solidFill xmlns:a="http://schemas.openxmlformats.org/drawingml/2006/main">
            <a:srgbClr val="F2A93B"/>
          </a:solidFill>
          <a:ln xmlns:a="http://schemas.openxmlformats.org/drawingml/2006/main" w="9525">
            <a:solidFill>
              <a:srgbClr val="F2A93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2</a:t>
            </a:r>
          </a:p>
        </p:txBody>
      </p:sp>
      <p:sp>
        <p:nvSpPr>
          <p:cNvPr id="12" name="">
            <a:extLst xmlns:a="http://schemas.openxmlformats.org/drawingml/2006/main">
              <a:ext uri="{FF2B5EF4-FFF2-40B4-BE49-F238E27FC236}">
                <a16:creationId xmlns:a16="http://schemas.microsoft.com/office/drawing/2014/main" id="{AF59DCF1-946E-4487-B7CB-F1D0AF061F6F}"/>
              </a:ext>
            </a:extLst>
          </p:cNvPr>
          <p:cNvSpPr>
            <a:spLocks xmlns:a="http://schemas.openxmlformats.org/drawingml/2006/main" noGrp="1"/>
          </p:cNvSpPr>
          <p:nvPr/>
        </p:nvSpPr>
        <p:spPr>
          <a:xfrm xmlns:a="http://schemas.openxmlformats.org/drawingml/2006/main">
            <a:off x="54102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발화 의도</a:t>
            </a:r>
          </a:p>
        </p:txBody>
      </p:sp>
      <p:sp>
        <p:nvSpPr>
          <p:cNvPr id="13" name="">
            <a:extLst xmlns:a="http://schemas.openxmlformats.org/drawingml/2006/main">
              <a:ext uri="{FF2B5EF4-FFF2-40B4-BE49-F238E27FC236}">
                <a16:creationId xmlns:a16="http://schemas.microsoft.com/office/drawing/2014/main" id="{B707009D-E81C-4A4C-B739-63C14616E728}"/>
              </a:ext>
            </a:extLst>
          </p:cNvPr>
          <p:cNvSpPr>
            <a:spLocks xmlns:a="http://schemas.openxmlformats.org/drawingml/2006/main" noGrp="1"/>
          </p:cNvSpPr>
          <p:nvPr/>
        </p:nvSpPr>
        <p:spPr>
          <a:xfrm xmlns:a="http://schemas.openxmlformats.org/drawingml/2006/main">
            <a:off x="48958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명령인가, 대화인가</a:t>
            </a:r>
          </a:p>
        </p:txBody>
      </p:sp>
      <p:sp>
        <p:nvSpPr>
          <p:cNvPr id="14" name="">
            <a:extLst xmlns:a="http://schemas.openxmlformats.org/drawingml/2006/main">
              <a:ext uri="{FF2B5EF4-FFF2-40B4-BE49-F238E27FC236}">
                <a16:creationId xmlns:a16="http://schemas.microsoft.com/office/drawing/2014/main" id="{C90F7ED9-3D19-4B94-9ED4-0E85FFDA5BF1}"/>
              </a:ext>
            </a:extLst>
          </p:cNvPr>
          <p:cNvSpPr>
            <a:spLocks xmlns:a="http://schemas.openxmlformats.org/drawingml/2006/main" noGrp="1"/>
          </p:cNvSpPr>
          <p:nvPr/>
        </p:nvSpPr>
        <p:spPr>
          <a:xfrm xmlns:a="http://schemas.openxmlformats.org/drawingml/2006/main">
            <a:off x="8515350" y="3000375"/>
            <a:ext cx="2857500" cy="1676400"/>
          </a:xfrm>
          <a:prstGeom xmlns:a="http://schemas.openxmlformats.org/drawingml/2006/main" prst="roundRect">
            <a:avLst>
              <a:gd name="adj" fmla="val 7955"/>
            </a:avLst>
          </a:prstGeom>
          <a:solidFill xmlns:a="http://schemas.openxmlformats.org/drawingml/2006/main">
            <a:srgbClr val="FFF0F0"/>
          </a:solidFill>
          <a:ln xmlns:a="http://schemas.openxmlformats.org/drawingml/2006/main" w="9525">
            <a:solidFill>
              <a:srgbClr val="F1B8B8"/>
            </a:solidFill>
            <a:prstDash val="solid"/>
          </a:ln>
        </p:spPr>
      </p:sp>
      <p:sp>
        <p:nvSpPr>
          <p:cNvPr id="15" name="">
            <a:extLst xmlns:a="http://schemas.openxmlformats.org/drawingml/2006/main">
              <a:ext uri="{FF2B5EF4-FFF2-40B4-BE49-F238E27FC236}">
                <a16:creationId xmlns:a16="http://schemas.microsoft.com/office/drawing/2014/main" id="{E41C3480-9EDE-4714-9B86-AA7186E82D7B}"/>
              </a:ext>
            </a:extLst>
          </p:cNvPr>
          <p:cNvSpPr>
            <a:spLocks xmlns:a="http://schemas.openxmlformats.org/drawingml/2006/main" noGrp="1"/>
          </p:cNvSpPr>
          <p:nvPr/>
        </p:nvSpPr>
        <p:spPr>
          <a:xfrm xmlns:a="http://schemas.openxmlformats.org/drawingml/2006/main">
            <a:off x="8696325" y="3181350"/>
            <a:ext cx="400050" cy="323850"/>
          </a:xfrm>
          <a:prstGeom xmlns:a="http://schemas.openxmlformats.org/drawingml/2006/main" prst="roundRect">
            <a:avLst>
              <a:gd name="adj" fmla="val 50000"/>
            </a:avLst>
          </a:prstGeom>
          <a:solidFill xmlns:a="http://schemas.openxmlformats.org/drawingml/2006/main">
            <a:srgbClr val="D95050"/>
          </a:solidFill>
          <a:ln xmlns:a="http://schemas.openxmlformats.org/drawingml/2006/main" w="9525">
            <a:solidFill>
              <a:srgbClr val="D95050"/>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3</a:t>
            </a:r>
          </a:p>
        </p:txBody>
      </p:sp>
      <p:sp>
        <p:nvSpPr>
          <p:cNvPr id="16" name="">
            <a:extLst xmlns:a="http://schemas.openxmlformats.org/drawingml/2006/main">
              <a:ext uri="{FF2B5EF4-FFF2-40B4-BE49-F238E27FC236}">
                <a16:creationId xmlns:a16="http://schemas.microsoft.com/office/drawing/2014/main" id="{AB266EAB-4A38-454D-95E1-7FECF91C4C5C}"/>
              </a:ext>
            </a:extLst>
          </p:cNvPr>
          <p:cNvSpPr>
            <a:spLocks xmlns:a="http://schemas.openxmlformats.org/drawingml/2006/main" noGrp="1"/>
          </p:cNvSpPr>
          <p:nvPr/>
        </p:nvSpPr>
        <p:spPr>
          <a:xfrm xmlns:a="http://schemas.openxmlformats.org/drawingml/2006/main">
            <a:off x="92583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실행 위험</a:t>
            </a:r>
          </a:p>
        </p:txBody>
      </p:sp>
      <p:sp>
        <p:nvSpPr>
          <p:cNvPr id="17" name="">
            <a:extLst xmlns:a="http://schemas.openxmlformats.org/drawingml/2006/main">
              <a:ext uri="{FF2B5EF4-FFF2-40B4-BE49-F238E27FC236}">
                <a16:creationId xmlns:a16="http://schemas.microsoft.com/office/drawing/2014/main" id="{33C7FB49-7589-4C68-B332-645B213A588F}"/>
              </a:ext>
            </a:extLst>
          </p:cNvPr>
          <p:cNvSpPr>
            <a:spLocks xmlns:a="http://schemas.openxmlformats.org/drawingml/2006/main" noGrp="1"/>
          </p:cNvSpPr>
          <p:nvPr/>
        </p:nvSpPr>
        <p:spPr>
          <a:xfrm xmlns:a="http://schemas.openxmlformats.org/drawingml/2006/main">
            <a:off x="87439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자동 실행해도 되는가</a:t>
            </a:r>
          </a:p>
        </p:txBody>
      </p:sp>
      <p:sp>
        <p:nvSpPr>
          <p:cNvPr id="18" name="">
            <a:extLst xmlns:a="http://schemas.openxmlformats.org/drawingml/2006/main">
              <a:ext uri="{FF2B5EF4-FFF2-40B4-BE49-F238E27FC236}">
                <a16:creationId xmlns:a16="http://schemas.microsoft.com/office/drawing/2014/main" id="{2F8CB8BA-EA45-4602-A1EB-A8F9DCD3FDD4}"/>
              </a:ext>
            </a:extLst>
          </p:cNvPr>
          <p:cNvSpPr>
            <a:spLocks xmlns:a="http://schemas.openxmlformats.org/drawingml/2006/main" noGrp="1"/>
          </p:cNvSpPr>
          <p:nvPr/>
        </p:nvSpPr>
        <p:spPr>
          <a:xfrm xmlns:a="http://schemas.openxmlformats.org/drawingml/2006/main">
            <a:off x="800100" y="52387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2100" b="1">
                <a:solidFill>
                  <a:srgbClr val="243B64"/>
                </a:solidFill>
                <a:latin typeface="NanumGothic"/>
                <a:ea typeface="NanumGothic"/>
                <a:cs typeface="NanumGothic"/>
              </a:defRPr>
            </a:pPr>
            <a:r>
              <a:rPr sz="2100" b="1">
                <a:solidFill>
                  <a:srgbClr val="243B64"/>
                </a:solidFill>
                <a:latin typeface="NanumGothic"/>
                <a:ea typeface="NanumGothic"/>
                <a:cs typeface="NanumGothic"/>
              </a:rPr>
              <a:t>핵심 문제: 인식 정확도와 안전한 실행 판단은 서로 다른 문제다.</a:t>
            </a:r>
          </a:p>
        </p:txBody>
      </p:sp>
    </p:spTree>
    <p:extLst>
      <p:ext uri="{BB962C8B-B14F-4D97-AF65-F5344CB8AC3E}">
        <p14:creationId xmlns:p14="http://schemas.microsoft.com/office/powerpoint/2010/main" val="9539853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21884A-6790-4849-B7B7-8F35C5AA2F94}"/>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기존 PC 에이전트와 남아 있는 공백</a:t>
            </a:r>
          </a:p>
        </p:txBody>
      </p:sp>
      <p:sp>
        <p:nvSpPr>
          <p:cNvPr id="2" name="">
            <a:extLst xmlns:a="http://schemas.openxmlformats.org/drawingml/2006/main">
              <a:ext uri="{FF2B5EF4-FFF2-40B4-BE49-F238E27FC236}">
                <a16:creationId xmlns:a16="http://schemas.microsoft.com/office/drawing/2014/main" id="{02071C8C-3B7F-414C-B82C-A52CFCEAD248}"/>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03</a:t>
            </a:r>
          </a:p>
        </p:txBody>
      </p:sp>
      <p:sp>
        <p:nvSpPr>
          <p:cNvPr id="3" name="">
            <a:extLst xmlns:a="http://schemas.openxmlformats.org/drawingml/2006/main">
              <a:ext uri="{FF2B5EF4-FFF2-40B4-BE49-F238E27FC236}">
                <a16:creationId xmlns:a16="http://schemas.microsoft.com/office/drawing/2014/main" id="{78737AB3-F3D9-47B2-80EF-1DFD7153BF68}"/>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graphicFrame>
        <p:nvGraphicFramePr>
          <p:cNvPr id="14" name=""/>
          <p:cNvGraphicFramePr/>
          <p:nvPr/>
        </p:nvGraphicFramePr>
        <p:xfrm>
          <a:off xmlns:a="http://schemas.openxmlformats.org/drawingml/2006/main" x="685800" y="1381125"/>
          <a:ext xmlns:a="http://schemas.openxmlformats.org/drawingml/2006/main" cx="10820400" cy="3333750"/>
        </p:xfrm>
        <a:graphic xmlns:a="http://schemas.openxmlformats.org/drawingml/2006/main">
          <a:graphicData uri="http://schemas.openxmlformats.org/drawingml/2006/table">
            <a:tbl>
              <a:tblPr/>
              <a:tblGrid>
                <a:gridCol w="2164080"/>
                <a:gridCol w="2164080"/>
                <a:gridCol w="2164080"/>
                <a:gridCol w="2164080"/>
                <a:gridCol w="2164080"/>
              </a:tblGrid>
              <a:tr h="666750">
                <a:tc>
                  <a:txBody>
                    <a:bodyPr/>
                    <a:lstStyle/>
                    <a:p>
                      <a:r>
                        <a:rPr sz="1275" b="1">
                          <a:solidFill>
                            <a:srgbClr val="FFFFFF"/>
                          </a:solidFill>
                          <a:latin typeface="NanumGothic"/>
                          <a:ea typeface="NanumGothic"/>
                          <a:cs typeface="NanumGothic"/>
                        </a:rPr>
                        <a:t>구분</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실제 PC 조작</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다단계 작업</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상시 음성 명령 판별</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위험·결과 검증</a:t>
                      </a:r>
                    </a:p>
                  </a:txBody>
                  <a:tcPr marL="91440" marR="91440" marT="45720" marB="45720" anchor="ctr">
                    <a:solidFill>
                      <a:srgbClr val="243B64"/>
                    </a:solidFill>
                  </a:tcPr>
                </a:tc>
              </a:tr>
              <a:tr h="666750">
                <a:tc>
                  <a:txBody>
                    <a:bodyPr/>
                    <a:lstStyle/>
                    <a:p>
                      <a:r>
                        <a:rPr sz="1200">
                          <a:solidFill>
                            <a:srgbClr val="172033"/>
                          </a:solidFill>
                          <a:latin typeface="NanumGothic"/>
                          <a:ea typeface="NanumGothic"/>
                          <a:cs typeface="NanumGothic"/>
                        </a:rPr>
                        <a:t>Claude Computer Use</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별도 구성</a:t>
                      </a:r>
                    </a:p>
                  </a:txBody>
                  <a:tcPr marL="91440" marR="91440" marT="45720" marB="45720" anchor="ctr"/>
                </a:tc>
                <a:tc>
                  <a:txBody>
                    <a:bodyPr/>
                    <a:lstStyle/>
                    <a:p>
                      <a:r>
                        <a:rPr sz="1200">
                          <a:solidFill>
                            <a:srgbClr val="172033"/>
                          </a:solidFill>
                          <a:latin typeface="NanumGothic"/>
                          <a:ea typeface="NanumGothic"/>
                          <a:cs typeface="NanumGothic"/>
                        </a:rPr>
                        <a:t>서비스 정책 중심</a:t>
                      </a:r>
                    </a:p>
                  </a:txBody>
                  <a:tcPr marL="91440" marR="91440" marT="45720" marB="45720" anchor="ctr"/>
                </a:tc>
              </a:tr>
              <a:tr h="666750">
                <a:tc>
                  <a:txBody>
                    <a:bodyPr/>
                    <a:lstStyle/>
                    <a:p>
                      <a:r>
                        <a:rPr sz="1200">
                          <a:solidFill>
                            <a:srgbClr val="172033"/>
                          </a:solidFill>
                          <a:latin typeface="NanumGothic"/>
                          <a:ea typeface="NanumGothic"/>
                          <a:cs typeface="NanumGothic"/>
                        </a:rPr>
                        <a:t>Open Interpreter</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음성 모드</a:t>
                      </a:r>
                    </a:p>
                  </a:txBody>
                  <a:tcPr marL="91440" marR="91440" marT="45720" marB="45720" anchor="ctr"/>
                </a:tc>
                <a:tc>
                  <a:txBody>
                    <a:bodyPr/>
                    <a:lstStyle/>
                    <a:p>
                      <a:r>
                        <a:rPr sz="1200">
                          <a:solidFill>
                            <a:srgbClr val="172033"/>
                          </a:solidFill>
                          <a:latin typeface="NanumGothic"/>
                          <a:ea typeface="NanumGothic"/>
                          <a:cs typeface="NanumGothic"/>
                        </a:rPr>
                        <a:t>확인·코드 실행 중심</a:t>
                      </a:r>
                    </a:p>
                  </a:txBody>
                  <a:tcPr marL="91440" marR="91440" marT="45720" marB="45720" anchor="ctr"/>
                </a:tc>
              </a:tr>
              <a:tr h="666750">
                <a:tc>
                  <a:txBody>
                    <a:bodyPr/>
                    <a:lstStyle/>
                    <a:p>
                      <a:r>
                        <a:rPr sz="1200">
                          <a:solidFill>
                            <a:srgbClr val="172033"/>
                          </a:solidFill>
                          <a:latin typeface="NanumGothic"/>
                          <a:ea typeface="NanumGothic"/>
                          <a:cs typeface="NanumGothic"/>
                        </a:rPr>
                        <a:t>Microsoft UFO2</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별도 구성</a:t>
                      </a:r>
                    </a:p>
                  </a:txBody>
                  <a:tcPr marL="91440" marR="91440" marT="45720" marB="45720" anchor="ctr"/>
                </a:tc>
                <a:tc>
                  <a:txBody>
                    <a:bodyPr/>
                    <a:lstStyle/>
                    <a:p>
                      <a:r>
                        <a:rPr sz="1200">
                          <a:solidFill>
                            <a:srgbClr val="172033"/>
                          </a:solidFill>
                          <a:latin typeface="NanumGothic"/>
                          <a:ea typeface="NanumGothic"/>
                          <a:cs typeface="NanumGothic"/>
                        </a:rPr>
                        <a:t>Windows 실행 구조 중심</a:t>
                      </a:r>
                    </a:p>
                  </a:txBody>
                  <a:tcPr marL="91440" marR="91440" marT="45720" marB="45720" anchor="ctr"/>
                </a:tc>
              </a:tr>
              <a:tr h="666750">
                <a:tc>
                  <a:txBody>
                    <a:bodyPr/>
                    <a:lstStyle/>
                    <a:p>
                      <a:r>
                        <a:rPr sz="1275" b="1">
                          <a:solidFill>
                            <a:srgbClr val="243B64"/>
                          </a:solidFill>
                          <a:latin typeface="NanumGothic"/>
                          <a:ea typeface="NanumGothic"/>
                          <a:cs typeface="NanumGothic"/>
                        </a:rPr>
                        <a:t>JARVIS-PC</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제한된 기능</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가능</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핵심 연구</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정책+독립 검증</a:t>
                      </a:r>
                    </a:p>
                  </a:txBody>
                  <a:tcPr marL="91440" marR="91440" marT="45720" marB="45720" anchor="ctr">
                    <a:solidFill>
                      <a:srgbClr val="EAF2FF"/>
                    </a:solidFill>
                  </a:tcPr>
                </a:tc>
              </a:tr>
            </a:tbl>
          </a:graphicData>
        </a:graphic>
      </p:graphicFrame>
      <p:sp>
        <p:nvSpPr>
          <p:cNvPr id="5" name="">
            <a:extLst xmlns:a="http://schemas.openxmlformats.org/drawingml/2006/main">
              <a:ext uri="{FF2B5EF4-FFF2-40B4-BE49-F238E27FC236}">
                <a16:creationId xmlns:a16="http://schemas.microsoft.com/office/drawing/2014/main" id="{1B4C2BE9-54A2-4C33-8C1B-0DDC6FFA3C9A}"/>
              </a:ext>
            </a:extLst>
          </p:cNvPr>
          <p:cNvSpPr>
            <a:spLocks xmlns:a="http://schemas.openxmlformats.org/drawingml/2006/main" noGrp="1"/>
          </p:cNvSpPr>
          <p:nvPr/>
        </p:nvSpPr>
        <p:spPr>
          <a:xfrm xmlns:a="http://schemas.openxmlformats.org/drawingml/2006/main">
            <a:off x="742950" y="5095875"/>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657187"/>
                </a:solidFill>
                <a:latin typeface="NanumGothic"/>
                <a:ea typeface="NanumGothic"/>
                <a:cs typeface="NanumGothic"/>
              </a:defRPr>
            </a:pPr>
            <a:r>
              <a:rPr sz="1425" b="1">
                <a:solidFill>
                  <a:srgbClr val="657187"/>
                </a:solidFill>
                <a:latin typeface="NanumGothic"/>
                <a:ea typeface="NanumGothic"/>
                <a:cs typeface="NanumGothic"/>
              </a:rPr>
              <a:t>OSWorld 2.0 장시간 작업 완료율</a:t>
            </a:r>
          </a:p>
        </p:txBody>
      </p:sp>
      <p:sp>
        <p:nvSpPr>
          <p:cNvPr id="6" name="">
            <a:extLst xmlns:a="http://schemas.openxmlformats.org/drawingml/2006/main">
              <a:ext uri="{FF2B5EF4-FFF2-40B4-BE49-F238E27FC236}">
                <a16:creationId xmlns:a16="http://schemas.microsoft.com/office/drawing/2014/main" id="{3435F02F-DDA1-452B-BA9A-711422A31E7B}"/>
              </a:ext>
            </a:extLst>
          </p:cNvPr>
          <p:cNvSpPr>
            <a:spLocks xmlns:a="http://schemas.openxmlformats.org/drawingml/2006/main" noGrp="1"/>
          </p:cNvSpPr>
          <p:nvPr/>
        </p:nvSpPr>
        <p:spPr>
          <a:xfrm xmlns:a="http://schemas.openxmlformats.org/drawingml/2006/main">
            <a:off x="4953000" y="4876800"/>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300" b="1">
                <a:solidFill>
                  <a:srgbClr val="D95050"/>
                </a:solidFill>
                <a:latin typeface="NanumGothic"/>
                <a:ea typeface="NanumGothic"/>
                <a:cs typeface="NanumGothic"/>
              </a:defRPr>
            </a:pPr>
            <a:r>
              <a:rPr sz="3300" b="1">
                <a:solidFill>
                  <a:srgbClr val="D95050"/>
                </a:solidFill>
                <a:latin typeface="NanumGothic"/>
                <a:ea typeface="NanumGothic"/>
                <a:cs typeface="NanumGothic"/>
              </a:rPr>
              <a:t>20.6%</a:t>
            </a:r>
          </a:p>
        </p:txBody>
      </p:sp>
      <p:sp>
        <p:nvSpPr>
          <p:cNvPr id="7" name="">
            <a:extLst xmlns:a="http://schemas.openxmlformats.org/drawingml/2006/main">
              <a:ext uri="{FF2B5EF4-FFF2-40B4-BE49-F238E27FC236}">
                <a16:creationId xmlns:a16="http://schemas.microsoft.com/office/drawing/2014/main" id="{B26B6086-8BCB-4123-8E6E-6C8673456839}"/>
              </a:ext>
            </a:extLst>
          </p:cNvPr>
          <p:cNvSpPr>
            <a:spLocks xmlns:a="http://schemas.openxmlformats.org/drawingml/2006/main" noGrp="1"/>
          </p:cNvSpPr>
          <p:nvPr/>
        </p:nvSpPr>
        <p:spPr>
          <a:xfrm xmlns:a="http://schemas.openxmlformats.org/drawingml/2006/main">
            <a:off x="7000875" y="4924425"/>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최고 성능 모델도 긴 실제 업무에서 제약 기억과 결과 검증을 자주 놓친다.</a:t>
            </a:r>
          </a:p>
        </p:txBody>
      </p:sp>
      <p:sp>
        <p:nvSpPr>
          <p:cNvPr id="8" name="">
            <a:extLst xmlns:a="http://schemas.openxmlformats.org/drawingml/2006/main">
              <a:ext uri="{FF2B5EF4-FFF2-40B4-BE49-F238E27FC236}">
                <a16:creationId xmlns:a16="http://schemas.microsoft.com/office/drawing/2014/main" id="{2E7363AD-BD99-4E96-83C0-EAB777BEEF85}"/>
              </a:ext>
            </a:extLst>
          </p:cNvPr>
          <p:cNvSpPr>
            <a:spLocks xmlns:a="http://schemas.openxmlformats.org/drawingml/2006/main" noGrp="1"/>
          </p:cNvSpPr>
          <p:nvPr/>
        </p:nvSpPr>
        <p:spPr>
          <a:xfrm xmlns:a="http://schemas.openxmlformats.org/drawingml/2006/main">
            <a:off x="609600" y="6486525"/>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750" b="0">
                <a:solidFill>
                  <a:srgbClr val="657187"/>
                </a:solidFill>
                <a:latin typeface="NanumGothic"/>
                <a:ea typeface="NanumGothic"/>
                <a:cs typeface="NanumGothic"/>
              </a:defRPr>
            </a:pPr>
            <a:r>
              <a:rPr sz="750" b="0">
                <a:solidFill>
                  <a:srgbClr val="657187"/>
                </a:solidFill>
                <a:latin typeface="NanumGothic"/>
                <a:ea typeface="NanumGothic"/>
                <a:cs typeface="NanumGothic"/>
              </a:rPr>
              <a:t>출처: Anthropic Computer Use; Open Interpreter; Microsoft Research UFO2; OSWorld 2.0 (2026)</a:t>
            </a:r>
          </a:p>
        </p:txBody>
      </p:sp>
    </p:spTree>
    <p:extLst>
      <p:ext uri="{BB962C8B-B14F-4D97-AF65-F5344CB8AC3E}">
        <p14:creationId xmlns:p14="http://schemas.microsoft.com/office/powerpoint/2010/main" val="18133747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0BF755E-83B7-4590-BD67-BA06220CF0CE}"/>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연구 목표와 차별점</a:t>
            </a:r>
          </a:p>
        </p:txBody>
      </p:sp>
      <p:sp>
        <p:nvSpPr>
          <p:cNvPr id="2" name="">
            <a:extLst xmlns:a="http://schemas.openxmlformats.org/drawingml/2006/main">
              <a:ext uri="{FF2B5EF4-FFF2-40B4-BE49-F238E27FC236}">
                <a16:creationId xmlns:a16="http://schemas.microsoft.com/office/drawing/2014/main" id="{8C521108-FC16-4709-A6A3-7CACFAB329FF}"/>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04</a:t>
            </a:r>
          </a:p>
        </p:txBody>
      </p:sp>
      <p:sp>
        <p:nvSpPr>
          <p:cNvPr id="3" name="">
            <a:extLst xmlns:a="http://schemas.openxmlformats.org/drawingml/2006/main">
              <a:ext uri="{FF2B5EF4-FFF2-40B4-BE49-F238E27FC236}">
                <a16:creationId xmlns:a16="http://schemas.microsoft.com/office/drawing/2014/main" id="{F9C6F8D2-69AC-417E-B83E-6FE108D2E406}"/>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F263A43-3F1D-42CE-963E-23C318DBBEB0}"/>
              </a:ext>
            </a:extLst>
          </p:cNvPr>
          <p:cNvSpPr>
            <a:spLocks xmlns:a="http://schemas.openxmlformats.org/drawingml/2006/main" noGrp="1"/>
          </p:cNvSpPr>
          <p:nvPr/>
        </p:nvSpPr>
        <p:spPr>
          <a:xfrm xmlns:a="http://schemas.openxmlformats.org/drawingml/2006/main">
            <a:off x="762000" y="13811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1">
                <a:solidFill>
                  <a:srgbClr val="3478F6"/>
                </a:solidFill>
                <a:latin typeface="NanumGothic"/>
                <a:ea typeface="NanumGothic"/>
                <a:cs typeface="NanumGothic"/>
              </a:defRPr>
            </a:pPr>
            <a:r>
              <a:rPr sz="1500" b="1">
                <a:solidFill>
                  <a:srgbClr val="3478F6"/>
                </a:solidFill>
                <a:latin typeface="NanumGothic"/>
                <a:ea typeface="NanumGothic"/>
                <a:cs typeface="NanumGothic"/>
              </a:rPr>
              <a:t>연구 질문</a:t>
            </a:r>
          </a:p>
        </p:txBody>
      </p:sp>
      <p:sp>
        <p:nvSpPr>
          <p:cNvPr id="5" name="">
            <a:extLst xmlns:a="http://schemas.openxmlformats.org/drawingml/2006/main">
              <a:ext uri="{FF2B5EF4-FFF2-40B4-BE49-F238E27FC236}">
                <a16:creationId xmlns:a16="http://schemas.microsoft.com/office/drawing/2014/main" id="{D6DEC6EF-39F2-4E8E-88F8-4C6FB4B0E37D}"/>
              </a:ext>
            </a:extLst>
          </p:cNvPr>
          <p:cNvSpPr>
            <a:spLocks xmlns:a="http://schemas.openxmlformats.org/drawingml/2006/main" noGrp="1"/>
          </p:cNvSpPr>
          <p:nvPr/>
        </p:nvSpPr>
        <p:spPr>
          <a:xfrm xmlns:a="http://schemas.openxmlformats.org/drawingml/2006/main">
            <a:off x="762000" y="1809750"/>
            <a:ext cx="1009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00" b="1">
                <a:solidFill>
                  <a:srgbClr val="172033"/>
                </a:solidFill>
                <a:latin typeface="NanumGothic"/>
                <a:ea typeface="NanumGothic"/>
                <a:cs typeface="NanumGothic"/>
              </a:defRPr>
            </a:pPr>
            <a:r>
              <a:rPr sz="2700" b="1">
                <a:solidFill>
                  <a:srgbClr val="172033"/>
                </a:solidFill>
                <a:latin typeface="NanumGothic"/>
                <a:ea typeface="NanumGothic"/>
                <a:cs typeface="NanumGothic"/>
              </a:rPr>
              <a:t>어떤 발화를 명령으로 판단하고, 어느 행동을 자동 실행하며,</a:t>
            </a:r>
          </a:p>
          <a:p xmlns:a="http://schemas.openxmlformats.org/drawingml/2006/main">
            <a:pPr algn="l">
              <a:buNone/>
              <a:defRPr sz="2700" b="1">
                <a:solidFill>
                  <a:srgbClr val="172033"/>
                </a:solidFill>
                <a:latin typeface="NanumGothic"/>
                <a:ea typeface="NanumGothic"/>
                <a:cs typeface="NanumGothic"/>
              </a:defRPr>
            </a:pPr>
            <a:r>
              <a:rPr sz="2700" b="1">
                <a:solidFill>
                  <a:srgbClr val="172033"/>
                </a:solidFill>
                <a:latin typeface="NanumGothic"/>
                <a:ea typeface="NanumGothic"/>
                <a:cs typeface="NanumGothic"/>
              </a:rPr>
              <a:t>언제 사용자에게 다시 확인해야 하는가?</a:t>
            </a:r>
          </a:p>
        </p:txBody>
      </p:sp>
      <p:sp>
        <p:nvSpPr>
          <p:cNvPr id="6" name="">
            <a:extLst xmlns:a="http://schemas.openxmlformats.org/drawingml/2006/main">
              <a:ext uri="{FF2B5EF4-FFF2-40B4-BE49-F238E27FC236}">
                <a16:creationId xmlns:a16="http://schemas.microsoft.com/office/drawing/2014/main" id="{6D218224-212A-461A-B296-E8ED1CDFC4C7}"/>
              </a:ext>
            </a:extLst>
          </p:cNvPr>
          <p:cNvSpPr>
            <a:spLocks xmlns:a="http://schemas.openxmlformats.org/drawingml/2006/main" noGrp="1"/>
          </p:cNvSpPr>
          <p:nvPr/>
        </p:nvSpPr>
        <p:spPr>
          <a:xfrm xmlns:a="http://schemas.openxmlformats.org/drawingml/2006/main">
            <a:off x="781050" y="3048000"/>
            <a:ext cx="1057275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7" name="">
            <a:extLst xmlns:a="http://schemas.openxmlformats.org/drawingml/2006/main">
              <a:ext uri="{FF2B5EF4-FFF2-40B4-BE49-F238E27FC236}">
                <a16:creationId xmlns:a16="http://schemas.microsoft.com/office/drawing/2014/main" id="{72607318-FD2B-475B-B15B-AA55BB141EA1}"/>
              </a:ext>
            </a:extLst>
          </p:cNvPr>
          <p:cNvSpPr>
            <a:spLocks xmlns:a="http://schemas.openxmlformats.org/drawingml/2006/main" noGrp="1"/>
          </p:cNvSpPr>
          <p:nvPr/>
        </p:nvSpPr>
        <p:spPr>
          <a:xfrm xmlns:a="http://schemas.openxmlformats.org/drawingml/2006/main">
            <a:off x="78105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3478F6"/>
                </a:solidFill>
                <a:latin typeface="NanumGothic"/>
                <a:ea typeface="NanumGothic"/>
                <a:cs typeface="NanumGothic"/>
              </a:defRPr>
            </a:pPr>
            <a:r>
              <a:rPr sz="1950" b="1">
                <a:solidFill>
                  <a:srgbClr val="3478F6"/>
                </a:solidFill>
                <a:latin typeface="NanumGothic"/>
                <a:ea typeface="NanumGothic"/>
                <a:cs typeface="NanumGothic"/>
              </a:rPr>
              <a:t>의도(Intent)</a:t>
            </a:r>
          </a:p>
        </p:txBody>
      </p:sp>
      <p:sp>
        <p:nvSpPr>
          <p:cNvPr id="8" name="">
            <a:extLst xmlns:a="http://schemas.openxmlformats.org/drawingml/2006/main">
              <a:ext uri="{FF2B5EF4-FFF2-40B4-BE49-F238E27FC236}">
                <a16:creationId xmlns:a16="http://schemas.microsoft.com/office/drawing/2014/main" id="{6D99E575-12D1-4E68-9688-D1B24294DB81}"/>
              </a:ext>
            </a:extLst>
          </p:cNvPr>
          <p:cNvSpPr>
            <a:spLocks xmlns:a="http://schemas.openxmlformats.org/drawingml/2006/main" noGrp="1"/>
          </p:cNvSpPr>
          <p:nvPr/>
        </p:nvSpPr>
        <p:spPr>
          <a:xfrm xmlns:a="http://schemas.openxmlformats.org/drawingml/2006/main">
            <a:off x="78105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대화·질문·명령·불확실</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발화 문맥과 호출어 판별</a:t>
            </a:r>
          </a:p>
        </p:txBody>
      </p:sp>
      <p:sp>
        <p:nvSpPr>
          <p:cNvPr id="9" name="">
            <a:extLst xmlns:a="http://schemas.openxmlformats.org/drawingml/2006/main">
              <a:ext uri="{FF2B5EF4-FFF2-40B4-BE49-F238E27FC236}">
                <a16:creationId xmlns:a16="http://schemas.microsoft.com/office/drawing/2014/main" id="{4D4C623D-61D9-4304-B693-30A04E45CFC4}"/>
              </a:ext>
            </a:extLst>
          </p:cNvPr>
          <p:cNvSpPr>
            <a:spLocks xmlns:a="http://schemas.openxmlformats.org/drawingml/2006/main" noGrp="1"/>
          </p:cNvSpPr>
          <p:nvPr/>
        </p:nvSpPr>
        <p:spPr>
          <a:xfrm xmlns:a="http://schemas.openxmlformats.org/drawingml/2006/main">
            <a:off x="411480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F2A93B"/>
                </a:solidFill>
                <a:latin typeface="NanumGothic"/>
                <a:ea typeface="NanumGothic"/>
                <a:cs typeface="NanumGothic"/>
              </a:defRPr>
            </a:pPr>
            <a:r>
              <a:rPr sz="1950" b="1">
                <a:solidFill>
                  <a:srgbClr val="F2A93B"/>
                </a:solidFill>
                <a:latin typeface="NanumGothic"/>
                <a:ea typeface="NanumGothic"/>
                <a:cs typeface="NanumGothic"/>
              </a:rPr>
              <a:t>위험(Risk)</a:t>
            </a:r>
          </a:p>
        </p:txBody>
      </p:sp>
      <p:sp>
        <p:nvSpPr>
          <p:cNvPr id="10" name="">
            <a:extLst xmlns:a="http://schemas.openxmlformats.org/drawingml/2006/main">
              <a:ext uri="{FF2B5EF4-FFF2-40B4-BE49-F238E27FC236}">
                <a16:creationId xmlns:a16="http://schemas.microsoft.com/office/drawing/2014/main" id="{500FB555-BC67-4374-83A9-6777DFBCA57F}"/>
              </a:ext>
            </a:extLst>
          </p:cNvPr>
          <p:cNvSpPr>
            <a:spLocks xmlns:a="http://schemas.openxmlformats.org/drawingml/2006/main" noGrp="1"/>
          </p:cNvSpPr>
          <p:nvPr/>
        </p:nvSpPr>
        <p:spPr>
          <a:xfrm xmlns:a="http://schemas.openxmlformats.org/drawingml/2006/main">
            <a:off x="411480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대상·권한·복구 가능성</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외부 전송 여부 평가</a:t>
            </a:r>
          </a:p>
        </p:txBody>
      </p:sp>
      <p:sp>
        <p:nvSpPr>
          <p:cNvPr id="11" name="">
            <a:extLst xmlns:a="http://schemas.openxmlformats.org/drawingml/2006/main">
              <a:ext uri="{FF2B5EF4-FFF2-40B4-BE49-F238E27FC236}">
                <a16:creationId xmlns:a16="http://schemas.microsoft.com/office/drawing/2014/main" id="{02E11749-35A7-49DC-969E-D7275AA88CB5}"/>
              </a:ext>
            </a:extLst>
          </p:cNvPr>
          <p:cNvSpPr>
            <a:spLocks xmlns:a="http://schemas.openxmlformats.org/drawingml/2006/main" noGrp="1"/>
          </p:cNvSpPr>
          <p:nvPr/>
        </p:nvSpPr>
        <p:spPr>
          <a:xfrm xmlns:a="http://schemas.openxmlformats.org/drawingml/2006/main">
            <a:off x="744855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2FA36B"/>
                </a:solidFill>
                <a:latin typeface="NanumGothic"/>
                <a:ea typeface="NanumGothic"/>
                <a:cs typeface="NanumGothic"/>
              </a:defRPr>
            </a:pPr>
            <a:r>
              <a:rPr sz="1950" b="1">
                <a:solidFill>
                  <a:srgbClr val="2FA36B"/>
                </a:solidFill>
                <a:latin typeface="NanumGothic"/>
                <a:ea typeface="NanumGothic"/>
                <a:cs typeface="NanumGothic"/>
              </a:rPr>
              <a:t>실행·검증</a:t>
            </a:r>
          </a:p>
        </p:txBody>
      </p:sp>
      <p:sp>
        <p:nvSpPr>
          <p:cNvPr id="12" name="">
            <a:extLst xmlns:a="http://schemas.openxmlformats.org/drawingml/2006/main">
              <a:ext uri="{FF2B5EF4-FFF2-40B4-BE49-F238E27FC236}">
                <a16:creationId xmlns:a16="http://schemas.microsoft.com/office/drawing/2014/main" id="{FF114FFD-F33A-4DDE-BA69-3B970A2D1EEE}"/>
              </a:ext>
            </a:extLst>
          </p:cNvPr>
          <p:cNvSpPr>
            <a:spLocks xmlns:a="http://schemas.openxmlformats.org/drawingml/2006/main" noGrp="1"/>
          </p:cNvSpPr>
          <p:nvPr/>
        </p:nvSpPr>
        <p:spPr>
          <a:xfrm xmlns:a="http://schemas.openxmlformats.org/drawingml/2006/main">
            <a:off x="744855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허용된 기능만 실행</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운영체제 상태로 재확인</a:t>
            </a:r>
          </a:p>
        </p:txBody>
      </p:sp>
      <p:sp>
        <p:nvSpPr>
          <p:cNvPr id="13" name="">
            <a:extLst xmlns:a="http://schemas.openxmlformats.org/drawingml/2006/main">
              <a:ext uri="{FF2B5EF4-FFF2-40B4-BE49-F238E27FC236}">
                <a16:creationId xmlns:a16="http://schemas.microsoft.com/office/drawing/2014/main" id="{75660F5A-585D-45F2-8BD2-69BFB22CEA4D}"/>
              </a:ext>
            </a:extLst>
          </p:cNvPr>
          <p:cNvSpPr>
            <a:spLocks xmlns:a="http://schemas.openxmlformats.org/drawingml/2006/main" noGrp="1"/>
          </p:cNvSpPr>
          <p:nvPr/>
        </p:nvSpPr>
        <p:spPr>
          <a:xfrm xmlns:a="http://schemas.openxmlformats.org/drawingml/2006/main">
            <a:off x="800100" y="53530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2025" b="1">
                <a:solidFill>
                  <a:srgbClr val="243B64"/>
                </a:solidFill>
                <a:latin typeface="NanumGothic"/>
                <a:ea typeface="NanumGothic"/>
                <a:cs typeface="NanumGothic"/>
              </a:defRPr>
            </a:pPr>
            <a:r>
              <a:rPr sz="2025" b="1">
                <a:solidFill>
                  <a:srgbClr val="243B64"/>
                </a:solidFill>
                <a:latin typeface="NanumGothic"/>
                <a:ea typeface="NanumGothic"/>
                <a:cs typeface="NanumGothic"/>
              </a:rPr>
              <a:t>작품은 전체 에이전트를 구현하고, 논문은 실행 제어 모듈의 효과를 검증한다.</a:t>
            </a:r>
          </a:p>
        </p:txBody>
      </p:sp>
    </p:spTree>
    <p:extLst>
      <p:ext uri="{BB962C8B-B14F-4D97-AF65-F5344CB8AC3E}">
        <p14:creationId xmlns:p14="http://schemas.microsoft.com/office/powerpoint/2010/main" val="4491629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3D78F63-709C-4E82-9745-E14C1ABD9DBF}"/>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전체 시스템 구조</a:t>
            </a:r>
          </a:p>
        </p:txBody>
      </p:sp>
      <p:sp>
        <p:nvSpPr>
          <p:cNvPr id="2" name="">
            <a:extLst xmlns:a="http://schemas.openxmlformats.org/drawingml/2006/main">
              <a:ext uri="{FF2B5EF4-FFF2-40B4-BE49-F238E27FC236}">
                <a16:creationId xmlns:a16="http://schemas.microsoft.com/office/drawing/2014/main" id="{AA27F16C-4CAB-44C4-9C63-D4AA2121DF7A}"/>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05</a:t>
            </a:r>
          </a:p>
        </p:txBody>
      </p:sp>
      <p:sp>
        <p:nvSpPr>
          <p:cNvPr id="3" name="">
            <a:extLst xmlns:a="http://schemas.openxmlformats.org/drawingml/2006/main">
              <a:ext uri="{FF2B5EF4-FFF2-40B4-BE49-F238E27FC236}">
                <a16:creationId xmlns:a16="http://schemas.microsoft.com/office/drawing/2014/main" id="{4D09AFA6-F7D8-432A-BA10-26A7F91ECC7C}"/>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7F788F4-2E70-442C-B128-A71BF5D22F44}"/>
              </a:ext>
            </a:extLst>
          </p:cNvPr>
          <p:cNvSpPr>
            <a:spLocks xmlns:a="http://schemas.openxmlformats.org/drawingml/2006/main" noGrp="1"/>
          </p:cNvSpPr>
          <p:nvPr/>
        </p:nvSpPr>
        <p:spPr>
          <a:xfrm xmlns:a="http://schemas.openxmlformats.org/drawingml/2006/main">
            <a:off x="4953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5" name="">
            <a:extLst xmlns:a="http://schemas.openxmlformats.org/drawingml/2006/main">
              <a:ext uri="{FF2B5EF4-FFF2-40B4-BE49-F238E27FC236}">
                <a16:creationId xmlns:a16="http://schemas.microsoft.com/office/drawing/2014/main" id="{BC8150E4-2DFF-4BF6-89D0-820AC75ECA3D}"/>
              </a:ext>
            </a:extLst>
          </p:cNvPr>
          <p:cNvSpPr>
            <a:spLocks xmlns:a="http://schemas.openxmlformats.org/drawingml/2006/main" noGrp="1"/>
          </p:cNvSpPr>
          <p:nvPr/>
        </p:nvSpPr>
        <p:spPr>
          <a:xfrm xmlns:a="http://schemas.openxmlformats.org/drawingml/2006/main">
            <a:off x="5905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상시 음성</a:t>
            </a:r>
          </a:p>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대기</a:t>
            </a:r>
          </a:p>
        </p:txBody>
      </p:sp>
      <p:sp>
        <p:nvSpPr>
          <p:cNvPr id="6" name="">
            <a:extLst xmlns:a="http://schemas.openxmlformats.org/drawingml/2006/main">
              <a:ext uri="{FF2B5EF4-FFF2-40B4-BE49-F238E27FC236}">
                <a16:creationId xmlns:a16="http://schemas.microsoft.com/office/drawing/2014/main" id="{51E9731F-19A7-4594-B859-E99AC43F75CA}"/>
              </a:ext>
            </a:extLst>
          </p:cNvPr>
          <p:cNvSpPr>
            <a:spLocks xmlns:a="http://schemas.openxmlformats.org/drawingml/2006/main" noGrp="1"/>
          </p:cNvSpPr>
          <p:nvPr/>
        </p:nvSpPr>
        <p:spPr>
          <a:xfrm xmlns:a="http://schemas.openxmlformats.org/drawingml/2006/main">
            <a:off x="18954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7" name="">
            <a:extLst xmlns:a="http://schemas.openxmlformats.org/drawingml/2006/main">
              <a:ext uri="{FF2B5EF4-FFF2-40B4-BE49-F238E27FC236}">
                <a16:creationId xmlns:a16="http://schemas.microsoft.com/office/drawing/2014/main" id="{F5B79941-C413-416A-9301-052CBBB6D90F}"/>
              </a:ext>
            </a:extLst>
          </p:cNvPr>
          <p:cNvSpPr>
            <a:spLocks xmlns:a="http://schemas.openxmlformats.org/drawingml/2006/main" noGrp="1"/>
          </p:cNvSpPr>
          <p:nvPr/>
        </p:nvSpPr>
        <p:spPr>
          <a:xfrm xmlns:a="http://schemas.openxmlformats.org/drawingml/2006/main">
            <a:off x="21526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8" name="">
            <a:extLst xmlns:a="http://schemas.openxmlformats.org/drawingml/2006/main">
              <a:ext uri="{FF2B5EF4-FFF2-40B4-BE49-F238E27FC236}">
                <a16:creationId xmlns:a16="http://schemas.microsoft.com/office/drawing/2014/main" id="{DCA54117-6451-461D-84FE-0A9DF665FFBB}"/>
              </a:ext>
            </a:extLst>
          </p:cNvPr>
          <p:cNvSpPr>
            <a:spLocks xmlns:a="http://schemas.openxmlformats.org/drawingml/2006/main" noGrp="1"/>
          </p:cNvSpPr>
          <p:nvPr/>
        </p:nvSpPr>
        <p:spPr>
          <a:xfrm xmlns:a="http://schemas.openxmlformats.org/drawingml/2006/main">
            <a:off x="22479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3478F6"/>
                </a:solidFill>
                <a:latin typeface="NanumGothic"/>
                <a:ea typeface="NanumGothic"/>
                <a:cs typeface="NanumGothic"/>
              </a:defRPr>
            </a:pPr>
            <a:r>
              <a:rPr sz="1575" b="1">
                <a:solidFill>
                  <a:srgbClr val="3478F6"/>
                </a:solidFill>
                <a:latin typeface="NanumGothic"/>
                <a:ea typeface="NanumGothic"/>
                <a:cs typeface="NanumGothic"/>
              </a:rPr>
              <a:t>호출·의도</a:t>
            </a:r>
          </a:p>
          <a:p xmlns:a="http://schemas.openxmlformats.org/drawingml/2006/main">
            <a:pPr algn="ctr">
              <a:buNone/>
              <a:defRPr sz="1575" b="1">
                <a:solidFill>
                  <a:srgbClr val="3478F6"/>
                </a:solidFill>
                <a:latin typeface="NanumGothic"/>
                <a:ea typeface="NanumGothic"/>
                <a:cs typeface="NanumGothic"/>
              </a:defRPr>
            </a:pPr>
            <a:r>
              <a:rPr sz="1575" b="1">
                <a:solidFill>
                  <a:srgbClr val="3478F6"/>
                </a:solidFill>
                <a:latin typeface="NanumGothic"/>
                <a:ea typeface="NanumGothic"/>
                <a:cs typeface="NanumGothic"/>
              </a:rPr>
              <a:t>판별</a:t>
            </a:r>
          </a:p>
        </p:txBody>
      </p:sp>
      <p:sp>
        <p:nvSpPr>
          <p:cNvPr id="9" name="">
            <a:extLst xmlns:a="http://schemas.openxmlformats.org/drawingml/2006/main">
              <a:ext uri="{FF2B5EF4-FFF2-40B4-BE49-F238E27FC236}">
                <a16:creationId xmlns:a16="http://schemas.microsoft.com/office/drawing/2014/main" id="{C0007886-95C6-43D9-B083-0BB5285BE0A9}"/>
              </a:ext>
            </a:extLst>
          </p:cNvPr>
          <p:cNvSpPr>
            <a:spLocks xmlns:a="http://schemas.openxmlformats.org/drawingml/2006/main" noGrp="1"/>
          </p:cNvSpPr>
          <p:nvPr/>
        </p:nvSpPr>
        <p:spPr>
          <a:xfrm xmlns:a="http://schemas.openxmlformats.org/drawingml/2006/main">
            <a:off x="35528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0" name="">
            <a:extLst xmlns:a="http://schemas.openxmlformats.org/drawingml/2006/main">
              <a:ext uri="{FF2B5EF4-FFF2-40B4-BE49-F238E27FC236}">
                <a16:creationId xmlns:a16="http://schemas.microsoft.com/office/drawing/2014/main" id="{97CBC4CC-EB6E-42EF-8FC1-A296C9EEC1DE}"/>
              </a:ext>
            </a:extLst>
          </p:cNvPr>
          <p:cNvSpPr>
            <a:spLocks xmlns:a="http://schemas.openxmlformats.org/drawingml/2006/main" noGrp="1"/>
          </p:cNvSpPr>
          <p:nvPr/>
        </p:nvSpPr>
        <p:spPr>
          <a:xfrm xmlns:a="http://schemas.openxmlformats.org/drawingml/2006/main">
            <a:off x="38100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11" name="">
            <a:extLst xmlns:a="http://schemas.openxmlformats.org/drawingml/2006/main">
              <a:ext uri="{FF2B5EF4-FFF2-40B4-BE49-F238E27FC236}">
                <a16:creationId xmlns:a16="http://schemas.microsoft.com/office/drawing/2014/main" id="{DFB53FF5-DEF0-41DC-8141-C06163974529}"/>
              </a:ext>
            </a:extLst>
          </p:cNvPr>
          <p:cNvSpPr>
            <a:spLocks xmlns:a="http://schemas.openxmlformats.org/drawingml/2006/main" noGrp="1"/>
          </p:cNvSpPr>
          <p:nvPr/>
        </p:nvSpPr>
        <p:spPr>
          <a:xfrm xmlns:a="http://schemas.openxmlformats.org/drawingml/2006/main">
            <a:off x="39052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59C3E5"/>
                </a:solidFill>
                <a:latin typeface="NanumGothic"/>
                <a:ea typeface="NanumGothic"/>
                <a:cs typeface="NanumGothic"/>
              </a:defRPr>
            </a:pPr>
            <a:r>
              <a:rPr sz="1575" b="1">
                <a:solidFill>
                  <a:srgbClr val="59C3E5"/>
                </a:solidFill>
                <a:latin typeface="NanumGothic"/>
                <a:ea typeface="NanumGothic"/>
                <a:cs typeface="NanumGothic"/>
              </a:rPr>
              <a:t>화면·기억</a:t>
            </a:r>
          </a:p>
          <a:p xmlns:a="http://schemas.openxmlformats.org/drawingml/2006/main">
            <a:pPr algn="ctr">
              <a:buNone/>
              <a:defRPr sz="1575" b="1">
                <a:solidFill>
                  <a:srgbClr val="59C3E5"/>
                </a:solidFill>
                <a:latin typeface="NanumGothic"/>
                <a:ea typeface="NanumGothic"/>
                <a:cs typeface="NanumGothic"/>
              </a:defRPr>
            </a:pPr>
            <a:r>
              <a:rPr sz="1575" b="1">
                <a:solidFill>
                  <a:srgbClr val="59C3E5"/>
                </a:solidFill>
                <a:latin typeface="NanumGothic"/>
                <a:ea typeface="NanumGothic"/>
                <a:cs typeface="NanumGothic"/>
              </a:rPr>
              <a:t>문맥</a:t>
            </a:r>
          </a:p>
        </p:txBody>
      </p:sp>
      <p:sp>
        <p:nvSpPr>
          <p:cNvPr id="12" name="">
            <a:extLst xmlns:a="http://schemas.openxmlformats.org/drawingml/2006/main">
              <a:ext uri="{FF2B5EF4-FFF2-40B4-BE49-F238E27FC236}">
                <a16:creationId xmlns:a16="http://schemas.microsoft.com/office/drawing/2014/main" id="{23D9E915-DA6B-466F-A1F5-777932E63085}"/>
              </a:ext>
            </a:extLst>
          </p:cNvPr>
          <p:cNvSpPr>
            <a:spLocks xmlns:a="http://schemas.openxmlformats.org/drawingml/2006/main" noGrp="1"/>
          </p:cNvSpPr>
          <p:nvPr/>
        </p:nvSpPr>
        <p:spPr>
          <a:xfrm xmlns:a="http://schemas.openxmlformats.org/drawingml/2006/main">
            <a:off x="52101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3" name="">
            <a:extLst xmlns:a="http://schemas.openxmlformats.org/drawingml/2006/main">
              <a:ext uri="{FF2B5EF4-FFF2-40B4-BE49-F238E27FC236}">
                <a16:creationId xmlns:a16="http://schemas.microsoft.com/office/drawing/2014/main" id="{F6A20CE0-CD29-4666-93EF-8B04373EF16E}"/>
              </a:ext>
            </a:extLst>
          </p:cNvPr>
          <p:cNvSpPr>
            <a:spLocks xmlns:a="http://schemas.openxmlformats.org/drawingml/2006/main" noGrp="1"/>
          </p:cNvSpPr>
          <p:nvPr/>
        </p:nvSpPr>
        <p:spPr>
          <a:xfrm xmlns:a="http://schemas.openxmlformats.org/drawingml/2006/main">
            <a:off x="54673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14" name="">
            <a:extLst xmlns:a="http://schemas.openxmlformats.org/drawingml/2006/main">
              <a:ext uri="{FF2B5EF4-FFF2-40B4-BE49-F238E27FC236}">
                <a16:creationId xmlns:a16="http://schemas.microsoft.com/office/drawing/2014/main" id="{D8AE4974-51D6-44EF-8FF0-66F6C316A510}"/>
              </a:ext>
            </a:extLst>
          </p:cNvPr>
          <p:cNvSpPr>
            <a:spLocks xmlns:a="http://schemas.openxmlformats.org/drawingml/2006/main" noGrp="1"/>
          </p:cNvSpPr>
          <p:nvPr/>
        </p:nvSpPr>
        <p:spPr>
          <a:xfrm xmlns:a="http://schemas.openxmlformats.org/drawingml/2006/main">
            <a:off x="55626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LLM 계획</a:t>
            </a:r>
          </a:p>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생성</a:t>
            </a:r>
          </a:p>
        </p:txBody>
      </p:sp>
      <p:sp>
        <p:nvSpPr>
          <p:cNvPr id="15" name="">
            <a:extLst xmlns:a="http://schemas.openxmlformats.org/drawingml/2006/main">
              <a:ext uri="{FF2B5EF4-FFF2-40B4-BE49-F238E27FC236}">
                <a16:creationId xmlns:a16="http://schemas.microsoft.com/office/drawing/2014/main" id="{F07FB679-9CB6-429D-9E3A-752F0409F104}"/>
              </a:ext>
            </a:extLst>
          </p:cNvPr>
          <p:cNvSpPr>
            <a:spLocks xmlns:a="http://schemas.openxmlformats.org/drawingml/2006/main" noGrp="1"/>
          </p:cNvSpPr>
          <p:nvPr/>
        </p:nvSpPr>
        <p:spPr>
          <a:xfrm xmlns:a="http://schemas.openxmlformats.org/drawingml/2006/main">
            <a:off x="68675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6" name="">
            <a:extLst xmlns:a="http://schemas.openxmlformats.org/drawingml/2006/main">
              <a:ext uri="{FF2B5EF4-FFF2-40B4-BE49-F238E27FC236}">
                <a16:creationId xmlns:a16="http://schemas.microsoft.com/office/drawing/2014/main" id="{2BB351C7-A0FE-42C4-8DC6-16BCD46D7BBF}"/>
              </a:ext>
            </a:extLst>
          </p:cNvPr>
          <p:cNvSpPr>
            <a:spLocks xmlns:a="http://schemas.openxmlformats.org/drawingml/2006/main" noGrp="1"/>
          </p:cNvSpPr>
          <p:nvPr/>
        </p:nvSpPr>
        <p:spPr>
          <a:xfrm xmlns:a="http://schemas.openxmlformats.org/drawingml/2006/main">
            <a:off x="7124700" y="2190750"/>
            <a:ext cx="1381125" cy="1428750"/>
          </a:xfrm>
          <a:prstGeom xmlns:a="http://schemas.openxmlformats.org/drawingml/2006/main" prst="roundRect">
            <a:avLst>
              <a:gd name="adj" fmla="val 9655"/>
            </a:avLst>
          </a:prstGeom>
          <a:solidFill xmlns:a="http://schemas.openxmlformats.org/drawingml/2006/main">
            <a:srgbClr val="FFF7E6"/>
          </a:solidFill>
          <a:ln xmlns:a="http://schemas.openxmlformats.org/drawingml/2006/main" w="9525">
            <a:solidFill>
              <a:srgbClr val="F2A93B"/>
            </a:solidFill>
            <a:prstDash val="solid"/>
          </a:ln>
        </p:spPr>
      </p:sp>
      <p:sp>
        <p:nvSpPr>
          <p:cNvPr id="17" name="">
            <a:extLst xmlns:a="http://schemas.openxmlformats.org/drawingml/2006/main">
              <a:ext uri="{FF2B5EF4-FFF2-40B4-BE49-F238E27FC236}">
                <a16:creationId xmlns:a16="http://schemas.microsoft.com/office/drawing/2014/main" id="{6634C175-7243-4908-A247-D2B16B8C2937}"/>
              </a:ext>
            </a:extLst>
          </p:cNvPr>
          <p:cNvSpPr>
            <a:spLocks xmlns:a="http://schemas.openxmlformats.org/drawingml/2006/main" noGrp="1"/>
          </p:cNvSpPr>
          <p:nvPr/>
        </p:nvSpPr>
        <p:spPr>
          <a:xfrm xmlns:a="http://schemas.openxmlformats.org/drawingml/2006/main">
            <a:off x="72199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정책·위험</a:t>
            </a:r>
          </a:p>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판단</a:t>
            </a:r>
          </a:p>
        </p:txBody>
      </p:sp>
      <p:sp>
        <p:nvSpPr>
          <p:cNvPr id="18" name="">
            <a:extLst xmlns:a="http://schemas.openxmlformats.org/drawingml/2006/main">
              <a:ext uri="{FF2B5EF4-FFF2-40B4-BE49-F238E27FC236}">
                <a16:creationId xmlns:a16="http://schemas.microsoft.com/office/drawing/2014/main" id="{CBC93320-E583-484A-90CF-953C4FC0D472}"/>
              </a:ext>
            </a:extLst>
          </p:cNvPr>
          <p:cNvSpPr>
            <a:spLocks xmlns:a="http://schemas.openxmlformats.org/drawingml/2006/main" noGrp="1"/>
          </p:cNvSpPr>
          <p:nvPr/>
        </p:nvSpPr>
        <p:spPr>
          <a:xfrm xmlns:a="http://schemas.openxmlformats.org/drawingml/2006/main">
            <a:off x="85248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9" name="">
            <a:extLst xmlns:a="http://schemas.openxmlformats.org/drawingml/2006/main">
              <a:ext uri="{FF2B5EF4-FFF2-40B4-BE49-F238E27FC236}">
                <a16:creationId xmlns:a16="http://schemas.microsoft.com/office/drawing/2014/main" id="{45425BB0-B5D5-4F39-B3C4-330DBDCC71ED}"/>
              </a:ext>
            </a:extLst>
          </p:cNvPr>
          <p:cNvSpPr>
            <a:spLocks xmlns:a="http://schemas.openxmlformats.org/drawingml/2006/main" noGrp="1"/>
          </p:cNvSpPr>
          <p:nvPr/>
        </p:nvSpPr>
        <p:spPr>
          <a:xfrm xmlns:a="http://schemas.openxmlformats.org/drawingml/2006/main">
            <a:off x="87820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20" name="">
            <a:extLst xmlns:a="http://schemas.openxmlformats.org/drawingml/2006/main">
              <a:ext uri="{FF2B5EF4-FFF2-40B4-BE49-F238E27FC236}">
                <a16:creationId xmlns:a16="http://schemas.microsoft.com/office/drawing/2014/main" id="{E3A5B3C8-0E9E-4CAC-B959-C5BF97A2E093}"/>
              </a:ext>
            </a:extLst>
          </p:cNvPr>
          <p:cNvSpPr>
            <a:spLocks xmlns:a="http://schemas.openxmlformats.org/drawingml/2006/main" noGrp="1"/>
          </p:cNvSpPr>
          <p:nvPr/>
        </p:nvSpPr>
        <p:spPr>
          <a:xfrm xmlns:a="http://schemas.openxmlformats.org/drawingml/2006/main">
            <a:off x="88773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Windows</a:t>
            </a:r>
          </a:p>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실행</a:t>
            </a:r>
          </a:p>
        </p:txBody>
      </p:sp>
      <p:sp>
        <p:nvSpPr>
          <p:cNvPr id="21" name="">
            <a:extLst xmlns:a="http://schemas.openxmlformats.org/drawingml/2006/main">
              <a:ext uri="{FF2B5EF4-FFF2-40B4-BE49-F238E27FC236}">
                <a16:creationId xmlns:a16="http://schemas.microsoft.com/office/drawing/2014/main" id="{0591E27F-1CAA-45A3-8C64-3B02E7EC57B2}"/>
              </a:ext>
            </a:extLst>
          </p:cNvPr>
          <p:cNvSpPr>
            <a:spLocks xmlns:a="http://schemas.openxmlformats.org/drawingml/2006/main" noGrp="1"/>
          </p:cNvSpPr>
          <p:nvPr/>
        </p:nvSpPr>
        <p:spPr>
          <a:xfrm xmlns:a="http://schemas.openxmlformats.org/drawingml/2006/main">
            <a:off x="101822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22" name="">
            <a:extLst xmlns:a="http://schemas.openxmlformats.org/drawingml/2006/main">
              <a:ext uri="{FF2B5EF4-FFF2-40B4-BE49-F238E27FC236}">
                <a16:creationId xmlns:a16="http://schemas.microsoft.com/office/drawing/2014/main" id="{912289F7-3416-4806-9EC6-2BD3F5441089}"/>
              </a:ext>
            </a:extLst>
          </p:cNvPr>
          <p:cNvSpPr>
            <a:spLocks xmlns:a="http://schemas.openxmlformats.org/drawingml/2006/main" noGrp="1"/>
          </p:cNvSpPr>
          <p:nvPr/>
        </p:nvSpPr>
        <p:spPr>
          <a:xfrm xmlns:a="http://schemas.openxmlformats.org/drawingml/2006/main">
            <a:off x="104394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23" name="">
            <a:extLst xmlns:a="http://schemas.openxmlformats.org/drawingml/2006/main">
              <a:ext uri="{FF2B5EF4-FFF2-40B4-BE49-F238E27FC236}">
                <a16:creationId xmlns:a16="http://schemas.microsoft.com/office/drawing/2014/main" id="{28B1C3F1-F5F6-4C28-9E0D-AED4A6CE9EB5}"/>
              </a:ext>
            </a:extLst>
          </p:cNvPr>
          <p:cNvSpPr>
            <a:spLocks xmlns:a="http://schemas.openxmlformats.org/drawingml/2006/main" noGrp="1"/>
          </p:cNvSpPr>
          <p:nvPr/>
        </p:nvSpPr>
        <p:spPr>
          <a:xfrm xmlns:a="http://schemas.openxmlformats.org/drawingml/2006/main">
            <a:off x="105346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결과 검증</a:t>
            </a:r>
          </a:p>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재계획</a:t>
            </a:r>
          </a:p>
        </p:txBody>
      </p:sp>
      <p:sp>
        <p:nvSpPr>
          <p:cNvPr id="24" name="">
            <a:extLst xmlns:a="http://schemas.openxmlformats.org/drawingml/2006/main">
              <a:ext uri="{FF2B5EF4-FFF2-40B4-BE49-F238E27FC236}">
                <a16:creationId xmlns:a16="http://schemas.microsoft.com/office/drawing/2014/main" id="{B5E9E42C-A115-4926-8E66-C6942FB681DB}"/>
              </a:ext>
            </a:extLst>
          </p:cNvPr>
          <p:cNvSpPr>
            <a:spLocks xmlns:a="http://schemas.openxmlformats.org/drawingml/2006/main" noGrp="1"/>
          </p:cNvSpPr>
          <p:nvPr/>
        </p:nvSpPr>
        <p:spPr>
          <a:xfrm xmlns:a="http://schemas.openxmlformats.org/drawingml/2006/main">
            <a:off x="809625" y="423862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657187"/>
                </a:solidFill>
                <a:latin typeface="NanumGothic"/>
                <a:ea typeface="NanumGothic"/>
                <a:cs typeface="NanumGothic"/>
              </a:defRPr>
            </a:pPr>
            <a:r>
              <a:rPr sz="1425" b="1">
                <a:solidFill>
                  <a:srgbClr val="657187"/>
                </a:solidFill>
                <a:latin typeface="NanumGothic"/>
                <a:ea typeface="NanumGothic"/>
                <a:cs typeface="NanumGothic"/>
              </a:rPr>
              <a:t>실행 수단 우선순위</a:t>
            </a:r>
          </a:p>
        </p:txBody>
      </p:sp>
      <p:sp>
        <p:nvSpPr>
          <p:cNvPr id="25" name="">
            <a:extLst xmlns:a="http://schemas.openxmlformats.org/drawingml/2006/main">
              <a:ext uri="{FF2B5EF4-FFF2-40B4-BE49-F238E27FC236}">
                <a16:creationId xmlns:a16="http://schemas.microsoft.com/office/drawing/2014/main" id="{36A78B50-BBE7-40B4-88FB-8DB189A6E616}"/>
              </a:ext>
            </a:extLst>
          </p:cNvPr>
          <p:cNvSpPr>
            <a:spLocks xmlns:a="http://schemas.openxmlformats.org/drawingml/2006/main" noGrp="1"/>
          </p:cNvSpPr>
          <p:nvPr/>
        </p:nvSpPr>
        <p:spPr>
          <a:xfrm xmlns:a="http://schemas.openxmlformats.org/drawingml/2006/main">
            <a:off x="809625" y="4667250"/>
            <a:ext cx="971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100" b="1">
                <a:solidFill>
                  <a:srgbClr val="172033"/>
                </a:solidFill>
                <a:latin typeface="NanumGothic"/>
                <a:ea typeface="NanumGothic"/>
                <a:cs typeface="NanumGothic"/>
              </a:defRPr>
            </a:pPr>
            <a:r>
              <a:rPr sz="2100" b="1">
                <a:solidFill>
                  <a:srgbClr val="172033"/>
                </a:solidFill>
                <a:latin typeface="NanumGothic"/>
                <a:ea typeface="NanumGothic"/>
                <a:cs typeface="NanumGothic"/>
              </a:rPr>
              <a:t>Windows API · 제한된 PowerShell · UI 자동화 · 화면 인식과 입력</a:t>
            </a:r>
          </a:p>
        </p:txBody>
      </p:sp>
      <p:sp>
        <p:nvSpPr>
          <p:cNvPr id="26" name="">
            <a:extLst xmlns:a="http://schemas.openxmlformats.org/drawingml/2006/main">
              <a:ext uri="{FF2B5EF4-FFF2-40B4-BE49-F238E27FC236}">
                <a16:creationId xmlns:a16="http://schemas.microsoft.com/office/drawing/2014/main" id="{D954B7A6-2E07-4847-BFD0-0A18AE7A63C5}"/>
              </a:ext>
            </a:extLst>
          </p:cNvPr>
          <p:cNvSpPr>
            <a:spLocks xmlns:a="http://schemas.openxmlformats.org/drawingml/2006/main" noGrp="1"/>
          </p:cNvSpPr>
          <p:nvPr/>
        </p:nvSpPr>
        <p:spPr>
          <a:xfrm xmlns:a="http://schemas.openxmlformats.org/drawingml/2006/main">
            <a:off x="809625" y="5429250"/>
            <a:ext cx="971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행동 → 실제 관찰 → 독립 검증 → 제한된 재계획</a:t>
            </a:r>
          </a:p>
        </p:txBody>
      </p:sp>
    </p:spTree>
    <p:extLst>
      <p:ext uri="{BB962C8B-B14F-4D97-AF65-F5344CB8AC3E}">
        <p14:creationId xmlns:p14="http://schemas.microsoft.com/office/powerpoint/2010/main" val="13905252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0E14FA3-EF9C-4E52-8FD5-4ACF5A463E00}"/>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의도·위험·실행 제어</a:t>
            </a:r>
          </a:p>
        </p:txBody>
      </p:sp>
      <p:sp>
        <p:nvSpPr>
          <p:cNvPr id="2" name="">
            <a:extLst xmlns:a="http://schemas.openxmlformats.org/drawingml/2006/main">
              <a:ext uri="{FF2B5EF4-FFF2-40B4-BE49-F238E27FC236}">
                <a16:creationId xmlns:a16="http://schemas.microsoft.com/office/drawing/2014/main" id="{CA9C17D1-4311-4CB6-A1ED-FF022C67E47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06</a:t>
            </a:r>
          </a:p>
        </p:txBody>
      </p:sp>
      <p:sp>
        <p:nvSpPr>
          <p:cNvPr id="3" name="">
            <a:extLst xmlns:a="http://schemas.openxmlformats.org/drawingml/2006/main">
              <a:ext uri="{FF2B5EF4-FFF2-40B4-BE49-F238E27FC236}">
                <a16:creationId xmlns:a16="http://schemas.microsoft.com/office/drawing/2014/main" id="{55F47831-2ED6-45E7-92BF-C482A2BEBF4E}"/>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16387968-9215-4A50-912E-2B5D7CED630E}"/>
              </a:ext>
            </a:extLst>
          </p:cNvPr>
          <p:cNvSpPr>
            <a:spLocks xmlns:a="http://schemas.openxmlformats.org/drawingml/2006/main" noGrp="1"/>
          </p:cNvSpPr>
          <p:nvPr/>
        </p:nvSpPr>
        <p:spPr>
          <a:xfrm xmlns:a="http://schemas.openxmlformats.org/drawingml/2006/main">
            <a:off x="685800" y="15240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5" name="">
            <a:extLst xmlns:a="http://schemas.openxmlformats.org/drawingml/2006/main">
              <a:ext uri="{FF2B5EF4-FFF2-40B4-BE49-F238E27FC236}">
                <a16:creationId xmlns:a16="http://schemas.microsoft.com/office/drawing/2014/main" id="{BDEC709B-63AE-4FCA-B862-1469B6A0FA17}"/>
              </a:ext>
            </a:extLst>
          </p:cNvPr>
          <p:cNvSpPr>
            <a:spLocks xmlns:a="http://schemas.openxmlformats.org/drawingml/2006/main" noGrp="1"/>
          </p:cNvSpPr>
          <p:nvPr/>
        </p:nvSpPr>
        <p:spPr>
          <a:xfrm xmlns:a="http://schemas.openxmlformats.org/drawingml/2006/main">
            <a:off x="876300" y="1847850"/>
            <a:ext cx="1066800" cy="323850"/>
          </a:xfrm>
          <a:prstGeom xmlns:a="http://schemas.openxmlformats.org/drawingml/2006/main" prst="roundRect">
            <a:avLst>
              <a:gd name="adj" fmla="val 50000"/>
            </a:avLst>
          </a:prstGeom>
          <a:solidFill xmlns:a="http://schemas.openxmlformats.org/drawingml/2006/main">
            <a:srgbClr val="2FA36B"/>
          </a:solidFill>
          <a:ln xmlns:a="http://schemas.openxmlformats.org/drawingml/2006/main" w="9525">
            <a:solidFill>
              <a:srgbClr val="2FA36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GREEN</a:t>
            </a:r>
          </a:p>
        </p:txBody>
      </p:sp>
      <p:sp>
        <p:nvSpPr>
          <p:cNvPr id="6" name="">
            <a:extLst xmlns:a="http://schemas.openxmlformats.org/drawingml/2006/main">
              <a:ext uri="{FF2B5EF4-FFF2-40B4-BE49-F238E27FC236}">
                <a16:creationId xmlns:a16="http://schemas.microsoft.com/office/drawing/2014/main" id="{2F5E6B91-C9C4-4FED-90B5-ADBE6036F06D}"/>
              </a:ext>
            </a:extLst>
          </p:cNvPr>
          <p:cNvSpPr>
            <a:spLocks xmlns:a="http://schemas.openxmlformats.org/drawingml/2006/main" noGrp="1"/>
          </p:cNvSpPr>
          <p:nvPr/>
        </p:nvSpPr>
        <p:spPr>
          <a:xfrm xmlns:a="http://schemas.openxmlformats.org/drawingml/2006/main">
            <a:off x="2238375" y="16954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낮은 위험</a:t>
            </a:r>
          </a:p>
        </p:txBody>
      </p:sp>
      <p:sp>
        <p:nvSpPr>
          <p:cNvPr id="7" name="">
            <a:extLst xmlns:a="http://schemas.openxmlformats.org/drawingml/2006/main">
              <a:ext uri="{FF2B5EF4-FFF2-40B4-BE49-F238E27FC236}">
                <a16:creationId xmlns:a16="http://schemas.microsoft.com/office/drawing/2014/main" id="{087B7204-1E96-40C4-9879-6FCB2FEDF976}"/>
              </a:ext>
            </a:extLst>
          </p:cNvPr>
          <p:cNvSpPr>
            <a:spLocks xmlns:a="http://schemas.openxmlformats.org/drawingml/2006/main" noGrp="1"/>
          </p:cNvSpPr>
          <p:nvPr/>
        </p:nvSpPr>
        <p:spPr>
          <a:xfrm xmlns:a="http://schemas.openxmlformats.org/drawingml/2006/main">
            <a:off x="2238375" y="20955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시스템 정보·파일 목록·로컬 검색</a:t>
            </a:r>
          </a:p>
        </p:txBody>
      </p:sp>
      <p:sp>
        <p:nvSpPr>
          <p:cNvPr id="8" name="">
            <a:extLst xmlns:a="http://schemas.openxmlformats.org/drawingml/2006/main">
              <a:ext uri="{FF2B5EF4-FFF2-40B4-BE49-F238E27FC236}">
                <a16:creationId xmlns:a16="http://schemas.microsoft.com/office/drawing/2014/main" id="{945F735C-3728-483C-A8CF-C39BECC66F61}"/>
              </a:ext>
            </a:extLst>
          </p:cNvPr>
          <p:cNvSpPr>
            <a:spLocks xmlns:a="http://schemas.openxmlformats.org/drawingml/2006/main" noGrp="1"/>
          </p:cNvSpPr>
          <p:nvPr/>
        </p:nvSpPr>
        <p:spPr>
          <a:xfrm xmlns:a="http://schemas.openxmlformats.org/drawingml/2006/main">
            <a:off x="7096125" y="18097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정책 통과 후 실행</a:t>
            </a:r>
          </a:p>
        </p:txBody>
      </p:sp>
      <p:sp>
        <p:nvSpPr>
          <p:cNvPr id="9" name="">
            <a:extLst xmlns:a="http://schemas.openxmlformats.org/drawingml/2006/main">
              <a:ext uri="{FF2B5EF4-FFF2-40B4-BE49-F238E27FC236}">
                <a16:creationId xmlns:a16="http://schemas.microsoft.com/office/drawing/2014/main" id="{51124A25-3908-4D13-B6B8-E75A0D0EE1BB}"/>
              </a:ext>
            </a:extLst>
          </p:cNvPr>
          <p:cNvSpPr>
            <a:spLocks xmlns:a="http://schemas.openxmlformats.org/drawingml/2006/main" noGrp="1"/>
          </p:cNvSpPr>
          <p:nvPr/>
        </p:nvSpPr>
        <p:spPr>
          <a:xfrm xmlns:a="http://schemas.openxmlformats.org/drawingml/2006/main">
            <a:off x="685800" y="28575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10" name="">
            <a:extLst xmlns:a="http://schemas.openxmlformats.org/drawingml/2006/main">
              <a:ext uri="{FF2B5EF4-FFF2-40B4-BE49-F238E27FC236}">
                <a16:creationId xmlns:a16="http://schemas.microsoft.com/office/drawing/2014/main" id="{1C59216F-D4EF-46D0-B3CC-1B393C7CF50D}"/>
              </a:ext>
            </a:extLst>
          </p:cNvPr>
          <p:cNvSpPr>
            <a:spLocks xmlns:a="http://schemas.openxmlformats.org/drawingml/2006/main" noGrp="1"/>
          </p:cNvSpPr>
          <p:nvPr/>
        </p:nvSpPr>
        <p:spPr>
          <a:xfrm xmlns:a="http://schemas.openxmlformats.org/drawingml/2006/main">
            <a:off x="876300" y="3181350"/>
            <a:ext cx="1066800" cy="323850"/>
          </a:xfrm>
          <a:prstGeom xmlns:a="http://schemas.openxmlformats.org/drawingml/2006/main" prst="roundRect">
            <a:avLst>
              <a:gd name="adj" fmla="val 50000"/>
            </a:avLst>
          </a:prstGeom>
          <a:solidFill xmlns:a="http://schemas.openxmlformats.org/drawingml/2006/main">
            <a:srgbClr val="F2A93B"/>
          </a:solidFill>
          <a:ln xmlns:a="http://schemas.openxmlformats.org/drawingml/2006/main" w="9525">
            <a:solidFill>
              <a:srgbClr val="F2A93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YELLOW</a:t>
            </a:r>
          </a:p>
        </p:txBody>
      </p:sp>
      <p:sp>
        <p:nvSpPr>
          <p:cNvPr id="11" name="">
            <a:extLst xmlns:a="http://schemas.openxmlformats.org/drawingml/2006/main">
              <a:ext uri="{FF2B5EF4-FFF2-40B4-BE49-F238E27FC236}">
                <a16:creationId xmlns:a16="http://schemas.microsoft.com/office/drawing/2014/main" id="{9D6C513D-7801-498B-9E85-ACAA20BE6575}"/>
              </a:ext>
            </a:extLst>
          </p:cNvPr>
          <p:cNvSpPr>
            <a:spLocks xmlns:a="http://schemas.openxmlformats.org/drawingml/2006/main" noGrp="1"/>
          </p:cNvSpPr>
          <p:nvPr/>
        </p:nvSpPr>
        <p:spPr>
          <a:xfrm xmlns:a="http://schemas.openxmlformats.org/drawingml/2006/main">
            <a:off x="2238375" y="30289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중간 위험</a:t>
            </a:r>
          </a:p>
        </p:txBody>
      </p:sp>
      <p:sp>
        <p:nvSpPr>
          <p:cNvPr id="12" name="">
            <a:extLst xmlns:a="http://schemas.openxmlformats.org/drawingml/2006/main">
              <a:ext uri="{FF2B5EF4-FFF2-40B4-BE49-F238E27FC236}">
                <a16:creationId xmlns:a16="http://schemas.microsoft.com/office/drawing/2014/main" id="{2C9B4493-4BD8-4B04-94F1-048A63F55CDA}"/>
              </a:ext>
            </a:extLst>
          </p:cNvPr>
          <p:cNvSpPr>
            <a:spLocks xmlns:a="http://schemas.openxmlformats.org/drawingml/2006/main" noGrp="1"/>
          </p:cNvSpPr>
          <p:nvPr/>
        </p:nvSpPr>
        <p:spPr>
          <a:xfrm xmlns:a="http://schemas.openxmlformats.org/drawingml/2006/main">
            <a:off x="2238375" y="34290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앱 실행·음량 변경·파일 이동</a:t>
            </a:r>
          </a:p>
        </p:txBody>
      </p:sp>
      <p:sp>
        <p:nvSpPr>
          <p:cNvPr id="13" name="">
            <a:extLst xmlns:a="http://schemas.openxmlformats.org/drawingml/2006/main">
              <a:ext uri="{FF2B5EF4-FFF2-40B4-BE49-F238E27FC236}">
                <a16:creationId xmlns:a16="http://schemas.microsoft.com/office/drawing/2014/main" id="{0A9EF4C7-7DEF-4EC0-B8D0-B9E3855ABE39}"/>
              </a:ext>
            </a:extLst>
          </p:cNvPr>
          <p:cNvSpPr>
            <a:spLocks xmlns:a="http://schemas.openxmlformats.org/drawingml/2006/main" noGrp="1"/>
          </p:cNvSpPr>
          <p:nvPr/>
        </p:nvSpPr>
        <p:spPr>
          <a:xfrm xmlns:a="http://schemas.openxmlformats.org/drawingml/2006/main">
            <a:off x="7096125" y="31432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대상 재확인·필요 시 승인</a:t>
            </a:r>
          </a:p>
        </p:txBody>
      </p:sp>
      <p:sp>
        <p:nvSpPr>
          <p:cNvPr id="14" name="">
            <a:extLst xmlns:a="http://schemas.openxmlformats.org/drawingml/2006/main">
              <a:ext uri="{FF2B5EF4-FFF2-40B4-BE49-F238E27FC236}">
                <a16:creationId xmlns:a16="http://schemas.microsoft.com/office/drawing/2014/main" id="{E8F69A16-29D4-4FEF-9F84-10176ABEC10C}"/>
              </a:ext>
            </a:extLst>
          </p:cNvPr>
          <p:cNvSpPr>
            <a:spLocks xmlns:a="http://schemas.openxmlformats.org/drawingml/2006/main" noGrp="1"/>
          </p:cNvSpPr>
          <p:nvPr/>
        </p:nvSpPr>
        <p:spPr>
          <a:xfrm xmlns:a="http://schemas.openxmlformats.org/drawingml/2006/main">
            <a:off x="685800" y="41910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15" name="">
            <a:extLst xmlns:a="http://schemas.openxmlformats.org/drawingml/2006/main">
              <a:ext uri="{FF2B5EF4-FFF2-40B4-BE49-F238E27FC236}">
                <a16:creationId xmlns:a16="http://schemas.microsoft.com/office/drawing/2014/main" id="{324E3756-31DF-4246-9339-6C07A2BF3E1B}"/>
              </a:ext>
            </a:extLst>
          </p:cNvPr>
          <p:cNvSpPr>
            <a:spLocks xmlns:a="http://schemas.openxmlformats.org/drawingml/2006/main" noGrp="1"/>
          </p:cNvSpPr>
          <p:nvPr/>
        </p:nvSpPr>
        <p:spPr>
          <a:xfrm xmlns:a="http://schemas.openxmlformats.org/drawingml/2006/main">
            <a:off x="876300" y="4514850"/>
            <a:ext cx="1066800" cy="323850"/>
          </a:xfrm>
          <a:prstGeom xmlns:a="http://schemas.openxmlformats.org/drawingml/2006/main" prst="roundRect">
            <a:avLst>
              <a:gd name="adj" fmla="val 50000"/>
            </a:avLst>
          </a:prstGeom>
          <a:solidFill xmlns:a="http://schemas.openxmlformats.org/drawingml/2006/main">
            <a:srgbClr val="D95050"/>
          </a:solidFill>
          <a:ln xmlns:a="http://schemas.openxmlformats.org/drawingml/2006/main" w="9525">
            <a:solidFill>
              <a:srgbClr val="D95050"/>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RED</a:t>
            </a:r>
          </a:p>
        </p:txBody>
      </p:sp>
      <p:sp>
        <p:nvSpPr>
          <p:cNvPr id="16" name="">
            <a:extLst xmlns:a="http://schemas.openxmlformats.org/drawingml/2006/main">
              <a:ext uri="{FF2B5EF4-FFF2-40B4-BE49-F238E27FC236}">
                <a16:creationId xmlns:a16="http://schemas.microsoft.com/office/drawing/2014/main" id="{4F2EFD97-5DFC-43ED-8767-4B6169E24CE0}"/>
              </a:ext>
            </a:extLst>
          </p:cNvPr>
          <p:cNvSpPr>
            <a:spLocks xmlns:a="http://schemas.openxmlformats.org/drawingml/2006/main" noGrp="1"/>
          </p:cNvSpPr>
          <p:nvPr/>
        </p:nvSpPr>
        <p:spPr>
          <a:xfrm xmlns:a="http://schemas.openxmlformats.org/drawingml/2006/main">
            <a:off x="2238375" y="43624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높은 위험</a:t>
            </a:r>
          </a:p>
        </p:txBody>
      </p:sp>
      <p:sp>
        <p:nvSpPr>
          <p:cNvPr id="17" name="">
            <a:extLst xmlns:a="http://schemas.openxmlformats.org/drawingml/2006/main">
              <a:ext uri="{FF2B5EF4-FFF2-40B4-BE49-F238E27FC236}">
                <a16:creationId xmlns:a16="http://schemas.microsoft.com/office/drawing/2014/main" id="{C25FC007-884D-41E9-AFB1-9E772BCA0266}"/>
              </a:ext>
            </a:extLst>
          </p:cNvPr>
          <p:cNvSpPr>
            <a:spLocks xmlns:a="http://schemas.openxmlformats.org/drawingml/2006/main" noGrp="1"/>
          </p:cNvSpPr>
          <p:nvPr/>
        </p:nvSpPr>
        <p:spPr>
          <a:xfrm xmlns:a="http://schemas.openxmlformats.org/drawingml/2006/main">
            <a:off x="2238375" y="47625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영구 삭제·외부 전송·설치·초기화</a:t>
            </a:r>
          </a:p>
        </p:txBody>
      </p:sp>
      <p:sp>
        <p:nvSpPr>
          <p:cNvPr id="18" name="">
            <a:extLst xmlns:a="http://schemas.openxmlformats.org/drawingml/2006/main">
              <a:ext uri="{FF2B5EF4-FFF2-40B4-BE49-F238E27FC236}">
                <a16:creationId xmlns:a16="http://schemas.microsoft.com/office/drawing/2014/main" id="{6A0CD2AB-BCB3-45A3-9E2C-A38C01966707}"/>
              </a:ext>
            </a:extLst>
          </p:cNvPr>
          <p:cNvSpPr>
            <a:spLocks xmlns:a="http://schemas.openxmlformats.org/drawingml/2006/main" noGrp="1"/>
          </p:cNvSpPr>
          <p:nvPr/>
        </p:nvSpPr>
        <p:spPr>
          <a:xfrm xmlns:a="http://schemas.openxmlformats.org/drawingml/2006/main">
            <a:off x="7096125" y="44767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정확한 행동 승인 + 강한 인증</a:t>
            </a:r>
          </a:p>
        </p:txBody>
      </p:sp>
      <p:sp>
        <p:nvSpPr>
          <p:cNvPr id="19" name="">
            <a:extLst xmlns:a="http://schemas.openxmlformats.org/drawingml/2006/main">
              <a:ext uri="{FF2B5EF4-FFF2-40B4-BE49-F238E27FC236}">
                <a16:creationId xmlns:a16="http://schemas.microsoft.com/office/drawing/2014/main" id="{9BA6B595-ACD1-4865-B889-1582BAC5F78F}"/>
              </a:ext>
            </a:extLst>
          </p:cNvPr>
          <p:cNvSpPr>
            <a:spLocks xmlns:a="http://schemas.openxmlformats.org/drawingml/2006/main" noGrp="1"/>
          </p:cNvSpPr>
          <p:nvPr/>
        </p:nvSpPr>
        <p:spPr>
          <a:xfrm xmlns:a="http://schemas.openxmlformats.org/drawingml/2006/main">
            <a:off x="714375" y="56197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950" b="1">
                <a:solidFill>
                  <a:srgbClr val="243B64"/>
                </a:solidFill>
                <a:latin typeface="NanumGothic"/>
                <a:ea typeface="NanumGothic"/>
                <a:cs typeface="NanumGothic"/>
              </a:defRPr>
            </a:pPr>
            <a:r>
              <a:rPr sz="1950" b="1">
                <a:solidFill>
                  <a:srgbClr val="243B64"/>
                </a:solidFill>
                <a:latin typeface="NanumGothic"/>
                <a:ea typeface="NanumGothic"/>
                <a:cs typeface="NanumGothic"/>
              </a:rPr>
              <a:t>위험할수록 언어 모델(LLM)의 판단이나 음성 확인만으로 실행하지 않는다.</a:t>
            </a:r>
          </a:p>
        </p:txBody>
      </p:sp>
      <p:sp>
        <p:nvSpPr>
          <p:cNvPr id="20" name="">
            <a:extLst xmlns:a="http://schemas.openxmlformats.org/drawingml/2006/main">
              <a:ext uri="{FF2B5EF4-FFF2-40B4-BE49-F238E27FC236}">
                <a16:creationId xmlns:a16="http://schemas.microsoft.com/office/drawing/2014/main" id="{1657A839-32D2-4058-8A87-C0F393343AE9}"/>
              </a:ext>
            </a:extLst>
          </p:cNvPr>
          <p:cNvSpPr>
            <a:spLocks xmlns:a="http://schemas.openxmlformats.org/drawingml/2006/main" noGrp="1"/>
          </p:cNvSpPr>
          <p:nvPr/>
        </p:nvSpPr>
        <p:spPr>
          <a:xfrm xmlns:a="http://schemas.openxmlformats.org/drawingml/2006/main">
            <a:off x="609600" y="6486525"/>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750" b="0">
                <a:solidFill>
                  <a:srgbClr val="657187"/>
                </a:solidFill>
                <a:latin typeface="NanumGothic"/>
                <a:ea typeface="NanumGothic"/>
                <a:cs typeface="NanumGothic"/>
              </a:defRPr>
            </a:pPr>
            <a:r>
              <a:rPr sz="750" b="0">
                <a:solidFill>
                  <a:srgbClr val="657187"/>
                </a:solidFill>
                <a:latin typeface="NanumGothic"/>
                <a:ea typeface="NanumGothic"/>
                <a:cs typeface="NanumGothic"/>
              </a:rPr>
              <a:t>안전 근거: OS-Harm은 사용자 오용·프롬프트 주입·모델 오작동을 별도 위험군으로 평가한다.</a:t>
            </a:r>
          </a:p>
        </p:txBody>
      </p:sp>
    </p:spTree>
    <p:extLst>
      <p:ext uri="{BB962C8B-B14F-4D97-AF65-F5344CB8AC3E}">
        <p14:creationId xmlns:p14="http://schemas.microsoft.com/office/powerpoint/2010/main" val="13612936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AB6878-44B2-4A08-AC5C-48EA7C2BC7CB}"/>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구현 모듈과 책임</a:t>
            </a:r>
          </a:p>
        </p:txBody>
      </p:sp>
      <p:sp>
        <p:nvSpPr>
          <p:cNvPr id="2" name="">
            <a:extLst xmlns:a="http://schemas.openxmlformats.org/drawingml/2006/main">
              <a:ext uri="{FF2B5EF4-FFF2-40B4-BE49-F238E27FC236}">
                <a16:creationId xmlns:a16="http://schemas.microsoft.com/office/drawing/2014/main" id="{83072CB6-43B0-4DAE-98FB-316ADF52B117}"/>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07</a:t>
            </a:r>
          </a:p>
        </p:txBody>
      </p:sp>
      <p:sp>
        <p:nvSpPr>
          <p:cNvPr id="3" name="">
            <a:extLst xmlns:a="http://schemas.openxmlformats.org/drawingml/2006/main">
              <a:ext uri="{FF2B5EF4-FFF2-40B4-BE49-F238E27FC236}">
                <a16:creationId xmlns:a16="http://schemas.microsoft.com/office/drawing/2014/main" id="{458D6E7A-1B1C-4CBE-A810-059C57B7BAE5}"/>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graphicFrame>
        <p:nvGraphicFramePr>
          <p:cNvPr id="11" name=""/>
          <p:cNvGraphicFramePr/>
          <p:nvPr/>
        </p:nvGraphicFramePr>
        <p:xfrm>
          <a:off xmlns:a="http://schemas.openxmlformats.org/drawingml/2006/main" x="590550" y="1238250"/>
          <a:ext xmlns:a="http://schemas.openxmlformats.org/drawingml/2006/main" cx="11010900" cy="4381500"/>
        </p:xfrm>
        <a:graphic xmlns:a="http://schemas.openxmlformats.org/drawingml/2006/main">
          <a:graphicData uri="http://schemas.openxmlformats.org/drawingml/2006/table">
            <a:tbl>
              <a:tblPr/>
              <a:tblGrid>
                <a:gridCol w="2571750"/>
                <a:gridCol w="2667000"/>
                <a:gridCol w="2857500"/>
                <a:gridCol w="2914650"/>
              </a:tblGrid>
              <a:tr h="547688">
                <a:tc>
                  <a:txBody>
                    <a:bodyPr/>
                    <a:lstStyle/>
                    <a:p>
                      <a:r>
                        <a:rPr sz="1200" b="1">
                          <a:solidFill>
                            <a:srgbClr val="FFFFFF"/>
                          </a:solidFill>
                          <a:latin typeface="NanumGothic"/>
                          <a:ea typeface="NanumGothic"/>
                          <a:cs typeface="NanumGothic"/>
                        </a:rPr>
                        <a:t>모듈</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핵심 역할</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입력</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출력</a:t>
                      </a:r>
                    </a:p>
                  </a:txBody>
                  <a:tcPr marL="91440" marR="91440" marT="45720" marB="45720" anchor="ctr">
                    <a:solidFill>
                      <a:srgbClr val="243B64"/>
                    </a:solidFill>
                  </a:tcPr>
                </a:tc>
              </a:tr>
              <a:tr h="547688">
                <a:tc>
                  <a:txBody>
                    <a:bodyPr/>
                    <a:lstStyle/>
                    <a:p>
                      <a:r>
                        <a:rPr sz="1050">
                          <a:solidFill>
                            <a:srgbClr val="172033"/>
                          </a:solidFill>
                          <a:latin typeface="NanumGothic"/>
                          <a:ea typeface="NanumGothic"/>
                          <a:cs typeface="NanumGothic"/>
                        </a:rPr>
                        <a:t>음성 입력</a:t>
                      </a:r>
                    </a:p>
                  </a:txBody>
                  <a:tcPr marL="91440" marR="91440" marT="45720" marB="45720" anchor="ctr"/>
                </a:tc>
                <a:tc>
                  <a:txBody>
                    <a:bodyPr/>
                    <a:lstStyle/>
                    <a:p>
                      <a:r>
                        <a:rPr sz="1050">
                          <a:solidFill>
                            <a:srgbClr val="172033"/>
                          </a:solidFill>
                          <a:latin typeface="NanumGothic"/>
                          <a:ea typeface="NanumGothic"/>
                          <a:cs typeface="NanumGothic"/>
                        </a:rPr>
                        <a:t>호출어·무음·음성 인식</a:t>
                      </a:r>
                    </a:p>
                  </a:txBody>
                  <a:tcPr marL="91440" marR="91440" marT="45720" marB="45720" anchor="ctr"/>
                </a:tc>
                <a:tc>
                  <a:txBody>
                    <a:bodyPr/>
                    <a:lstStyle/>
                    <a:p>
                      <a:r>
                        <a:rPr sz="1050">
                          <a:solidFill>
                            <a:srgbClr val="172033"/>
                          </a:solidFill>
                          <a:latin typeface="NanumGothic"/>
                          <a:ea typeface="NanumGothic"/>
                          <a:cs typeface="NanumGothic"/>
                        </a:rPr>
                        <a:t>마이크 프레임</a:t>
                      </a:r>
                    </a:p>
                  </a:txBody>
                  <a:tcPr marL="91440" marR="91440" marT="45720" marB="45720" anchor="ctr"/>
                </a:tc>
                <a:tc>
                  <a:txBody>
                    <a:bodyPr/>
                    <a:lstStyle/>
                    <a:p>
                      <a:r>
                        <a:rPr sz="1050">
                          <a:solidFill>
                            <a:srgbClr val="172033"/>
                          </a:solidFill>
                          <a:latin typeface="NanumGothic"/>
                          <a:ea typeface="NanumGothic"/>
                          <a:cs typeface="NanumGothic"/>
                        </a:rPr>
                        <a:t>음성 인식 결과</a:t>
                      </a:r>
                    </a:p>
                  </a:txBody>
                  <a:tcPr marL="91440" marR="91440" marT="45720" marB="45720" anchor="ctr"/>
                </a:tc>
              </a:tr>
              <a:tr h="547688">
                <a:tc>
                  <a:txBody>
                    <a:bodyPr/>
                    <a:lstStyle/>
                    <a:p>
                      <a:r>
                        <a:rPr sz="1050">
                          <a:solidFill>
                            <a:srgbClr val="172033"/>
                          </a:solidFill>
                          <a:latin typeface="NanumGothic"/>
                          <a:ea typeface="NanumGothic"/>
                          <a:cs typeface="NanumGothic"/>
                        </a:rPr>
                        <a:t>의도 판별</a:t>
                      </a:r>
                    </a:p>
                  </a:txBody>
                  <a:tcPr marL="91440" marR="91440" marT="45720" marB="45720" anchor="ctr"/>
                </a:tc>
                <a:tc>
                  <a:txBody>
                    <a:bodyPr/>
                    <a:lstStyle/>
                    <a:p>
                      <a:r>
                        <a:rPr sz="1050">
                          <a:solidFill>
                            <a:srgbClr val="172033"/>
                          </a:solidFill>
                          <a:latin typeface="NanumGothic"/>
                          <a:ea typeface="NanumGothic"/>
                          <a:cs typeface="NanumGothic"/>
                        </a:rPr>
                        <a:t>명령·대화·인용·중단 구분</a:t>
                      </a:r>
                    </a:p>
                  </a:txBody>
                  <a:tcPr marL="91440" marR="91440" marT="45720" marB="45720" anchor="ctr"/>
                </a:tc>
                <a:tc>
                  <a:txBody>
                    <a:bodyPr/>
                    <a:lstStyle/>
                    <a:p>
                      <a:r>
                        <a:rPr sz="1050">
                          <a:solidFill>
                            <a:srgbClr val="172033"/>
                          </a:solidFill>
                          <a:latin typeface="NanumGothic"/>
                          <a:ea typeface="NanumGothic"/>
                          <a:cs typeface="NanumGothic"/>
                        </a:rPr>
                        <a:t>문장·신뢰도</a:t>
                      </a:r>
                    </a:p>
                  </a:txBody>
                  <a:tcPr marL="91440" marR="91440" marT="45720" marB="45720" anchor="ctr"/>
                </a:tc>
                <a:tc>
                  <a:txBody>
                    <a:bodyPr/>
                    <a:lstStyle/>
                    <a:p>
                      <a:r>
                        <a:rPr sz="1050">
                          <a:solidFill>
                            <a:srgbClr val="172033"/>
                          </a:solidFill>
                          <a:latin typeface="NanumGothic"/>
                          <a:ea typeface="NanumGothic"/>
                          <a:cs typeface="NanumGothic"/>
                        </a:rPr>
                        <a:t>의도 결정</a:t>
                      </a:r>
                    </a:p>
                  </a:txBody>
                  <a:tcPr marL="91440" marR="91440" marT="45720" marB="45720" anchor="ctr"/>
                </a:tc>
              </a:tr>
              <a:tr h="547688">
                <a:tc>
                  <a:txBody>
                    <a:bodyPr/>
                    <a:lstStyle/>
                    <a:p>
                      <a:r>
                        <a:rPr sz="1050">
                          <a:solidFill>
                            <a:srgbClr val="172033"/>
                          </a:solidFill>
                          <a:latin typeface="NanumGothic"/>
                          <a:ea typeface="NanumGothic"/>
                          <a:cs typeface="NanumGothic"/>
                        </a:rPr>
                        <a:t>상황·기억</a:t>
                      </a:r>
                    </a:p>
                  </a:txBody>
                  <a:tcPr marL="91440" marR="91440" marT="45720" marB="45720" anchor="ctr"/>
                </a:tc>
                <a:tc>
                  <a:txBody>
                    <a:bodyPr/>
                    <a:lstStyle/>
                    <a:p>
                      <a:r>
                        <a:rPr sz="1050">
                          <a:solidFill>
                            <a:srgbClr val="172033"/>
                          </a:solidFill>
                          <a:latin typeface="NanumGothic"/>
                          <a:ea typeface="NanumGothic"/>
                          <a:cs typeface="NanumGothic"/>
                        </a:rPr>
                        <a:t>검증된 앱과 로컬 기억 최소 제공</a:t>
                      </a:r>
                    </a:p>
                  </a:txBody>
                  <a:tcPr marL="91440" marR="91440" marT="45720" marB="45720" anchor="ctr"/>
                </a:tc>
                <a:tc>
                  <a:txBody>
                    <a:bodyPr/>
                    <a:lstStyle/>
                    <a:p>
                      <a:r>
                        <a:rPr sz="1050">
                          <a:solidFill>
                            <a:srgbClr val="172033"/>
                          </a:solidFill>
                          <a:latin typeface="NanumGothic"/>
                          <a:ea typeface="NanumGothic"/>
                          <a:cs typeface="NanumGothic"/>
                        </a:rPr>
                        <a:t>운영체제 상태</a:t>
                      </a:r>
                    </a:p>
                  </a:txBody>
                  <a:tcPr marL="91440" marR="91440" marT="45720" marB="45720" anchor="ctr"/>
                </a:tc>
                <a:tc>
                  <a:txBody>
                    <a:bodyPr/>
                    <a:lstStyle/>
                    <a:p>
                      <a:r>
                        <a:rPr sz="1050">
                          <a:solidFill>
                            <a:srgbClr val="172033"/>
                          </a:solidFill>
                          <a:latin typeface="NanumGothic"/>
                          <a:ea typeface="NanumGothic"/>
                          <a:cs typeface="NanumGothic"/>
                        </a:rPr>
                        <a:t>최소화된 문맥</a:t>
                      </a:r>
                    </a:p>
                  </a:txBody>
                  <a:tcPr marL="91440" marR="91440" marT="45720" marB="45720" anchor="ctr"/>
                </a:tc>
              </a:tr>
              <a:tr h="547688">
                <a:tc>
                  <a:txBody>
                    <a:bodyPr/>
                    <a:lstStyle/>
                    <a:p>
                      <a:r>
                        <a:rPr sz="1050">
                          <a:solidFill>
                            <a:srgbClr val="172033"/>
                          </a:solidFill>
                          <a:latin typeface="NanumGothic"/>
                          <a:ea typeface="NanumGothic"/>
                          <a:cs typeface="NanumGothic"/>
                        </a:rPr>
                        <a:t>계획 생성</a:t>
                      </a:r>
                    </a:p>
                  </a:txBody>
                  <a:tcPr marL="91440" marR="91440" marT="45720" marB="45720" anchor="ctr"/>
                </a:tc>
                <a:tc>
                  <a:txBody>
                    <a:bodyPr/>
                    <a:lstStyle/>
                    <a:p>
                      <a:r>
                        <a:rPr sz="1050">
                          <a:solidFill>
                            <a:srgbClr val="172033"/>
                          </a:solidFill>
                          <a:latin typeface="NanumGothic"/>
                          <a:ea typeface="NanumGothic"/>
                          <a:cs typeface="NanumGothic"/>
                        </a:rPr>
                        <a:t>NIM이 정해진 JSON 계획 제안</a:t>
                      </a:r>
                    </a:p>
                  </a:txBody>
                  <a:tcPr marL="91440" marR="91440" marT="45720" marB="45720" anchor="ctr"/>
                </a:tc>
                <a:tc>
                  <a:txBody>
                    <a:bodyPr/>
                    <a:lstStyle/>
                    <a:p>
                      <a:r>
                        <a:rPr sz="1050">
                          <a:solidFill>
                            <a:srgbClr val="172033"/>
                          </a:solidFill>
                          <a:latin typeface="NanumGothic"/>
                          <a:ea typeface="NanumGothic"/>
                          <a:cs typeface="NanumGothic"/>
                        </a:rPr>
                        <a:t>목표·허용 기능</a:t>
                      </a:r>
                    </a:p>
                  </a:txBody>
                  <a:tcPr marL="91440" marR="91440" marT="45720" marB="45720" anchor="ctr"/>
                </a:tc>
                <a:tc>
                  <a:txBody>
                    <a:bodyPr/>
                    <a:lstStyle/>
                    <a:p>
                      <a:r>
                        <a:rPr sz="1050">
                          <a:solidFill>
                            <a:srgbClr val="172033"/>
                          </a:solidFill>
                          <a:latin typeface="NanumGothic"/>
                          <a:ea typeface="NanumGothic"/>
                          <a:cs typeface="NanumGothic"/>
                        </a:rPr>
                        <a:t>구조화된 계획</a:t>
                      </a:r>
                    </a:p>
                  </a:txBody>
                  <a:tcPr marL="91440" marR="91440" marT="45720" marB="45720" anchor="ctr"/>
                </a:tc>
              </a:tr>
              <a:tr h="547688">
                <a:tc>
                  <a:txBody>
                    <a:bodyPr/>
                    <a:lstStyle/>
                    <a:p>
                      <a:r>
                        <a:rPr sz="1050">
                          <a:solidFill>
                            <a:srgbClr val="172033"/>
                          </a:solidFill>
                          <a:latin typeface="NanumGothic"/>
                          <a:ea typeface="NanumGothic"/>
                          <a:cs typeface="NanumGothic"/>
                        </a:rPr>
                        <a:t>정책·승인</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위험·대상·권한 재검사</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행동·현재 문맥</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허용·승인·차단</a:t>
                      </a:r>
                    </a:p>
                  </a:txBody>
                  <a:tcPr marL="91440" marR="91440" marT="45720" marB="45720" anchor="ctr">
                    <a:solidFill>
                      <a:srgbClr val="FFF6E6"/>
                    </a:solidFill>
                  </a:tcPr>
                </a:tc>
              </a:tr>
              <a:tr h="547688">
                <a:tc>
                  <a:txBody>
                    <a:bodyPr/>
                    <a:lstStyle/>
                    <a:p>
                      <a:r>
                        <a:rPr sz="1050">
                          <a:solidFill>
                            <a:srgbClr val="172033"/>
                          </a:solidFill>
                          <a:latin typeface="NanumGothic"/>
                          <a:ea typeface="NanumGothic"/>
                          <a:cs typeface="NanumGothic"/>
                        </a:rPr>
                        <a:t>실행·검증</a:t>
                      </a:r>
                    </a:p>
                  </a:txBody>
                  <a:tcPr marL="91440" marR="91440" marT="45720" marB="45720" anchor="ctr"/>
                </a:tc>
                <a:tc>
                  <a:txBody>
                    <a:bodyPr/>
                    <a:lstStyle/>
                    <a:p>
                      <a:r>
                        <a:rPr sz="1050">
                          <a:solidFill>
                            <a:srgbClr val="172033"/>
                          </a:solidFill>
                          <a:latin typeface="NanumGothic"/>
                          <a:ea typeface="NanumGothic"/>
                          <a:cs typeface="NanumGothic"/>
                        </a:rPr>
                        <a:t>Windows 실행 후 독립 재확인</a:t>
                      </a:r>
                    </a:p>
                  </a:txBody>
                  <a:tcPr marL="91440" marR="91440" marT="45720" marB="45720" anchor="ctr"/>
                </a:tc>
                <a:tc>
                  <a:txBody>
                    <a:bodyPr/>
                    <a:lstStyle/>
                    <a:p>
                      <a:r>
                        <a:rPr sz="1050">
                          <a:solidFill>
                            <a:srgbClr val="172033"/>
                          </a:solidFill>
                          <a:latin typeface="NanumGothic"/>
                          <a:ea typeface="NanumGothic"/>
                          <a:cs typeface="NanumGothic"/>
                        </a:rPr>
                        <a:t>승인된 행동</a:t>
                      </a:r>
                    </a:p>
                  </a:txBody>
                  <a:tcPr marL="91440" marR="91440" marT="45720" marB="45720" anchor="ctr"/>
                </a:tc>
                <a:tc>
                  <a:txBody>
                    <a:bodyPr/>
                    <a:lstStyle/>
                    <a:p>
                      <a:r>
                        <a:rPr sz="1050">
                          <a:solidFill>
                            <a:srgbClr val="172033"/>
                          </a:solidFill>
                          <a:latin typeface="NanumGothic"/>
                          <a:ea typeface="NanumGothic"/>
                          <a:cs typeface="NanumGothic"/>
                        </a:rPr>
                        <a:t>검증 결과</a:t>
                      </a:r>
                    </a:p>
                  </a:txBody>
                  <a:tcPr marL="91440" marR="91440" marT="45720" marB="45720" anchor="ctr"/>
                </a:tc>
              </a:tr>
              <a:tr h="547688">
                <a:tc>
                  <a:txBody>
                    <a:bodyPr/>
                    <a:lstStyle/>
                    <a:p>
                      <a:r>
                        <a:rPr sz="1050">
                          <a:solidFill>
                            <a:srgbClr val="172033"/>
                          </a:solidFill>
                          <a:latin typeface="NanumGothic"/>
                          <a:ea typeface="NanumGothic"/>
                          <a:cs typeface="NanumGothic"/>
                        </a:rPr>
                        <a:t>감사·중단</a:t>
                      </a:r>
                    </a:p>
                  </a:txBody>
                  <a:tcPr marL="91440" marR="91440" marT="45720" marB="45720" anchor="ctr"/>
                </a:tc>
                <a:tc>
                  <a:txBody>
                    <a:bodyPr/>
                    <a:lstStyle/>
                    <a:p>
                      <a:r>
                        <a:rPr sz="1050">
                          <a:solidFill>
                            <a:srgbClr val="172033"/>
                          </a:solidFill>
                          <a:latin typeface="NanumGothic"/>
                          <a:ea typeface="NanumGothic"/>
                          <a:cs typeface="NanumGothic"/>
                        </a:rPr>
                        <a:t>비밀 제거 로그와 즉시 STOP</a:t>
                      </a:r>
                    </a:p>
                  </a:txBody>
                  <a:tcPr marL="91440" marR="91440" marT="45720" marB="45720" anchor="ctr"/>
                </a:tc>
                <a:tc>
                  <a:txBody>
                    <a:bodyPr/>
                    <a:lstStyle/>
                    <a:p>
                      <a:r>
                        <a:rPr sz="1050">
                          <a:solidFill>
                            <a:srgbClr val="172033"/>
                          </a:solidFill>
                          <a:latin typeface="NanumGothic"/>
                          <a:ea typeface="NanumGothic"/>
                          <a:cs typeface="NanumGothic"/>
                        </a:rPr>
                        <a:t>실행 사건</a:t>
                      </a:r>
                    </a:p>
                  </a:txBody>
                  <a:tcPr marL="91440" marR="91440" marT="45720" marB="45720" anchor="ctr"/>
                </a:tc>
                <a:tc>
                  <a:txBody>
                    <a:bodyPr/>
                    <a:lstStyle/>
                    <a:p>
                      <a:r>
                        <a:rPr sz="1050">
                          <a:solidFill>
                            <a:srgbClr val="172033"/>
                          </a:solidFill>
                          <a:latin typeface="NanumGothic"/>
                          <a:ea typeface="NanumGothic"/>
                          <a:cs typeface="NanumGothic"/>
                        </a:rPr>
                        <a:t>상태·감사 기록</a:t>
                      </a:r>
                    </a:p>
                  </a:txBody>
                  <a:tcPr marL="91440" marR="91440" marT="45720" marB="45720" anchor="ctr"/>
                </a:tc>
              </a:tr>
            </a:tbl>
          </a:graphicData>
        </a:graphic>
      </p:graphicFrame>
      <p:sp>
        <p:nvSpPr>
          <p:cNvPr id="5" name="">
            <a:extLst xmlns:a="http://schemas.openxmlformats.org/drawingml/2006/main">
              <a:ext uri="{FF2B5EF4-FFF2-40B4-BE49-F238E27FC236}">
                <a16:creationId xmlns:a16="http://schemas.microsoft.com/office/drawing/2014/main" id="{58435970-024C-49D9-9246-2597944D2B42}"/>
              </a:ext>
            </a:extLst>
          </p:cNvPr>
          <p:cNvSpPr>
            <a:spLocks xmlns:a="http://schemas.openxmlformats.org/drawingml/2006/main" noGrp="1"/>
          </p:cNvSpPr>
          <p:nvPr/>
        </p:nvSpPr>
        <p:spPr>
          <a:xfrm xmlns:a="http://schemas.openxmlformats.org/drawingml/2006/main">
            <a:off x="647700" y="58293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모델은 계획을 제안하고, 권한·실행·완료 판정은 별도 모듈이 담당한다.</a:t>
            </a:r>
          </a:p>
        </p:txBody>
      </p:sp>
    </p:spTree>
    <p:extLst>
      <p:ext uri="{BB962C8B-B14F-4D97-AF65-F5344CB8AC3E}">
        <p14:creationId xmlns:p14="http://schemas.microsoft.com/office/powerpoint/2010/main" val="3706939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E6B8A49-781D-4445-99A8-6E3D4C6D9864}"/>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논문 실험 설계</a:t>
            </a:r>
          </a:p>
        </p:txBody>
      </p:sp>
      <p:sp>
        <p:nvSpPr>
          <p:cNvPr id="2" name="">
            <a:extLst xmlns:a="http://schemas.openxmlformats.org/drawingml/2006/main">
              <a:ext uri="{FF2B5EF4-FFF2-40B4-BE49-F238E27FC236}">
                <a16:creationId xmlns:a16="http://schemas.microsoft.com/office/drawing/2014/main" id="{34B1A5F4-F93B-4780-993D-AD64B16AA2EF}"/>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08</a:t>
            </a:r>
          </a:p>
        </p:txBody>
      </p:sp>
      <p:sp>
        <p:nvSpPr>
          <p:cNvPr id="3" name="">
            <a:extLst xmlns:a="http://schemas.openxmlformats.org/drawingml/2006/main">
              <a:ext uri="{FF2B5EF4-FFF2-40B4-BE49-F238E27FC236}">
                <a16:creationId xmlns:a16="http://schemas.microsoft.com/office/drawing/2014/main" id="{8E8AF8C5-11FA-41A1-9826-6BB07C28C5EC}"/>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8EC0508-7F6C-4578-A365-6A78D6CE6298}"/>
              </a:ext>
            </a:extLst>
          </p:cNvPr>
          <p:cNvSpPr>
            <a:spLocks xmlns:a="http://schemas.openxmlformats.org/drawingml/2006/main" noGrp="1"/>
          </p:cNvSpPr>
          <p:nvPr/>
        </p:nvSpPr>
        <p:spPr>
          <a:xfrm xmlns:a="http://schemas.openxmlformats.org/drawingml/2006/main">
            <a:off x="685800" y="12954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
            </a:r>
          </a:p>
        </p:txBody>
      </p:sp>
      <p:graphicFrame>
        <p:nvGraphicFramePr>
          <p:cNvPr id="33" name=""/>
          <p:cNvGraphicFramePr/>
          <p:nvPr/>
        </p:nvGraphicFramePr>
        <p:xfrm>
          <a:off xmlns:a="http://schemas.openxmlformats.org/drawingml/2006/main" x="685800" y="1714500"/>
          <a:ext xmlns:a="http://schemas.openxmlformats.org/drawingml/2006/main" cx="6667500" cy="2571750"/>
        </p:xfrm>
        <a:graphic xmlns:a="http://schemas.openxmlformats.org/drawingml/2006/main">
          <a:graphicData uri="http://schemas.openxmlformats.org/drawingml/2006/table">
            <a:tbl>
              <a:tblPr/>
              <a:tblGrid>
                <a:gridCol w="2222500"/>
                <a:gridCol w="2222500"/>
                <a:gridCol w="2222500"/>
              </a:tblGrid>
              <a:tr h="642938">
                <a:tc>
                  <a:txBody>
                    <a:bodyPr/>
                    <a:lstStyle/>
                    <a:p>
                      <a:r>
                        <a:rPr sz="1200" b="1">
                          <a:solidFill>
                            <a:srgbClr val="FFFFFF"/>
                          </a:solidFill>
                          <a:latin typeface="NanumGothic"/>
                          <a:ea typeface="NanumGothic"/>
                          <a:cs typeface="NanumGothic"/>
                        </a:rPr>
                        <a:t>실험군</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구성</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측정</a:t>
                      </a:r>
                    </a:p>
                  </a:txBody>
                  <a:tcPr marL="91440" marR="91440" marT="45720" marB="45720" anchor="ctr">
                    <a:solidFill>
                      <a:srgbClr val="243B64"/>
                    </a:solidFill>
                  </a:tcPr>
                </a:tc>
              </a:tr>
              <a:tr h="642938">
                <a:tc>
                  <a:txBody>
                    <a:bodyPr/>
                    <a:lstStyle/>
                    <a:p>
                      <a:r>
                        <a:rPr sz="1125">
                          <a:solidFill>
                            <a:srgbClr val="172033"/>
                          </a:solidFill>
                          <a:latin typeface="NanumGothic"/>
                          <a:ea typeface="NanumGothic"/>
                          <a:cs typeface="NanumGothic"/>
                        </a:rPr>
                        <a:t>A</a:t>
                      </a:r>
                    </a:p>
                  </a:txBody>
                  <a:tcPr marL="91440" marR="91440" marT="45720" marB="45720" anchor="ctr"/>
                </a:tc>
                <a:tc>
                  <a:txBody>
                    <a:bodyPr/>
                    <a:lstStyle/>
                    <a:p>
                      <a:r>
                        <a:rPr sz="1125">
                          <a:solidFill>
                            <a:srgbClr val="172033"/>
                          </a:solidFill>
                          <a:latin typeface="NanumGothic"/>
                          <a:ea typeface="NanumGothic"/>
                          <a:cs typeface="NanumGothic"/>
                        </a:rPr>
                        <a:t>STT 후 즉시 실행</a:t>
                      </a:r>
                    </a:p>
                  </a:txBody>
                  <a:tcPr marL="91440" marR="91440" marT="45720" marB="45720" anchor="ctr"/>
                </a:tc>
                <a:tc>
                  <a:txBody>
                    <a:bodyPr/>
                    <a:lstStyle/>
                    <a:p>
                      <a:r>
                        <a:rPr sz="1125">
                          <a:solidFill>
                            <a:srgbClr val="172033"/>
                          </a:solidFill>
                          <a:latin typeface="NanumGothic"/>
                          <a:ea typeface="NanumGothic"/>
                          <a:cs typeface="NanumGothic"/>
                        </a:rPr>
                        <a:t>오실행률</a:t>
                      </a:r>
                    </a:p>
                  </a:txBody>
                  <a:tcPr marL="91440" marR="91440" marT="45720" marB="45720" anchor="ctr"/>
                </a:tc>
              </a:tr>
              <a:tr h="642938">
                <a:tc>
                  <a:txBody>
                    <a:bodyPr/>
                    <a:lstStyle/>
                    <a:p>
                      <a:r>
                        <a:rPr sz="1125">
                          <a:solidFill>
                            <a:srgbClr val="172033"/>
                          </a:solidFill>
                          <a:latin typeface="NanumGothic"/>
                          <a:ea typeface="NanumGothic"/>
                          <a:cs typeface="NanumGothic"/>
                        </a:rPr>
                        <a:t>B</a:t>
                      </a:r>
                    </a:p>
                  </a:txBody>
                  <a:tcPr marL="91440" marR="91440" marT="45720" marB="45720" anchor="ctr"/>
                </a:tc>
                <a:tc>
                  <a:txBody>
                    <a:bodyPr/>
                    <a:lstStyle/>
                    <a:p>
                      <a:r>
                        <a:rPr sz="1125">
                          <a:solidFill>
                            <a:srgbClr val="172033"/>
                          </a:solidFill>
                          <a:latin typeface="NanumGothic"/>
                          <a:ea typeface="NanumGothic"/>
                          <a:cs typeface="NanumGothic"/>
                        </a:rPr>
                        <a:t>Intent 판별 추가</a:t>
                      </a:r>
                    </a:p>
                  </a:txBody>
                  <a:tcPr marL="91440" marR="91440" marT="45720" marB="45720" anchor="ctr"/>
                </a:tc>
                <a:tc>
                  <a:txBody>
                    <a:bodyPr/>
                    <a:lstStyle/>
                    <a:p>
                      <a:r>
                        <a:rPr sz="1125">
                          <a:solidFill>
                            <a:srgbClr val="172033"/>
                          </a:solidFill>
                          <a:latin typeface="NanumGothic"/>
                          <a:ea typeface="NanumGothic"/>
                          <a:cs typeface="NanumGothic"/>
                        </a:rPr>
                        <a:t>명령 판별 F1</a:t>
                      </a:r>
                    </a:p>
                  </a:txBody>
                  <a:tcPr marL="91440" marR="91440" marT="45720" marB="45720" anchor="ctr"/>
                </a:tc>
              </a:tr>
              <a:tr h="642938">
                <a:tc>
                  <a:txBody>
                    <a:bodyPr/>
                    <a:lstStyle/>
                    <a:p>
                      <a:r>
                        <a:rPr sz="1125">
                          <a:solidFill>
                            <a:srgbClr val="172033"/>
                          </a:solidFill>
                          <a:latin typeface="NanumGothic"/>
                          <a:ea typeface="NanumGothic"/>
                          <a:cs typeface="NanumGothic"/>
                        </a:rPr>
                        <a:t>C</a:t>
                      </a:r>
                    </a:p>
                  </a:txBody>
                  <a:tcPr marL="91440" marR="91440" marT="45720" marB="45720" anchor="ctr"/>
                </a:tc>
                <a:tc>
                  <a:txBody>
                    <a:bodyPr/>
                    <a:lstStyle/>
                    <a:p>
                      <a:r>
                        <a:rPr sz="1125">
                          <a:solidFill>
                            <a:srgbClr val="172033"/>
                          </a:solidFill>
                          <a:latin typeface="NanumGothic"/>
                          <a:ea typeface="NanumGothic"/>
                          <a:cs typeface="NanumGothic"/>
                        </a:rPr>
                        <a:t>Intent + Risk + 승인</a:t>
                      </a:r>
                    </a:p>
                  </a:txBody>
                  <a:tcPr marL="91440" marR="91440" marT="45720" marB="45720" anchor="ctr"/>
                </a:tc>
                <a:tc>
                  <a:txBody>
                    <a:bodyPr/>
                    <a:lstStyle/>
                    <a:p>
                      <a:r>
                        <a:rPr sz="1125">
                          <a:solidFill>
                            <a:srgbClr val="172033"/>
                          </a:solidFill>
                          <a:latin typeface="NanumGothic"/>
                          <a:ea typeface="NanumGothic"/>
                          <a:cs typeface="NanumGothic"/>
                        </a:rPr>
                        <a:t>위험 작업 차단률</a:t>
                      </a:r>
                    </a:p>
                  </a:txBody>
                  <a:tcPr marL="91440" marR="91440" marT="45720" marB="45720" anchor="ctr"/>
                </a:tc>
              </a:tr>
            </a:tbl>
          </a:graphicData>
        </a:graphic>
      </p:graphicFrame>
      <p:sp>
        <p:nvSpPr>
          <p:cNvPr id="6" name="">
            <a:extLst xmlns:a="http://schemas.openxmlformats.org/drawingml/2006/main">
              <a:ext uri="{FF2B5EF4-FFF2-40B4-BE49-F238E27FC236}">
                <a16:creationId xmlns:a16="http://schemas.microsoft.com/office/drawing/2014/main" id="{C879B6F6-DA54-4984-8DC9-773037D7BA44}"/>
              </a:ext>
            </a:extLst>
          </p:cNvPr>
          <p:cNvSpPr>
            <a:spLocks xmlns:a="http://schemas.openxmlformats.org/drawingml/2006/main" noGrp="1"/>
          </p:cNvSpPr>
          <p:nvPr/>
        </p:nvSpPr>
        <p:spPr>
          <a:xfrm xmlns:a="http://schemas.openxmlformats.org/drawingml/2006/main">
            <a:off x="685800" y="45720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500" b="1">
                <a:solidFill>
                  <a:srgbClr val="657187"/>
                </a:solidFill>
                <a:latin typeface="NanumGothic"/>
                <a:ea typeface="NanumGothic"/>
                <a:cs typeface="NanumGothic"/>
              </a:defRPr>
            </a:pPr>
            <a:r>
              <a:rPr sz="1500" b="1">
                <a:solidFill>
                  <a:srgbClr val="657187"/>
                </a:solidFill>
                <a:latin typeface="NanumGothic"/>
                <a:ea typeface="NanumGothic"/>
                <a:cs typeface="NanumGothic"/>
              </a:rPr>
              <a:t/>
            </a:r>
          </a:p>
        </p:txBody>
      </p:sp>
      <p:sp>
        <p:nvSpPr>
          <p:cNvPr id="7" name="">
            <a:extLst xmlns:a="http://schemas.openxmlformats.org/drawingml/2006/main">
              <a:ext uri="{FF2B5EF4-FFF2-40B4-BE49-F238E27FC236}">
                <a16:creationId xmlns:a16="http://schemas.microsoft.com/office/drawing/2014/main" id="{5E5A1DA9-396C-4C7D-B15D-D47A1CD12183}"/>
              </a:ext>
            </a:extLst>
          </p:cNvPr>
          <p:cNvSpPr>
            <a:spLocks xmlns:a="http://schemas.openxmlformats.org/drawingml/2006/main" noGrp="1"/>
          </p:cNvSpPr>
          <p:nvPr/>
        </p:nvSpPr>
        <p:spPr>
          <a:xfrm xmlns:a="http://schemas.openxmlformats.org/drawingml/2006/main">
            <a:off x="685800" y="495300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575" b="1">
                <a:solidFill>
                  <a:srgbClr val="172033"/>
                </a:solidFill>
                <a:latin typeface="NanumGothic"/>
                <a:ea typeface="NanumGothic"/>
                <a:cs typeface="NanumGothic"/>
              </a:defRPr>
            </a:pPr>
            <a:r>
              <a:rPr sz="1575" b="1">
                <a:solidFill>
                  <a:srgbClr val="172033"/>
                </a:solidFill>
                <a:latin typeface="NanumGothic"/>
                <a:ea typeface="NanumGothic"/>
                <a:cs typeface="NanumGothic"/>
              </a:rPr>
              <a:t/>
            </a:r>
          </a:p>
        </p:txBody>
      </p:sp>
      <p:sp>
        <p:nvSpPr>
          <p:cNvPr id="8" name="">
            <a:extLst xmlns:a="http://schemas.openxmlformats.org/drawingml/2006/main">
              <a:ext uri="{FF2B5EF4-FFF2-40B4-BE49-F238E27FC236}">
                <a16:creationId xmlns:a16="http://schemas.microsoft.com/office/drawing/2014/main" id="{8F514FBC-D4A1-475C-AEE8-29C7E058E7A4}"/>
              </a:ext>
            </a:extLst>
          </p:cNvPr>
          <p:cNvSpPr>
            <a:spLocks xmlns:a="http://schemas.openxmlformats.org/drawingml/2006/main" noGrp="1"/>
          </p:cNvSpPr>
          <p:nvPr/>
        </p:nvSpPr>
        <p:spPr>
          <a:xfrm xmlns:a="http://schemas.openxmlformats.org/drawingml/2006/main">
            <a:off x="8096250" y="12954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650" b="1">
                <a:solidFill>
                  <a:srgbClr val="2FA36B"/>
                </a:solidFill>
                <a:latin typeface="NanumGothic"/>
                <a:ea typeface="NanumGothic"/>
                <a:cs typeface="NanumGothic"/>
              </a:defRPr>
            </a:pPr>
            <a:r>
              <a:rPr sz="1650" b="1">
                <a:solidFill>
                  <a:srgbClr val="2FA36B"/>
                </a:solidFill>
                <a:latin typeface="NanumGothic"/>
                <a:ea typeface="NanumGothic"/>
                <a:cs typeface="NanumGothic"/>
              </a:rPr>
              <a:t/>
            </a:r>
          </a:p>
        </p:txBody>
      </p:sp>
      <p:sp>
        <p:nvSpPr>
          <p:cNvPr id="9" name="">
            <a:extLst xmlns:a="http://schemas.openxmlformats.org/drawingml/2006/main">
              <a:ext uri="{FF2B5EF4-FFF2-40B4-BE49-F238E27FC236}">
                <a16:creationId xmlns:a16="http://schemas.microsoft.com/office/drawing/2014/main" id="{080892FF-3743-43D6-AD76-7F0862A4D36F}"/>
              </a:ext>
            </a:extLst>
          </p:cNvPr>
          <p:cNvSpPr>
            <a:spLocks xmlns:a="http://schemas.openxmlformats.org/drawingml/2006/main" noGrp="1"/>
          </p:cNvSpPr>
          <p:nvPr/>
        </p:nvSpPr>
        <p:spPr>
          <a:xfrm xmlns:a="http://schemas.openxmlformats.org/drawingml/2006/main">
            <a:off x="8096250" y="180975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0" name="">
            <a:extLst xmlns:a="http://schemas.openxmlformats.org/drawingml/2006/main">
              <a:ext uri="{FF2B5EF4-FFF2-40B4-BE49-F238E27FC236}">
                <a16:creationId xmlns:a16="http://schemas.microsoft.com/office/drawing/2014/main" id="{C6F3EAAD-D672-4395-AF0B-18FA75A5CD50}"/>
              </a:ext>
            </a:extLst>
          </p:cNvPr>
          <p:cNvSpPr>
            <a:spLocks xmlns:a="http://schemas.openxmlformats.org/drawingml/2006/main" noGrp="1"/>
          </p:cNvSpPr>
          <p:nvPr/>
        </p:nvSpPr>
        <p:spPr>
          <a:xfrm xmlns:a="http://schemas.openxmlformats.org/drawingml/2006/main">
            <a:off x="9334500" y="17907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1" name="">
            <a:extLst xmlns:a="http://schemas.openxmlformats.org/drawingml/2006/main">
              <a:ext uri="{FF2B5EF4-FFF2-40B4-BE49-F238E27FC236}">
                <a16:creationId xmlns:a16="http://schemas.microsoft.com/office/drawing/2014/main" id="{15522625-88CF-4130-9913-1FFFA751AA67}"/>
              </a:ext>
            </a:extLst>
          </p:cNvPr>
          <p:cNvSpPr>
            <a:spLocks xmlns:a="http://schemas.openxmlformats.org/drawingml/2006/main" noGrp="1"/>
          </p:cNvSpPr>
          <p:nvPr/>
        </p:nvSpPr>
        <p:spPr>
          <a:xfrm xmlns:a="http://schemas.openxmlformats.org/drawingml/2006/main">
            <a:off x="8096250" y="255270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2" name="">
            <a:extLst xmlns:a="http://schemas.openxmlformats.org/drawingml/2006/main">
              <a:ext uri="{FF2B5EF4-FFF2-40B4-BE49-F238E27FC236}">
                <a16:creationId xmlns:a16="http://schemas.microsoft.com/office/drawing/2014/main" id="{45B6DC60-A3EB-4F2C-B7E0-604CEEAA179C}"/>
              </a:ext>
            </a:extLst>
          </p:cNvPr>
          <p:cNvSpPr>
            <a:spLocks xmlns:a="http://schemas.openxmlformats.org/drawingml/2006/main" noGrp="1"/>
          </p:cNvSpPr>
          <p:nvPr/>
        </p:nvSpPr>
        <p:spPr>
          <a:xfrm xmlns:a="http://schemas.openxmlformats.org/drawingml/2006/main">
            <a:off x="9334500" y="25336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3" name="">
            <a:extLst xmlns:a="http://schemas.openxmlformats.org/drawingml/2006/main">
              <a:ext uri="{FF2B5EF4-FFF2-40B4-BE49-F238E27FC236}">
                <a16:creationId xmlns:a16="http://schemas.microsoft.com/office/drawing/2014/main" id="{6A685F08-CFB0-4D34-ACC4-CC74992604F9}"/>
              </a:ext>
            </a:extLst>
          </p:cNvPr>
          <p:cNvSpPr>
            <a:spLocks xmlns:a="http://schemas.openxmlformats.org/drawingml/2006/main" noGrp="1"/>
          </p:cNvSpPr>
          <p:nvPr/>
        </p:nvSpPr>
        <p:spPr>
          <a:xfrm xmlns:a="http://schemas.openxmlformats.org/drawingml/2006/main">
            <a:off x="8096250" y="329565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4" name="">
            <a:extLst xmlns:a="http://schemas.openxmlformats.org/drawingml/2006/main">
              <a:ext uri="{FF2B5EF4-FFF2-40B4-BE49-F238E27FC236}">
                <a16:creationId xmlns:a16="http://schemas.microsoft.com/office/drawing/2014/main" id="{C22EF5E5-67DA-4A20-B3EA-8BA2CEF308CF}"/>
              </a:ext>
            </a:extLst>
          </p:cNvPr>
          <p:cNvSpPr>
            <a:spLocks xmlns:a="http://schemas.openxmlformats.org/drawingml/2006/main" noGrp="1"/>
          </p:cNvSpPr>
          <p:nvPr/>
        </p:nvSpPr>
        <p:spPr>
          <a:xfrm xmlns:a="http://schemas.openxmlformats.org/drawingml/2006/main">
            <a:off x="9334500" y="32766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5" name="">
            <a:extLst xmlns:a="http://schemas.openxmlformats.org/drawingml/2006/main">
              <a:ext uri="{FF2B5EF4-FFF2-40B4-BE49-F238E27FC236}">
                <a16:creationId xmlns:a16="http://schemas.microsoft.com/office/drawing/2014/main" id="{F44EB899-5C52-45E7-99EC-A9A9FEBFB94C}"/>
              </a:ext>
            </a:extLst>
          </p:cNvPr>
          <p:cNvSpPr>
            <a:spLocks xmlns:a="http://schemas.openxmlformats.org/drawingml/2006/main" noGrp="1"/>
          </p:cNvSpPr>
          <p:nvPr/>
        </p:nvSpPr>
        <p:spPr>
          <a:xfrm xmlns:a="http://schemas.openxmlformats.org/drawingml/2006/main">
            <a:off x="8096250" y="403860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6" name="">
            <a:extLst xmlns:a="http://schemas.openxmlformats.org/drawingml/2006/main">
              <a:ext uri="{FF2B5EF4-FFF2-40B4-BE49-F238E27FC236}">
                <a16:creationId xmlns:a16="http://schemas.microsoft.com/office/drawing/2014/main" id="{11FAB673-2B91-43F6-A388-C06CFA4E20F4}"/>
              </a:ext>
            </a:extLst>
          </p:cNvPr>
          <p:cNvSpPr>
            <a:spLocks xmlns:a="http://schemas.openxmlformats.org/drawingml/2006/main" noGrp="1"/>
          </p:cNvSpPr>
          <p:nvPr/>
        </p:nvSpPr>
        <p:spPr>
          <a:xfrm xmlns:a="http://schemas.openxmlformats.org/drawingml/2006/main">
            <a:off x="9334500" y="40195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7" name="">
            <a:extLst xmlns:a="http://schemas.openxmlformats.org/drawingml/2006/main">
              <a:ext uri="{FF2B5EF4-FFF2-40B4-BE49-F238E27FC236}">
                <a16:creationId xmlns:a16="http://schemas.microsoft.com/office/drawing/2014/main" id="{8A736416-6E7D-478D-9C58-E0440BAF2098}"/>
              </a:ext>
            </a:extLst>
          </p:cNvPr>
          <p:cNvSpPr>
            <a:spLocks xmlns:a="http://schemas.openxmlformats.org/drawingml/2006/main" noGrp="1"/>
          </p:cNvSpPr>
          <p:nvPr/>
        </p:nvSpPr>
        <p:spPr>
          <a:xfrm xmlns:a="http://schemas.openxmlformats.org/drawingml/2006/main">
            <a:off x="8096250" y="4781550"/>
            <a:ext cx="1000125" cy="323850"/>
          </a:xfrm>
          <a:prstGeom xmlns:a="http://schemas.openxmlformats.org/drawingml/2006/main" prst="roundRect">
            <a:avLst>
              <a:gd name="adj" fmla="val 50000"/>
            </a:avLst>
          </a:prstGeom>
          <a:solidFill xmlns:a="http://schemas.openxmlformats.org/drawingml/2006/main">
            <a:srgbClr val="3478F6"/>
          </a:solidFill>
          <a:ln xmlns:a="http://schemas.openxmlformats.org/drawingml/2006/main" w="9525">
            <a:solidFill>
              <a:srgbClr val="3478F6"/>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8" name="">
            <a:extLst xmlns:a="http://schemas.openxmlformats.org/drawingml/2006/main">
              <a:ext uri="{FF2B5EF4-FFF2-40B4-BE49-F238E27FC236}">
                <a16:creationId xmlns:a16="http://schemas.microsoft.com/office/drawing/2014/main" id="{1747B93A-0C15-45B8-B5F1-383CD56F14F6}"/>
              </a:ext>
            </a:extLst>
          </p:cNvPr>
          <p:cNvSpPr>
            <a:spLocks xmlns:a="http://schemas.openxmlformats.org/drawingml/2006/main" noGrp="1"/>
          </p:cNvSpPr>
          <p:nvPr/>
        </p:nvSpPr>
        <p:spPr>
          <a:xfrm xmlns:a="http://schemas.openxmlformats.org/drawingml/2006/main">
            <a:off x="9334500" y="47625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
            </a:r>
          </a:p>
        </p:txBody>
      </p:sp>
      <p:sp>
        <p:nvSpPr>
          <p:cNvPr id="19" name="">
            <a:extLst xmlns:a="http://schemas.openxmlformats.org/drawingml/2006/main">
              <a:ext uri="{FF2B5EF4-FFF2-40B4-BE49-F238E27FC236}">
                <a16:creationId xmlns:a16="http://schemas.microsoft.com/office/drawing/2014/main" id="{9EF6F402-4461-40E0-8162-1148E4D7A9AE}"/>
              </a:ext>
            </a:extLst>
          </p:cNvPr>
          <p:cNvSpPr>
            <a:spLocks xmlns:a="http://schemas.openxmlformats.org/drawingml/2006/main" noGrp="1"/>
          </p:cNvSpPr>
          <p:nvPr/>
        </p:nvSpPr>
        <p:spPr>
          <a:xfrm xmlns:a="http://schemas.openxmlformats.org/drawingml/2006/main">
            <a:off x="704850" y="5905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ctr">
              <a:buNone/>
              <a:defRPr sz="1425" b="1">
                <a:solidFill>
                  <a:srgbClr val="D95050"/>
                </a:solidFill>
                <a:latin typeface="NanumGothic"/>
                <a:ea typeface="NanumGothic"/>
                <a:cs typeface="NanumGothic"/>
              </a:defRPr>
            </a:pPr>
            <a:r>
              <a:rPr sz="1425" b="1">
                <a:solidFill>
                  <a:srgbClr val="D95050"/>
                </a:solidFill>
                <a:latin typeface="NanumGothic"/>
                <a:ea typeface="NanumGothic"/>
                <a:cs typeface="NanumGothic"/>
              </a:rPr>
              <a:t/>
            </a:r>
          </a:p>
        </p:txBody>
      </p:sp>
      <p:sp>
        <p:nvSpPr>
          <p:cNvPr id="22" name="">
            <a:extLst xmlns:a="http://schemas.openxmlformats.org/drawingml/2006/main">
              <a:ext uri="{FF2B5EF4-FFF2-40B4-BE49-F238E27FC236}">
                <a16:creationId xmlns:a16="http://schemas.microsoft.com/office/drawing/2014/main" id="{6C724B2D-0A0C-4E3A-BE3F-440AE2AAFCE4}"/>
              </a:ext>
            </a:extLst>
          </p:cNvPr>
          <p:cNvSpPr>
            <a:spLocks xmlns:a="http://schemas.openxmlformats.org/drawingml/2006/main" noGrp="1"/>
          </p:cNvSpPr>
          <p:nvPr/>
        </p:nvSpPr>
        <p:spPr>
          <a:xfrm xmlns:a="http://schemas.openxmlformats.org/drawingml/2006/main">
            <a:off x="476250" y="1066800"/>
            <a:ext cx="11239500" cy="5238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7DC8E21-2F71-43B4-A8C6-EE642B997512}"/>
              </a:ext>
            </a:extLst>
          </p:cNvPr>
          <p:cNvSpPr>
            <a:spLocks xmlns:a="http://schemas.openxmlformats.org/drawingml/2006/main" noGrp="1"/>
          </p:cNvSpPr>
          <p:nvPr/>
        </p:nvSpPr>
        <p:spPr>
          <a:xfrm xmlns:a="http://schemas.openxmlformats.org/drawingml/2006/main">
            <a:off x="685800" y="12573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68"/>
                </a:solidFill>
                <a:latin typeface="NanumGothic"/>
                <a:ea typeface="NanumGothic"/>
                <a:cs typeface="NanumGothic"/>
              </a:defRPr>
            </a:pPr>
            <a:r>
              <a:rPr sz="1650" b="1">
                <a:solidFill>
                  <a:srgbClr val="173A68"/>
                </a:solidFill>
                <a:latin typeface="NanumGothic"/>
                <a:ea typeface="NanumGothic"/>
                <a:cs typeface="NanumGothic"/>
              </a:rPr>
              <a:t>같은 NIM 모델과 같은 작업에서 실행 하네스만 바꿔 비교한다</a:t>
            </a:r>
          </a:p>
        </p:txBody>
      </p:sp>
      <p:graphicFrame>
        <p:nvGraphicFramePr>
          <p:cNvPr id="50" name=""/>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1143000"/>
                <a:gridCol w="3048000"/>
                <a:gridCol w="3619500"/>
                <a:gridCol w="3009900"/>
              </a:tblGrid>
              <a:tr h="571500">
                <a:tc>
                  <a:txBody>
                    <a:bodyPr>
                      <a:normAutofit/>
                    </a:bodyPr>
                    <a:lstStyle/>
                    <a:p>
                      <a:r>
                        <a:rPr sz="1125" b="1">
                          <a:solidFill>
                            <a:srgbClr val="FFFFFF"/>
                          </a:solidFill>
                          <a:latin typeface="NanumGothic"/>
                          <a:ea typeface="NanumGothic"/>
                          <a:cs typeface="NanumGothic"/>
                        </a:rPr>
                        <a:t>조건</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들어 있는 제어</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확인하려는 효과</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예상되는 비용</a:t>
                      </a:r>
                    </a:p>
                  </a:txBody>
                  <a:tcPr marL="91440" marR="91440" marT="45720" marB="45720">
                    <a:solidFill>
                      <a:srgbClr val="173A68"/>
                    </a:solidFill>
                  </a:tcPr>
                </a:tc>
              </a:tr>
              <a:tr h="571500">
                <a:tc>
                  <a:txBody>
                    <a:bodyPr>
                      <a:normAutofit/>
                    </a:bodyPr>
                    <a:lstStyle/>
                    <a:p>
                      <a:r>
                        <a:rPr sz="1050" b="0">
                          <a:solidFill>
                            <a:srgbClr val="172033"/>
                          </a:solidFill>
                          <a:latin typeface="NanumGothic"/>
                          <a:ea typeface="NanumGothic"/>
                          <a:cs typeface="NanumGothic"/>
                        </a:rPr>
                        <a:t>B0</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직접 1회 실행</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기본 성공률과 위험 기준선</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빠르지만 오실행 위험</a:t>
                      </a:r>
                    </a:p>
                  </a:txBody>
                  <a:tcPr marL="91440" marR="91440" marT="45720" marB="45720">
                    <a:solidFill>
                      <a:srgbClr val="FFFFFF"/>
                    </a:solidFill>
                  </a:tcPr>
                </a:tc>
              </a:tr>
              <a:tr h="571500">
                <a:tc>
                  <a:txBody>
                    <a:bodyPr>
                      <a:normAutofit/>
                    </a:bodyPr>
                    <a:lstStyle/>
                    <a:p>
                      <a:r>
                        <a:rPr sz="1050" b="0">
                          <a:solidFill>
                            <a:srgbClr val="172033"/>
                          </a:solidFill>
                          <a:latin typeface="NanumGothic"/>
                          <a:ea typeface="NanumGothic"/>
                          <a:cs typeface="NanumGothic"/>
                        </a:rPr>
                        <a:t>B1</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모든 부작용을 확인</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사용자 확인만으로 얻는 안전</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확인 부담이 큼</a:t>
                      </a:r>
                    </a:p>
                  </a:txBody>
                  <a:tcPr marL="91440" marR="91440" marT="45720" marB="45720">
                    <a:solidFill>
                      <a:srgbClr val="F7F9FC"/>
                    </a:solidFill>
                  </a:tcPr>
                </a:tc>
              </a:tr>
              <a:tr h="571500">
                <a:tc>
                  <a:txBody>
                    <a:bodyPr>
                      <a:normAutofit/>
                    </a:bodyPr>
                    <a:lstStyle/>
                    <a:p>
                      <a:r>
                        <a:rPr sz="1050" b="0">
                          <a:solidFill>
                            <a:srgbClr val="172033"/>
                          </a:solidFill>
                          <a:latin typeface="NanumGothic"/>
                          <a:ea typeface="NanumGothic"/>
                          <a:cs typeface="NanumGothic"/>
                        </a:rPr>
                        <a:t>P1</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의도 판별 + 위험 정책</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오실행과 불필요한 확인 감소</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정책 판단 시간</a:t>
                      </a:r>
                    </a:p>
                  </a:txBody>
                  <a:tcPr marL="91440" marR="91440" marT="45720" marB="45720">
                    <a:solidFill>
                      <a:srgbClr val="FFFFFF"/>
                    </a:solidFill>
                  </a:tcPr>
                </a:tc>
              </a:tr>
              <a:tr h="571500">
                <a:tc>
                  <a:txBody>
                    <a:bodyPr>
                      <a:normAutofit/>
                    </a:bodyPr>
                    <a:lstStyle/>
                    <a:p>
                      <a:r>
                        <a:rPr sz="1050" b="0">
                          <a:solidFill>
                            <a:srgbClr val="172033"/>
                          </a:solidFill>
                          <a:latin typeface="NanumGothic"/>
                          <a:ea typeface="NanumGothic"/>
                          <a:cs typeface="NanumGothic"/>
                        </a:rPr>
                        <a:t>P2</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P1 + 독립 검증 + 제한적 복구</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거짓 성공 감소와 복구율</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추가 관찰·호출 시간</a:t>
                      </a:r>
                    </a:p>
                  </a:txBody>
                  <a:tcPr marL="91440" marR="91440" marT="45720" marB="45720">
                    <a:solidFill>
                      <a:srgbClr val="F7F9FC"/>
                    </a:solidFill>
                  </a:tcPr>
                </a:tc>
              </a:tr>
            </a:tbl>
          </a:graphicData>
        </a:graphic>
      </p:graphicFrame>
      <p:sp>
        <p:nvSpPr>
          <p:cNvPr id="25" name="">
            <a:extLst xmlns:a="http://schemas.openxmlformats.org/drawingml/2006/main">
              <a:ext uri="{FF2B5EF4-FFF2-40B4-BE49-F238E27FC236}">
                <a16:creationId xmlns:a16="http://schemas.microsoft.com/office/drawing/2014/main" id="{D10E8E2D-2661-4460-8C61-C8FF4751D036}"/>
              </a:ext>
            </a:extLst>
          </p:cNvPr>
          <p:cNvSpPr>
            <a:spLocks xmlns:a="http://schemas.openxmlformats.org/drawingml/2006/main" noGrp="1"/>
          </p:cNvSpPr>
          <p:nvPr/>
        </p:nvSpPr>
        <p:spPr>
          <a:xfrm xmlns:a="http://schemas.openxmlformats.org/drawingml/2006/main">
            <a:off x="685800" y="49530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주 지표</a:t>
            </a:r>
          </a:p>
        </p:txBody>
      </p:sp>
      <p:sp>
        <p:nvSpPr>
          <p:cNvPr id="26" name="">
            <a:extLst xmlns:a="http://schemas.openxmlformats.org/drawingml/2006/main">
              <a:ext uri="{FF2B5EF4-FFF2-40B4-BE49-F238E27FC236}">
                <a16:creationId xmlns:a16="http://schemas.microsoft.com/office/drawing/2014/main" id="{029BD9F9-5052-44D5-80B4-E69BBE321BE8}"/>
              </a:ext>
            </a:extLst>
          </p:cNvPr>
          <p:cNvSpPr>
            <a:spLocks xmlns:a="http://schemas.openxmlformats.org/drawingml/2006/main" noGrp="1"/>
          </p:cNvSpPr>
          <p:nvPr/>
        </p:nvSpPr>
        <p:spPr>
          <a:xfrm xmlns:a="http://schemas.openxmlformats.org/drawingml/2006/main">
            <a:off x="1809750" y="4905375"/>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작업 성공률 · 의도하지 않은 실행률 · 위험 실행률 · 사용자 확인 횟수</a:t>
            </a:r>
          </a:p>
        </p:txBody>
      </p:sp>
      <p:sp>
        <p:nvSpPr>
          <p:cNvPr id="27" name="">
            <a:extLst xmlns:a="http://schemas.openxmlformats.org/drawingml/2006/main">
              <a:ext uri="{FF2B5EF4-FFF2-40B4-BE49-F238E27FC236}">
                <a16:creationId xmlns:a16="http://schemas.microsoft.com/office/drawing/2014/main" id="{CC1366AC-6034-4E3A-B888-CFE77BA886B5}"/>
              </a:ext>
            </a:extLst>
          </p:cNvPr>
          <p:cNvSpPr>
            <a:spLocks xmlns:a="http://schemas.openxmlformats.org/drawingml/2006/main" noGrp="1"/>
          </p:cNvSpPr>
          <p:nvPr/>
        </p:nvSpPr>
        <p:spPr>
          <a:xfrm xmlns:a="http://schemas.openxmlformats.org/drawingml/2006/main">
            <a:off x="685800" y="5476875"/>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보조 지표</a:t>
            </a:r>
          </a:p>
        </p:txBody>
      </p:sp>
      <p:sp>
        <p:nvSpPr>
          <p:cNvPr id="28" name="">
            <a:extLst xmlns:a="http://schemas.openxmlformats.org/drawingml/2006/main">
              <a:ext uri="{FF2B5EF4-FFF2-40B4-BE49-F238E27FC236}">
                <a16:creationId xmlns:a16="http://schemas.microsoft.com/office/drawing/2014/main" id="{193A28D5-52A5-41F8-81B1-7A6CA51E8F47}"/>
              </a:ext>
            </a:extLst>
          </p:cNvPr>
          <p:cNvSpPr>
            <a:spLocks xmlns:a="http://schemas.openxmlformats.org/drawingml/2006/main" noGrp="1"/>
          </p:cNvSpPr>
          <p:nvPr/>
        </p:nvSpPr>
        <p:spPr>
          <a:xfrm xmlns:a="http://schemas.openxmlformats.org/drawingml/2006/main">
            <a:off x="1809750" y="5429250"/>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복구율 · 검증 정확도 · 단계별 지연시간 · 모델 호출 수와 토큰</a:t>
            </a:r>
          </a:p>
        </p:txBody>
      </p:sp>
    </p:spTree>
    <p:extLst>
      <p:ext uri="{BB962C8B-B14F-4D97-AF65-F5344CB8AC3E}">
        <p14:creationId xmlns:p14="http://schemas.microsoft.com/office/powerpoint/2010/main" val="182261026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1424E44-8F0E-410D-A055-1D9E1DDD240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5EF5CF-C204-4FA1-B2DE-9ECE5F227846}"/>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하네스와 스킬의 역할</a:t>
            </a:r>
          </a:p>
        </p:txBody>
      </p:sp>
      <p:sp>
        <p:nvSpPr>
          <p:cNvPr id="3" name="">
            <a:extLst xmlns:a="http://schemas.openxmlformats.org/drawingml/2006/main">
              <a:ext uri="{FF2B5EF4-FFF2-40B4-BE49-F238E27FC236}">
                <a16:creationId xmlns:a16="http://schemas.microsoft.com/office/drawing/2014/main" id="{4E64BC6E-8C11-4BA9-9418-8B44A3B221F7}"/>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09</a:t>
            </a:r>
          </a:p>
        </p:txBody>
      </p:sp>
      <p:sp>
        <p:nvSpPr>
          <p:cNvPr id="4" name="">
            <a:extLst xmlns:a="http://schemas.openxmlformats.org/drawingml/2006/main">
              <a:ext uri="{FF2B5EF4-FFF2-40B4-BE49-F238E27FC236}">
                <a16:creationId xmlns:a16="http://schemas.microsoft.com/office/drawing/2014/main" id="{F8CB2114-DBD6-46B9-9CDC-ACBC2B09B66E}"/>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D3ECF1DD-725B-4A97-A2F1-9CE7947B0F47}"/>
              </a:ext>
            </a:extLst>
          </p:cNvPr>
          <p:cNvSpPr>
            <a:spLocks xmlns:a="http://schemas.openxmlformats.org/drawingml/2006/main" noGrp="1"/>
          </p:cNvSpPr>
          <p:nvPr/>
        </p:nvSpPr>
        <p:spPr>
          <a:xfrm xmlns:a="http://schemas.openxmlformats.org/drawingml/2006/main">
            <a:off x="590550" y="1285875"/>
            <a:ext cx="2762250" cy="1809750"/>
          </a:xfrm>
          <a:prstGeom xmlns:a="http://schemas.openxmlformats.org/drawingml/2006/main" prst="roundRect">
            <a:avLst>
              <a:gd name="adj" fmla="val 7368"/>
            </a:avLst>
          </a:prstGeom>
          <a:solidFill xmlns:a="http://schemas.openxmlformats.org/drawingml/2006/main">
            <a:srgbClr val="F2F7FC"/>
          </a:solidFill>
          <a:ln xmlns:a="http://schemas.openxmlformats.org/drawingml/2006/main" w="9525">
            <a:solidFill>
              <a:srgbClr val="C9D8EA"/>
            </a:solidFill>
            <a:prstDash val="solid"/>
          </a:ln>
        </p:spPr>
      </p:sp>
      <p:sp>
        <p:nvSpPr>
          <p:cNvPr id="6" name="">
            <a:extLst xmlns:a="http://schemas.openxmlformats.org/drawingml/2006/main">
              <a:ext uri="{FF2B5EF4-FFF2-40B4-BE49-F238E27FC236}">
                <a16:creationId xmlns:a16="http://schemas.microsoft.com/office/drawing/2014/main" id="{45A779A7-71BD-42DC-8F10-007D7DB6C5F3}"/>
              </a:ext>
            </a:extLst>
          </p:cNvPr>
          <p:cNvSpPr>
            <a:spLocks xmlns:a="http://schemas.openxmlformats.org/drawingml/2006/main" noGrp="1"/>
          </p:cNvSpPr>
          <p:nvPr/>
        </p:nvSpPr>
        <p:spPr>
          <a:xfrm xmlns:a="http://schemas.openxmlformats.org/drawingml/2006/main">
            <a:off x="781050" y="14763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68"/>
                </a:solidFill>
                <a:latin typeface="NanumGothic"/>
                <a:ea typeface="NanumGothic"/>
                <a:cs typeface="NanumGothic"/>
              </a:defRPr>
            </a:pPr>
            <a:r>
              <a:rPr sz="1575" b="1">
                <a:solidFill>
                  <a:srgbClr val="173A68"/>
                </a:solidFill>
                <a:latin typeface="NanumGothic"/>
                <a:ea typeface="NanumGothic"/>
                <a:cs typeface="NanumGothic"/>
              </a:rPr>
              <a:t>모델</a:t>
            </a:r>
          </a:p>
        </p:txBody>
      </p:sp>
      <p:sp>
        <p:nvSpPr>
          <p:cNvPr id="7" name="">
            <a:extLst xmlns:a="http://schemas.openxmlformats.org/drawingml/2006/main">
              <a:ext uri="{FF2B5EF4-FFF2-40B4-BE49-F238E27FC236}">
                <a16:creationId xmlns:a16="http://schemas.microsoft.com/office/drawing/2014/main" id="{F50852D8-C74F-4137-892C-0E4689EB2F6F}"/>
              </a:ext>
            </a:extLst>
          </p:cNvPr>
          <p:cNvSpPr>
            <a:spLocks xmlns:a="http://schemas.openxmlformats.org/drawingml/2006/main" noGrp="1"/>
          </p:cNvSpPr>
          <p:nvPr/>
        </p:nvSpPr>
        <p:spPr>
          <a:xfrm xmlns:a="http://schemas.openxmlformats.org/drawingml/2006/main">
            <a:off x="781050" y="1952625"/>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2033"/>
                </a:solidFill>
                <a:latin typeface="NanumGothic"/>
                <a:ea typeface="NanumGothic"/>
                <a:cs typeface="NanumGothic"/>
              </a:defRPr>
            </a:pPr>
            <a:r>
              <a:rPr sz="1800" b="1">
                <a:solidFill>
                  <a:srgbClr val="172033"/>
                </a:solidFill>
                <a:latin typeface="NanumGothic"/>
                <a:ea typeface="NanumGothic"/>
                <a:cs typeface="NanumGothic"/>
              </a:rPr>
              <a:t>무엇을 할지</a:t>
            </a:r>
          </a:p>
          <a:p xmlns:a="http://schemas.openxmlformats.org/drawingml/2006/main">
            <a:pPr>
              <a:defRPr sz="1800" b="1">
                <a:solidFill>
                  <a:srgbClr val="172033"/>
                </a:solidFill>
                <a:latin typeface="NanumGothic"/>
                <a:ea typeface="NanumGothic"/>
                <a:cs typeface="NanumGothic"/>
              </a:defRPr>
            </a:pPr>
            <a:r>
              <a:rPr sz="1800" b="1">
                <a:solidFill>
                  <a:srgbClr val="172033"/>
                </a:solidFill>
                <a:latin typeface="NanumGothic"/>
                <a:ea typeface="NanumGothic"/>
                <a:cs typeface="NanumGothic"/>
              </a:rPr>
              <a:t>계획을 제안</a:t>
            </a:r>
          </a:p>
        </p:txBody>
      </p:sp>
      <p:sp>
        <p:nvSpPr>
          <p:cNvPr id="8" name="">
            <a:extLst xmlns:a="http://schemas.openxmlformats.org/drawingml/2006/main">
              <a:ext uri="{FF2B5EF4-FFF2-40B4-BE49-F238E27FC236}">
                <a16:creationId xmlns:a16="http://schemas.microsoft.com/office/drawing/2014/main" id="{B2E9709B-02B3-4B9E-9EC8-61AE46793AF7}"/>
              </a:ext>
            </a:extLst>
          </p:cNvPr>
          <p:cNvSpPr>
            <a:spLocks xmlns:a="http://schemas.openxmlformats.org/drawingml/2006/main" noGrp="1"/>
          </p:cNvSpPr>
          <p:nvPr/>
        </p:nvSpPr>
        <p:spPr>
          <a:xfrm xmlns:a="http://schemas.openxmlformats.org/drawingml/2006/main">
            <a:off x="4048125" y="1285875"/>
            <a:ext cx="3905250" cy="1809750"/>
          </a:xfrm>
          <a:prstGeom xmlns:a="http://schemas.openxmlformats.org/drawingml/2006/main" prst="roundRect">
            <a:avLst>
              <a:gd name="adj" fmla="val 7368"/>
            </a:avLst>
          </a:prstGeom>
          <a:solidFill xmlns:a="http://schemas.openxmlformats.org/drawingml/2006/main">
            <a:srgbClr val="EFFAFC"/>
          </a:solidFill>
          <a:ln xmlns:a="http://schemas.openxmlformats.org/drawingml/2006/main" w="9525">
            <a:solidFill>
              <a:srgbClr val="BEE8EF"/>
            </a:solidFill>
            <a:prstDash val="solid"/>
          </a:ln>
        </p:spPr>
      </p:sp>
      <p:sp>
        <p:nvSpPr>
          <p:cNvPr id="9" name="">
            <a:extLst xmlns:a="http://schemas.openxmlformats.org/drawingml/2006/main">
              <a:ext uri="{FF2B5EF4-FFF2-40B4-BE49-F238E27FC236}">
                <a16:creationId xmlns:a16="http://schemas.microsoft.com/office/drawing/2014/main" id="{370C60E4-0625-41CE-BDDE-AC325D50D20A}"/>
              </a:ext>
            </a:extLst>
          </p:cNvPr>
          <p:cNvSpPr>
            <a:spLocks xmlns:a="http://schemas.openxmlformats.org/drawingml/2006/main" noGrp="1"/>
          </p:cNvSpPr>
          <p:nvPr/>
        </p:nvSpPr>
        <p:spPr>
          <a:xfrm xmlns:a="http://schemas.openxmlformats.org/drawingml/2006/main">
            <a:off x="4333875" y="14763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4A8C4"/>
                </a:solidFill>
                <a:latin typeface="NanumGothic"/>
                <a:ea typeface="NanumGothic"/>
                <a:cs typeface="NanumGothic"/>
              </a:defRPr>
            </a:pPr>
            <a:r>
              <a:rPr sz="1575" b="1">
                <a:solidFill>
                  <a:srgbClr val="14A8C4"/>
                </a:solidFill>
                <a:latin typeface="NanumGothic"/>
                <a:ea typeface="NanumGothic"/>
                <a:cs typeface="NanumGothic"/>
              </a:rPr>
              <a:t>실행 하네스</a:t>
            </a:r>
          </a:p>
        </p:txBody>
      </p:sp>
      <p:sp>
        <p:nvSpPr>
          <p:cNvPr id="10" name="">
            <a:extLst xmlns:a="http://schemas.openxmlformats.org/drawingml/2006/main">
              <a:ext uri="{FF2B5EF4-FFF2-40B4-BE49-F238E27FC236}">
                <a16:creationId xmlns:a16="http://schemas.microsoft.com/office/drawing/2014/main" id="{67F1D91F-1AB3-4ECE-9858-A88E1F72969A}"/>
              </a:ext>
            </a:extLst>
          </p:cNvPr>
          <p:cNvSpPr>
            <a:spLocks xmlns:a="http://schemas.openxmlformats.org/drawingml/2006/main" noGrp="1"/>
          </p:cNvSpPr>
          <p:nvPr/>
        </p:nvSpPr>
        <p:spPr>
          <a:xfrm xmlns:a="http://schemas.openxmlformats.org/drawingml/2006/main">
            <a:off x="4333875" y="195262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관찰·정책·승인·도구 선택</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실패 처리·검증·상태 관리</a:t>
            </a:r>
          </a:p>
        </p:txBody>
      </p:sp>
      <p:sp>
        <p:nvSpPr>
          <p:cNvPr id="11" name="">
            <a:extLst xmlns:a="http://schemas.openxmlformats.org/drawingml/2006/main">
              <a:ext uri="{FF2B5EF4-FFF2-40B4-BE49-F238E27FC236}">
                <a16:creationId xmlns:a16="http://schemas.microsoft.com/office/drawing/2014/main" id="{69011B18-C8AC-4DD8-B96E-B58C25433361}"/>
              </a:ext>
            </a:extLst>
          </p:cNvPr>
          <p:cNvSpPr>
            <a:spLocks xmlns:a="http://schemas.openxmlformats.org/drawingml/2006/main" noGrp="1"/>
          </p:cNvSpPr>
          <p:nvPr/>
        </p:nvSpPr>
        <p:spPr>
          <a:xfrm xmlns:a="http://schemas.openxmlformats.org/drawingml/2006/main">
            <a:off x="8715375" y="1285875"/>
            <a:ext cx="2857500" cy="1809750"/>
          </a:xfrm>
          <a:prstGeom xmlns:a="http://schemas.openxmlformats.org/drawingml/2006/main" prst="roundRect">
            <a:avLst>
              <a:gd name="adj" fmla="val 7368"/>
            </a:avLst>
          </a:prstGeom>
          <a:solidFill xmlns:a="http://schemas.openxmlformats.org/drawingml/2006/main">
            <a:srgbClr val="F2FBF6"/>
          </a:solidFill>
          <a:ln xmlns:a="http://schemas.openxmlformats.org/drawingml/2006/main" w="9525">
            <a:solidFill>
              <a:srgbClr val="C7E8D5"/>
            </a:solidFill>
            <a:prstDash val="solid"/>
          </a:ln>
        </p:spPr>
      </p:sp>
      <p:sp>
        <p:nvSpPr>
          <p:cNvPr id="12" name="">
            <a:extLst xmlns:a="http://schemas.openxmlformats.org/drawingml/2006/main">
              <a:ext uri="{FF2B5EF4-FFF2-40B4-BE49-F238E27FC236}">
                <a16:creationId xmlns:a16="http://schemas.microsoft.com/office/drawing/2014/main" id="{091B7B72-2FAC-427B-AB0E-8385948FFE37}"/>
              </a:ext>
            </a:extLst>
          </p:cNvPr>
          <p:cNvSpPr>
            <a:spLocks xmlns:a="http://schemas.openxmlformats.org/drawingml/2006/main" noGrp="1"/>
          </p:cNvSpPr>
          <p:nvPr/>
        </p:nvSpPr>
        <p:spPr>
          <a:xfrm xmlns:a="http://schemas.openxmlformats.org/drawingml/2006/main">
            <a:off x="9048750" y="14763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1A66B"/>
                </a:solidFill>
                <a:latin typeface="NanumGothic"/>
                <a:ea typeface="NanumGothic"/>
                <a:cs typeface="NanumGothic"/>
              </a:defRPr>
            </a:pPr>
            <a:r>
              <a:rPr sz="1575" b="1">
                <a:solidFill>
                  <a:srgbClr val="21A66B"/>
                </a:solidFill>
                <a:latin typeface="NanumGothic"/>
                <a:ea typeface="NanumGothic"/>
                <a:cs typeface="NanumGothic"/>
              </a:rPr>
              <a:t>권한 있는 기능</a:t>
            </a:r>
          </a:p>
        </p:txBody>
      </p:sp>
      <p:sp>
        <p:nvSpPr>
          <p:cNvPr id="13" name="">
            <a:extLst xmlns:a="http://schemas.openxmlformats.org/drawingml/2006/main">
              <a:ext uri="{FF2B5EF4-FFF2-40B4-BE49-F238E27FC236}">
                <a16:creationId xmlns:a16="http://schemas.microsoft.com/office/drawing/2014/main" id="{9B986FE4-7A2B-4781-B344-668F4BD20FFE}"/>
              </a:ext>
            </a:extLst>
          </p:cNvPr>
          <p:cNvSpPr>
            <a:spLocks xmlns:a="http://schemas.openxmlformats.org/drawingml/2006/main" noGrp="1"/>
          </p:cNvSpPr>
          <p:nvPr/>
        </p:nvSpPr>
        <p:spPr>
          <a:xfrm xmlns:a="http://schemas.openxmlformats.org/drawingml/2006/main">
            <a:off x="9048750" y="1952625"/>
            <a:ext cx="238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허용된 Windows 행동만</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정해진 인자로 실행</a:t>
            </a:r>
          </a:p>
        </p:txBody>
      </p:sp>
      <p:sp>
        <p:nvSpPr>
          <p:cNvPr id="14" name="">
            <a:extLst xmlns:a="http://schemas.openxmlformats.org/drawingml/2006/main">
              <a:ext uri="{FF2B5EF4-FFF2-40B4-BE49-F238E27FC236}">
                <a16:creationId xmlns:a16="http://schemas.microsoft.com/office/drawing/2014/main" id="{E41D118D-369B-45F9-8334-A72B69E0966C}"/>
              </a:ext>
            </a:extLst>
          </p:cNvPr>
          <p:cNvSpPr>
            <a:spLocks xmlns:a="http://schemas.openxmlformats.org/drawingml/2006/main" noGrp="1"/>
          </p:cNvSpPr>
          <p:nvPr/>
        </p:nvSpPr>
        <p:spPr>
          <a:xfrm xmlns:a="http://schemas.openxmlformats.org/drawingml/2006/main">
            <a:off x="781050" y="376237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2A72A"/>
                </a:solidFill>
                <a:latin typeface="NanumGothic"/>
                <a:ea typeface="NanumGothic"/>
                <a:cs typeface="NanumGothic"/>
              </a:defRPr>
            </a:pPr>
            <a:r>
              <a:rPr sz="1575" b="1">
                <a:solidFill>
                  <a:srgbClr val="F2A72A"/>
                </a:solidFill>
                <a:latin typeface="NanumGothic"/>
                <a:ea typeface="NanumGothic"/>
                <a:cs typeface="NanumGothic"/>
              </a:rPr>
              <a:t>스킬(Skill)</a:t>
            </a:r>
          </a:p>
        </p:txBody>
      </p:sp>
      <p:sp>
        <p:nvSpPr>
          <p:cNvPr id="15" name="">
            <a:extLst xmlns:a="http://schemas.openxmlformats.org/drawingml/2006/main">
              <a:ext uri="{FF2B5EF4-FFF2-40B4-BE49-F238E27FC236}">
                <a16:creationId xmlns:a16="http://schemas.microsoft.com/office/drawing/2014/main" id="{AD382525-0B31-4623-A598-8DEED047D909}"/>
              </a:ext>
            </a:extLst>
          </p:cNvPr>
          <p:cNvSpPr>
            <a:spLocks xmlns:a="http://schemas.openxmlformats.org/drawingml/2006/main" noGrp="1"/>
          </p:cNvSpPr>
          <p:nvPr/>
        </p:nvSpPr>
        <p:spPr>
          <a:xfrm xmlns:a="http://schemas.openxmlformats.org/drawingml/2006/main">
            <a:off x="781050" y="42100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자주 하는 일을 어떤 순서로 처리할지 적은 재사용 절차</a:t>
            </a:r>
          </a:p>
        </p:txBody>
      </p:sp>
      <p:sp>
        <p:nvSpPr>
          <p:cNvPr id="16" name="">
            <a:extLst xmlns:a="http://schemas.openxmlformats.org/drawingml/2006/main">
              <a:ext uri="{FF2B5EF4-FFF2-40B4-BE49-F238E27FC236}">
                <a16:creationId xmlns:a16="http://schemas.microsoft.com/office/drawing/2014/main" id="{2C3E3827-05ED-4885-B132-F3415DC56DB5}"/>
              </a:ext>
            </a:extLst>
          </p:cNvPr>
          <p:cNvSpPr>
            <a:spLocks xmlns:a="http://schemas.openxmlformats.org/drawingml/2006/main" noGrp="1"/>
          </p:cNvSpPr>
          <p:nvPr/>
        </p:nvSpPr>
        <p:spPr>
          <a:xfrm xmlns:a="http://schemas.openxmlformats.org/drawingml/2006/main">
            <a:off x="6477000" y="376237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E45757"/>
                </a:solidFill>
                <a:latin typeface="NanumGothic"/>
                <a:ea typeface="NanumGothic"/>
                <a:cs typeface="NanumGothic"/>
              </a:defRPr>
            </a:pPr>
            <a:r>
              <a:rPr sz="1575" b="1">
                <a:solidFill>
                  <a:srgbClr val="E45757"/>
                </a:solidFill>
                <a:latin typeface="NanumGothic"/>
                <a:ea typeface="NanumGothic"/>
                <a:cs typeface="NanumGothic"/>
              </a:rPr>
              <a:t>도구(Tool)</a:t>
            </a:r>
          </a:p>
        </p:txBody>
      </p:sp>
      <p:sp>
        <p:nvSpPr>
          <p:cNvPr id="17" name="">
            <a:extLst xmlns:a="http://schemas.openxmlformats.org/drawingml/2006/main">
              <a:ext uri="{FF2B5EF4-FFF2-40B4-BE49-F238E27FC236}">
                <a16:creationId xmlns:a16="http://schemas.microsoft.com/office/drawing/2014/main" id="{2AB4CAC4-45F2-408F-A092-DF31660D619E}"/>
              </a:ext>
            </a:extLst>
          </p:cNvPr>
          <p:cNvSpPr>
            <a:spLocks xmlns:a="http://schemas.openxmlformats.org/drawingml/2006/main" noGrp="1"/>
          </p:cNvSpPr>
          <p:nvPr/>
        </p:nvSpPr>
        <p:spPr>
          <a:xfrm xmlns:a="http://schemas.openxmlformats.org/drawingml/2006/main">
            <a:off x="6477000" y="42100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파일 읽기, 음량 변경처럼 실제 상태를 읽거나 바꾸는 한 번의 동작</a:t>
            </a:r>
          </a:p>
        </p:txBody>
      </p:sp>
      <p:sp>
        <p:nvSpPr>
          <p:cNvPr id="18" name="">
            <a:extLst xmlns:a="http://schemas.openxmlformats.org/drawingml/2006/main">
              <a:ext uri="{FF2B5EF4-FFF2-40B4-BE49-F238E27FC236}">
                <a16:creationId xmlns:a16="http://schemas.microsoft.com/office/drawing/2014/main" id="{B5B1653F-C5F7-4814-8C6A-D372D5BE9D0A}"/>
              </a:ext>
            </a:extLst>
          </p:cNvPr>
          <p:cNvSpPr>
            <a:spLocks xmlns:a="http://schemas.openxmlformats.org/drawingml/2006/main" noGrp="1"/>
          </p:cNvSpPr>
          <p:nvPr/>
        </p:nvSpPr>
        <p:spPr>
          <a:xfrm xmlns:a="http://schemas.openxmlformats.org/drawingml/2006/main">
            <a:off x="685800" y="5238750"/>
            <a:ext cx="108204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9" name="">
            <a:extLst xmlns:a="http://schemas.openxmlformats.org/drawingml/2006/main">
              <a:ext uri="{FF2B5EF4-FFF2-40B4-BE49-F238E27FC236}">
                <a16:creationId xmlns:a16="http://schemas.microsoft.com/office/drawing/2014/main" id="{9129811A-113F-421B-A063-D8C165286062}"/>
              </a:ext>
            </a:extLst>
          </p:cNvPr>
          <p:cNvSpPr>
            <a:spLocks xmlns:a="http://schemas.openxmlformats.org/drawingml/2006/main" noGrp="1"/>
          </p:cNvSpPr>
          <p:nvPr/>
        </p:nvSpPr>
        <p:spPr>
          <a:xfrm xmlns:a="http://schemas.openxmlformats.org/drawingml/2006/main">
            <a:off x="800100" y="547687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68"/>
                </a:solidFill>
                <a:latin typeface="NanumGothic"/>
                <a:ea typeface="NanumGothic"/>
                <a:cs typeface="NanumGothic"/>
              </a:defRPr>
            </a:pPr>
            <a:r>
              <a:rPr sz="1575" b="1">
                <a:solidFill>
                  <a:srgbClr val="173A68"/>
                </a:solidFill>
                <a:latin typeface="NanumGothic"/>
                <a:ea typeface="NanumGothic"/>
                <a:cs typeface="NanumGothic"/>
              </a:rPr>
              <a:t>스킬은 실행 권한이 아니다. 실제 권한은 등록된 기능, 정책, 승인, 검증이 통제한다.</a:t>
            </a:r>
          </a:p>
        </p:txBody>
      </p:sp>
    </p:spTree>
    <p:extLst>
      <p:ext uri="{BB962C8B-B14F-4D97-AF65-F5344CB8AC3E}">
        <p14:creationId xmlns:p14="http://schemas.microsoft.com/office/powerpoint/2010/main" val="69763477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356D425-FE25-4DBF-86FD-E0F2139171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956FEB-DD46-48CE-86C2-E3E348317FE7}"/>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하네스가 같은 언어 모델(LLM)의 성능을 바꾸는 경로</a:t>
            </a:r>
          </a:p>
        </p:txBody>
      </p:sp>
      <p:sp>
        <p:nvSpPr>
          <p:cNvPr id="3" name="">
            <a:extLst xmlns:a="http://schemas.openxmlformats.org/drawingml/2006/main">
              <a:ext uri="{FF2B5EF4-FFF2-40B4-BE49-F238E27FC236}">
                <a16:creationId xmlns:a16="http://schemas.microsoft.com/office/drawing/2014/main" id="{C2C41897-8A9F-4A20-9971-AE7C3C080E01}"/>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10</a:t>
            </a:r>
          </a:p>
        </p:txBody>
      </p:sp>
      <p:sp>
        <p:nvSpPr>
          <p:cNvPr id="4" name="">
            <a:extLst xmlns:a="http://schemas.openxmlformats.org/drawingml/2006/main">
              <a:ext uri="{FF2B5EF4-FFF2-40B4-BE49-F238E27FC236}">
                <a16:creationId xmlns:a16="http://schemas.microsoft.com/office/drawing/2014/main" id="{E3F7CED9-F9D3-40CE-BDE8-8E917D12D6A9}"/>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CD54F6FB-927D-4E5E-90C2-AF341946B700}"/>
              </a:ext>
            </a:extLst>
          </p:cNvPr>
          <p:cNvSpPr>
            <a:spLocks xmlns:a="http://schemas.openxmlformats.org/drawingml/2006/main" noGrp="1"/>
          </p:cNvSpPr>
          <p:nvPr/>
        </p:nvSpPr>
        <p:spPr>
          <a:xfrm xmlns:a="http://schemas.openxmlformats.org/drawingml/2006/main">
            <a:off x="704850" y="1495425"/>
            <a:ext cx="1381125" cy="323850"/>
          </a:xfrm>
          <a:prstGeom xmlns:a="http://schemas.openxmlformats.org/drawingml/2006/main" prst="roundRect">
            <a:avLst>
              <a:gd name="adj" fmla="val 50000"/>
            </a:avLst>
          </a:prstGeom>
          <a:solidFill xmlns:a="http://schemas.openxmlformats.org/drawingml/2006/main">
            <a:srgbClr val="14A8C4"/>
          </a:solidFill>
          <a:ln xmlns:a="http://schemas.openxmlformats.org/drawingml/2006/main" w="9525">
            <a:solidFill>
              <a:srgbClr val="14A8C4"/>
            </a:solidFill>
            <a:prstDash val="solid"/>
          </a:ln>
        </p:spPr>
      </p:sp>
      <p:sp>
        <p:nvSpPr>
          <p:cNvPr id="6" name="">
            <a:extLst xmlns:a="http://schemas.openxmlformats.org/drawingml/2006/main">
              <a:ext uri="{FF2B5EF4-FFF2-40B4-BE49-F238E27FC236}">
                <a16:creationId xmlns:a16="http://schemas.microsoft.com/office/drawing/2014/main" id="{A708C030-5D79-42BB-92D4-BB52F47117DA}"/>
              </a:ext>
            </a:extLst>
          </p:cNvPr>
          <p:cNvSpPr>
            <a:spLocks xmlns:a="http://schemas.openxmlformats.org/drawingml/2006/main" noGrp="1"/>
          </p:cNvSpPr>
          <p:nvPr/>
        </p:nvSpPr>
        <p:spPr>
          <a:xfrm xmlns:a="http://schemas.openxmlformats.org/drawingml/2006/main">
            <a:off x="800100" y="15430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관찰 품질</a:t>
            </a:r>
          </a:p>
        </p:txBody>
      </p:sp>
      <p:sp>
        <p:nvSpPr>
          <p:cNvPr id="7" name="">
            <a:extLst xmlns:a="http://schemas.openxmlformats.org/drawingml/2006/main">
              <a:ext uri="{FF2B5EF4-FFF2-40B4-BE49-F238E27FC236}">
                <a16:creationId xmlns:a16="http://schemas.microsoft.com/office/drawing/2014/main" id="{4DCC39D8-A555-468F-8EE6-82D2D320CC7D}"/>
              </a:ext>
            </a:extLst>
          </p:cNvPr>
          <p:cNvSpPr>
            <a:spLocks xmlns:a="http://schemas.openxmlformats.org/drawingml/2006/main" noGrp="1"/>
          </p:cNvSpPr>
          <p:nvPr/>
        </p:nvSpPr>
        <p:spPr>
          <a:xfrm xmlns:a="http://schemas.openxmlformats.org/drawingml/2006/main">
            <a:off x="2381250" y="13811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검증된 앱·파일·현재 상태만 제공</a:t>
            </a:r>
          </a:p>
        </p:txBody>
      </p:sp>
      <p:sp>
        <p:nvSpPr>
          <p:cNvPr id="8" name="">
            <a:extLst xmlns:a="http://schemas.openxmlformats.org/drawingml/2006/main">
              <a:ext uri="{FF2B5EF4-FFF2-40B4-BE49-F238E27FC236}">
                <a16:creationId xmlns:a16="http://schemas.microsoft.com/office/drawing/2014/main" id="{06E60671-78EC-42BE-9217-53BE8C78B8F9}"/>
              </a:ext>
            </a:extLst>
          </p:cNvPr>
          <p:cNvSpPr>
            <a:spLocks xmlns:a="http://schemas.openxmlformats.org/drawingml/2006/main" noGrp="1"/>
          </p:cNvSpPr>
          <p:nvPr/>
        </p:nvSpPr>
        <p:spPr>
          <a:xfrm xmlns:a="http://schemas.openxmlformats.org/drawingml/2006/main">
            <a:off x="8096250" y="13811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A8C4"/>
                </a:solidFill>
                <a:latin typeface="NanumGothic"/>
                <a:ea typeface="NanumGothic"/>
                <a:cs typeface="NanumGothic"/>
              </a:defRPr>
            </a:pPr>
            <a:r>
              <a:rPr sz="1500" b="0">
                <a:solidFill>
                  <a:srgbClr val="14A8C4"/>
                </a:solidFill>
                <a:latin typeface="NanumGothic"/>
                <a:ea typeface="NanumGothic"/>
                <a:cs typeface="NanumGothic"/>
              </a:rPr>
              <a:t>계획 오류 감소</a:t>
            </a:r>
          </a:p>
        </p:txBody>
      </p:sp>
      <p:sp>
        <p:nvSpPr>
          <p:cNvPr id="9" name="">
            <a:extLst xmlns:a="http://schemas.openxmlformats.org/drawingml/2006/main">
              <a:ext uri="{FF2B5EF4-FFF2-40B4-BE49-F238E27FC236}">
                <a16:creationId xmlns:a16="http://schemas.microsoft.com/office/drawing/2014/main" id="{275559DB-81BE-4FF3-8190-91AE4D0109B1}"/>
              </a:ext>
            </a:extLst>
          </p:cNvPr>
          <p:cNvSpPr>
            <a:spLocks xmlns:a="http://schemas.openxmlformats.org/drawingml/2006/main" noGrp="1"/>
          </p:cNvSpPr>
          <p:nvPr/>
        </p:nvSpPr>
        <p:spPr>
          <a:xfrm xmlns:a="http://schemas.openxmlformats.org/drawingml/2006/main">
            <a:off x="2381250" y="204787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0" name="">
            <a:extLst xmlns:a="http://schemas.openxmlformats.org/drawingml/2006/main">
              <a:ext uri="{FF2B5EF4-FFF2-40B4-BE49-F238E27FC236}">
                <a16:creationId xmlns:a16="http://schemas.microsoft.com/office/drawing/2014/main" id="{D87D81D1-27E9-4829-AE41-7BFA8D8B6BD4}"/>
              </a:ext>
            </a:extLst>
          </p:cNvPr>
          <p:cNvSpPr>
            <a:spLocks xmlns:a="http://schemas.openxmlformats.org/drawingml/2006/main" noGrp="1"/>
          </p:cNvSpPr>
          <p:nvPr/>
        </p:nvSpPr>
        <p:spPr>
          <a:xfrm xmlns:a="http://schemas.openxmlformats.org/drawingml/2006/main">
            <a:off x="704850" y="2390775"/>
            <a:ext cx="1381125" cy="323850"/>
          </a:xfrm>
          <a:prstGeom xmlns:a="http://schemas.openxmlformats.org/drawingml/2006/main" prst="roundRect">
            <a:avLst>
              <a:gd name="adj" fmla="val 50000"/>
            </a:avLst>
          </a:prstGeom>
          <a:solidFill xmlns:a="http://schemas.openxmlformats.org/drawingml/2006/main">
            <a:srgbClr val="173A68"/>
          </a:solidFill>
          <a:ln xmlns:a="http://schemas.openxmlformats.org/drawingml/2006/main" w="9525">
            <a:solidFill>
              <a:srgbClr val="173A68"/>
            </a:solidFill>
            <a:prstDash val="solid"/>
          </a:ln>
        </p:spPr>
      </p:sp>
      <p:sp>
        <p:nvSpPr>
          <p:cNvPr id="11" name="">
            <a:extLst xmlns:a="http://schemas.openxmlformats.org/drawingml/2006/main">
              <a:ext uri="{FF2B5EF4-FFF2-40B4-BE49-F238E27FC236}">
                <a16:creationId xmlns:a16="http://schemas.microsoft.com/office/drawing/2014/main" id="{8D26A573-CEF1-456C-A891-A32D8B1683A5}"/>
              </a:ext>
            </a:extLst>
          </p:cNvPr>
          <p:cNvSpPr>
            <a:spLocks xmlns:a="http://schemas.openxmlformats.org/drawingml/2006/main" noGrp="1"/>
          </p:cNvSpPr>
          <p:nvPr/>
        </p:nvSpPr>
        <p:spPr>
          <a:xfrm xmlns:a="http://schemas.openxmlformats.org/drawingml/2006/main">
            <a:off x="800100" y="24384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행동 형식</a:t>
            </a:r>
          </a:p>
        </p:txBody>
      </p:sp>
      <p:sp>
        <p:nvSpPr>
          <p:cNvPr id="12" name="">
            <a:extLst xmlns:a="http://schemas.openxmlformats.org/drawingml/2006/main">
              <a:ext uri="{FF2B5EF4-FFF2-40B4-BE49-F238E27FC236}">
                <a16:creationId xmlns:a16="http://schemas.microsoft.com/office/drawing/2014/main" id="{2F6771B8-D653-40CB-83AE-178B1C70DA0A}"/>
              </a:ext>
            </a:extLst>
          </p:cNvPr>
          <p:cNvSpPr>
            <a:spLocks xmlns:a="http://schemas.openxmlformats.org/drawingml/2006/main" noGrp="1"/>
          </p:cNvSpPr>
          <p:nvPr/>
        </p:nvSpPr>
        <p:spPr>
          <a:xfrm xmlns:a="http://schemas.openxmlformats.org/drawingml/2006/main">
            <a:off x="2381250" y="227647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자유 명령 대신 구조화된 기능과 인자</a:t>
            </a:r>
          </a:p>
        </p:txBody>
      </p:sp>
      <p:sp>
        <p:nvSpPr>
          <p:cNvPr id="13" name="">
            <a:extLst xmlns:a="http://schemas.openxmlformats.org/drawingml/2006/main">
              <a:ext uri="{FF2B5EF4-FFF2-40B4-BE49-F238E27FC236}">
                <a16:creationId xmlns:a16="http://schemas.microsoft.com/office/drawing/2014/main" id="{8A3F2D7A-7CD1-4322-9FD9-C2C530A4F8AC}"/>
              </a:ext>
            </a:extLst>
          </p:cNvPr>
          <p:cNvSpPr>
            <a:spLocks xmlns:a="http://schemas.openxmlformats.org/drawingml/2006/main" noGrp="1"/>
          </p:cNvSpPr>
          <p:nvPr/>
        </p:nvSpPr>
        <p:spPr>
          <a:xfrm xmlns:a="http://schemas.openxmlformats.org/drawingml/2006/main">
            <a:off x="8096250" y="227647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3A68"/>
                </a:solidFill>
                <a:latin typeface="NanumGothic"/>
                <a:ea typeface="NanumGothic"/>
                <a:cs typeface="NanumGothic"/>
              </a:defRPr>
            </a:pPr>
            <a:r>
              <a:rPr sz="1500" b="0">
                <a:solidFill>
                  <a:srgbClr val="173A68"/>
                </a:solidFill>
                <a:latin typeface="NanumGothic"/>
                <a:ea typeface="NanumGothic"/>
                <a:cs typeface="NanumGothic"/>
              </a:rPr>
              <a:t>잘못된 도구 호출 감소</a:t>
            </a:r>
          </a:p>
        </p:txBody>
      </p:sp>
      <p:sp>
        <p:nvSpPr>
          <p:cNvPr id="14" name="">
            <a:extLst xmlns:a="http://schemas.openxmlformats.org/drawingml/2006/main">
              <a:ext uri="{FF2B5EF4-FFF2-40B4-BE49-F238E27FC236}">
                <a16:creationId xmlns:a16="http://schemas.microsoft.com/office/drawing/2014/main" id="{B3116875-735F-489E-BE61-CFE710BE66F9}"/>
              </a:ext>
            </a:extLst>
          </p:cNvPr>
          <p:cNvSpPr>
            <a:spLocks xmlns:a="http://schemas.openxmlformats.org/drawingml/2006/main" noGrp="1"/>
          </p:cNvSpPr>
          <p:nvPr/>
        </p:nvSpPr>
        <p:spPr>
          <a:xfrm xmlns:a="http://schemas.openxmlformats.org/drawingml/2006/main">
            <a:off x="2381250" y="294322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5" name="">
            <a:extLst xmlns:a="http://schemas.openxmlformats.org/drawingml/2006/main">
              <a:ext uri="{FF2B5EF4-FFF2-40B4-BE49-F238E27FC236}">
                <a16:creationId xmlns:a16="http://schemas.microsoft.com/office/drawing/2014/main" id="{2E5ABAE4-FB26-4C3E-9AF9-1BFFC65B6A94}"/>
              </a:ext>
            </a:extLst>
          </p:cNvPr>
          <p:cNvSpPr>
            <a:spLocks xmlns:a="http://schemas.openxmlformats.org/drawingml/2006/main" noGrp="1"/>
          </p:cNvSpPr>
          <p:nvPr/>
        </p:nvSpPr>
        <p:spPr>
          <a:xfrm xmlns:a="http://schemas.openxmlformats.org/drawingml/2006/main">
            <a:off x="704850" y="3286125"/>
            <a:ext cx="1381125" cy="323850"/>
          </a:xfrm>
          <a:prstGeom xmlns:a="http://schemas.openxmlformats.org/drawingml/2006/main" prst="roundRect">
            <a:avLst>
              <a:gd name="adj" fmla="val 50000"/>
            </a:avLst>
          </a:prstGeom>
          <a:solidFill xmlns:a="http://schemas.openxmlformats.org/drawingml/2006/main">
            <a:srgbClr val="21A66B"/>
          </a:solidFill>
          <a:ln xmlns:a="http://schemas.openxmlformats.org/drawingml/2006/main" w="9525">
            <a:solidFill>
              <a:srgbClr val="21A66B"/>
            </a:solidFill>
            <a:prstDash val="solid"/>
          </a:ln>
        </p:spPr>
      </p:sp>
      <p:sp>
        <p:nvSpPr>
          <p:cNvPr id="16" name="">
            <a:extLst xmlns:a="http://schemas.openxmlformats.org/drawingml/2006/main">
              <a:ext uri="{FF2B5EF4-FFF2-40B4-BE49-F238E27FC236}">
                <a16:creationId xmlns:a16="http://schemas.microsoft.com/office/drawing/2014/main" id="{BDAF4035-D0F5-4525-B028-214CA0F69631}"/>
              </a:ext>
            </a:extLst>
          </p:cNvPr>
          <p:cNvSpPr>
            <a:spLocks xmlns:a="http://schemas.openxmlformats.org/drawingml/2006/main" noGrp="1"/>
          </p:cNvSpPr>
          <p:nvPr/>
        </p:nvSpPr>
        <p:spPr>
          <a:xfrm xmlns:a="http://schemas.openxmlformats.org/drawingml/2006/main">
            <a:off x="800100" y="33337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실행 피드백</a:t>
            </a:r>
          </a:p>
        </p:txBody>
      </p:sp>
      <p:sp>
        <p:nvSpPr>
          <p:cNvPr id="17" name="">
            <a:extLst xmlns:a="http://schemas.openxmlformats.org/drawingml/2006/main">
              <a:ext uri="{FF2B5EF4-FFF2-40B4-BE49-F238E27FC236}">
                <a16:creationId xmlns:a16="http://schemas.microsoft.com/office/drawing/2014/main" id="{E1314C5C-EE1C-4A92-9114-795D504D3D5A}"/>
              </a:ext>
            </a:extLst>
          </p:cNvPr>
          <p:cNvSpPr>
            <a:spLocks xmlns:a="http://schemas.openxmlformats.org/drawingml/2006/main" noGrp="1"/>
          </p:cNvSpPr>
          <p:nvPr/>
        </p:nvSpPr>
        <p:spPr>
          <a:xfrm xmlns:a="http://schemas.openxmlformats.org/drawingml/2006/main">
            <a:off x="2381250" y="31718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행동 뒤 실제 운영체제 상태 관찰</a:t>
            </a:r>
          </a:p>
        </p:txBody>
      </p:sp>
      <p:sp>
        <p:nvSpPr>
          <p:cNvPr id="18" name="">
            <a:extLst xmlns:a="http://schemas.openxmlformats.org/drawingml/2006/main">
              <a:ext uri="{FF2B5EF4-FFF2-40B4-BE49-F238E27FC236}">
                <a16:creationId xmlns:a16="http://schemas.microsoft.com/office/drawing/2014/main" id="{B2FAA566-CA9B-452C-A473-A368B0E776B8}"/>
              </a:ext>
            </a:extLst>
          </p:cNvPr>
          <p:cNvSpPr>
            <a:spLocks xmlns:a="http://schemas.openxmlformats.org/drawingml/2006/main" noGrp="1"/>
          </p:cNvSpPr>
          <p:nvPr/>
        </p:nvSpPr>
        <p:spPr>
          <a:xfrm xmlns:a="http://schemas.openxmlformats.org/drawingml/2006/main">
            <a:off x="8096250" y="31718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1A66B"/>
                </a:solidFill>
                <a:latin typeface="NanumGothic"/>
                <a:ea typeface="NanumGothic"/>
                <a:cs typeface="NanumGothic"/>
              </a:defRPr>
            </a:pPr>
            <a:r>
              <a:rPr sz="1500" b="0">
                <a:solidFill>
                  <a:srgbClr val="21A66B"/>
                </a:solidFill>
                <a:latin typeface="NanumGothic"/>
                <a:ea typeface="NanumGothic"/>
                <a:cs typeface="NanumGothic"/>
              </a:rPr>
              <a:t>중간 오류 발견</a:t>
            </a:r>
          </a:p>
        </p:txBody>
      </p:sp>
      <p:sp>
        <p:nvSpPr>
          <p:cNvPr id="19" name="">
            <a:extLst xmlns:a="http://schemas.openxmlformats.org/drawingml/2006/main">
              <a:ext uri="{FF2B5EF4-FFF2-40B4-BE49-F238E27FC236}">
                <a16:creationId xmlns:a16="http://schemas.microsoft.com/office/drawing/2014/main" id="{E17B58BC-726E-402F-A6C3-B79790379123}"/>
              </a:ext>
            </a:extLst>
          </p:cNvPr>
          <p:cNvSpPr>
            <a:spLocks xmlns:a="http://schemas.openxmlformats.org/drawingml/2006/main" noGrp="1"/>
          </p:cNvSpPr>
          <p:nvPr/>
        </p:nvSpPr>
        <p:spPr>
          <a:xfrm xmlns:a="http://schemas.openxmlformats.org/drawingml/2006/main">
            <a:off x="2381250" y="383857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0" name="">
            <a:extLst xmlns:a="http://schemas.openxmlformats.org/drawingml/2006/main">
              <a:ext uri="{FF2B5EF4-FFF2-40B4-BE49-F238E27FC236}">
                <a16:creationId xmlns:a16="http://schemas.microsoft.com/office/drawing/2014/main" id="{11453E44-CFDA-4BD4-B703-B092FE2F664E}"/>
              </a:ext>
            </a:extLst>
          </p:cNvPr>
          <p:cNvSpPr>
            <a:spLocks xmlns:a="http://schemas.openxmlformats.org/drawingml/2006/main" noGrp="1"/>
          </p:cNvSpPr>
          <p:nvPr/>
        </p:nvSpPr>
        <p:spPr>
          <a:xfrm xmlns:a="http://schemas.openxmlformats.org/drawingml/2006/main">
            <a:off x="704850" y="4181475"/>
            <a:ext cx="1381125" cy="323850"/>
          </a:xfrm>
          <a:prstGeom xmlns:a="http://schemas.openxmlformats.org/drawingml/2006/main" prst="roundRect">
            <a:avLst>
              <a:gd name="adj" fmla="val 50000"/>
            </a:avLst>
          </a:prstGeom>
          <a:solidFill xmlns:a="http://schemas.openxmlformats.org/drawingml/2006/main">
            <a:srgbClr val="F2A72A"/>
          </a:solidFill>
          <a:ln xmlns:a="http://schemas.openxmlformats.org/drawingml/2006/main" w="9525">
            <a:solidFill>
              <a:srgbClr val="F2A72A"/>
            </a:solidFill>
            <a:prstDash val="solid"/>
          </a:ln>
        </p:spPr>
      </p:sp>
      <p:sp>
        <p:nvSpPr>
          <p:cNvPr id="21" name="">
            <a:extLst xmlns:a="http://schemas.openxmlformats.org/drawingml/2006/main">
              <a:ext uri="{FF2B5EF4-FFF2-40B4-BE49-F238E27FC236}">
                <a16:creationId xmlns:a16="http://schemas.microsoft.com/office/drawing/2014/main" id="{53B17B56-9487-4279-AF67-E10DD01FF8A3}"/>
              </a:ext>
            </a:extLst>
          </p:cNvPr>
          <p:cNvSpPr>
            <a:spLocks xmlns:a="http://schemas.openxmlformats.org/drawingml/2006/main" noGrp="1"/>
          </p:cNvSpPr>
          <p:nvPr/>
        </p:nvSpPr>
        <p:spPr>
          <a:xfrm xmlns:a="http://schemas.openxmlformats.org/drawingml/2006/main">
            <a:off x="800100" y="42291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독립 검증</a:t>
            </a:r>
          </a:p>
        </p:txBody>
      </p:sp>
      <p:sp>
        <p:nvSpPr>
          <p:cNvPr id="22" name="">
            <a:extLst xmlns:a="http://schemas.openxmlformats.org/drawingml/2006/main">
              <a:ext uri="{FF2B5EF4-FFF2-40B4-BE49-F238E27FC236}">
                <a16:creationId xmlns:a16="http://schemas.microsoft.com/office/drawing/2014/main" id="{E23CF0FB-BBB6-41DB-B00D-0A57D7928D50}"/>
              </a:ext>
            </a:extLst>
          </p:cNvPr>
          <p:cNvSpPr>
            <a:spLocks xmlns:a="http://schemas.openxmlformats.org/drawingml/2006/main" noGrp="1"/>
          </p:cNvSpPr>
          <p:nvPr/>
        </p:nvSpPr>
        <p:spPr>
          <a:xfrm xmlns:a="http://schemas.openxmlformats.org/drawingml/2006/main">
            <a:off x="2381250" y="406717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실행자의 성공 보고와 별도 판정</a:t>
            </a:r>
          </a:p>
        </p:txBody>
      </p:sp>
      <p:sp>
        <p:nvSpPr>
          <p:cNvPr id="23" name="">
            <a:extLst xmlns:a="http://schemas.openxmlformats.org/drawingml/2006/main">
              <a:ext uri="{FF2B5EF4-FFF2-40B4-BE49-F238E27FC236}">
                <a16:creationId xmlns:a16="http://schemas.microsoft.com/office/drawing/2014/main" id="{C20B043C-1E1A-47F1-9EB7-29F984D0F20C}"/>
              </a:ext>
            </a:extLst>
          </p:cNvPr>
          <p:cNvSpPr>
            <a:spLocks xmlns:a="http://schemas.openxmlformats.org/drawingml/2006/main" noGrp="1"/>
          </p:cNvSpPr>
          <p:nvPr/>
        </p:nvSpPr>
        <p:spPr>
          <a:xfrm xmlns:a="http://schemas.openxmlformats.org/drawingml/2006/main">
            <a:off x="8096250" y="406717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2A72A"/>
                </a:solidFill>
                <a:latin typeface="NanumGothic"/>
                <a:ea typeface="NanumGothic"/>
                <a:cs typeface="NanumGothic"/>
              </a:defRPr>
            </a:pPr>
            <a:r>
              <a:rPr sz="1500" b="0">
                <a:solidFill>
                  <a:srgbClr val="F2A72A"/>
                </a:solidFill>
                <a:latin typeface="NanumGothic"/>
                <a:ea typeface="NanumGothic"/>
                <a:cs typeface="NanumGothic"/>
              </a:rPr>
              <a:t>거짓 성공 감소</a:t>
            </a:r>
          </a:p>
        </p:txBody>
      </p:sp>
      <p:sp>
        <p:nvSpPr>
          <p:cNvPr id="24" name="">
            <a:extLst xmlns:a="http://schemas.openxmlformats.org/drawingml/2006/main">
              <a:ext uri="{FF2B5EF4-FFF2-40B4-BE49-F238E27FC236}">
                <a16:creationId xmlns:a16="http://schemas.microsoft.com/office/drawing/2014/main" id="{408889DA-D520-46F9-A3A1-D9BB73DB97D0}"/>
              </a:ext>
            </a:extLst>
          </p:cNvPr>
          <p:cNvSpPr>
            <a:spLocks xmlns:a="http://schemas.openxmlformats.org/drawingml/2006/main" noGrp="1"/>
          </p:cNvSpPr>
          <p:nvPr/>
        </p:nvSpPr>
        <p:spPr>
          <a:xfrm xmlns:a="http://schemas.openxmlformats.org/drawingml/2006/main">
            <a:off x="2381250" y="473392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5" name="">
            <a:extLst xmlns:a="http://schemas.openxmlformats.org/drawingml/2006/main">
              <a:ext uri="{FF2B5EF4-FFF2-40B4-BE49-F238E27FC236}">
                <a16:creationId xmlns:a16="http://schemas.microsoft.com/office/drawing/2014/main" id="{E3EE1AAF-9831-48A6-B746-D9FA9E3761B7}"/>
              </a:ext>
            </a:extLst>
          </p:cNvPr>
          <p:cNvSpPr>
            <a:spLocks xmlns:a="http://schemas.openxmlformats.org/drawingml/2006/main" noGrp="1"/>
          </p:cNvSpPr>
          <p:nvPr/>
        </p:nvSpPr>
        <p:spPr>
          <a:xfrm xmlns:a="http://schemas.openxmlformats.org/drawingml/2006/main">
            <a:off x="704850" y="5076825"/>
            <a:ext cx="1381125" cy="323850"/>
          </a:xfrm>
          <a:prstGeom xmlns:a="http://schemas.openxmlformats.org/drawingml/2006/main" prst="roundRect">
            <a:avLst>
              <a:gd name="adj" fmla="val 50000"/>
            </a:avLst>
          </a:prstGeom>
          <a:solidFill xmlns:a="http://schemas.openxmlformats.org/drawingml/2006/main">
            <a:srgbClr val="E45757"/>
          </a:solidFill>
          <a:ln xmlns:a="http://schemas.openxmlformats.org/drawingml/2006/main" w="9525">
            <a:solidFill>
              <a:srgbClr val="E45757"/>
            </a:solidFill>
            <a:prstDash val="solid"/>
          </a:ln>
        </p:spPr>
      </p:sp>
      <p:sp>
        <p:nvSpPr>
          <p:cNvPr id="26" name="">
            <a:extLst xmlns:a="http://schemas.openxmlformats.org/drawingml/2006/main">
              <a:ext uri="{FF2B5EF4-FFF2-40B4-BE49-F238E27FC236}">
                <a16:creationId xmlns:a16="http://schemas.microsoft.com/office/drawing/2014/main" id="{BAED4AA2-AC21-4604-979E-D37602B1CD2C}"/>
              </a:ext>
            </a:extLst>
          </p:cNvPr>
          <p:cNvSpPr>
            <a:spLocks xmlns:a="http://schemas.openxmlformats.org/drawingml/2006/main" noGrp="1"/>
          </p:cNvSpPr>
          <p:nvPr/>
        </p:nvSpPr>
        <p:spPr>
          <a:xfrm xmlns:a="http://schemas.openxmlformats.org/drawingml/2006/main">
            <a:off x="800100" y="51244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제한된 복구</a:t>
            </a:r>
          </a:p>
        </p:txBody>
      </p:sp>
      <p:sp>
        <p:nvSpPr>
          <p:cNvPr id="27" name="">
            <a:extLst xmlns:a="http://schemas.openxmlformats.org/drawingml/2006/main">
              <a:ext uri="{FF2B5EF4-FFF2-40B4-BE49-F238E27FC236}">
                <a16:creationId xmlns:a16="http://schemas.microsoft.com/office/drawing/2014/main" id="{06D6D994-0202-418D-BACE-10DDA2EC9E5E}"/>
              </a:ext>
            </a:extLst>
          </p:cNvPr>
          <p:cNvSpPr>
            <a:spLocks xmlns:a="http://schemas.openxmlformats.org/drawingml/2006/main" noGrp="1"/>
          </p:cNvSpPr>
          <p:nvPr/>
        </p:nvSpPr>
        <p:spPr>
          <a:xfrm xmlns:a="http://schemas.openxmlformats.org/drawingml/2006/main">
            <a:off x="2381250" y="49625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오류 종류에 맞춘 재시도와 재계획</a:t>
            </a:r>
          </a:p>
        </p:txBody>
      </p:sp>
      <p:sp>
        <p:nvSpPr>
          <p:cNvPr id="28" name="">
            <a:extLst xmlns:a="http://schemas.openxmlformats.org/drawingml/2006/main">
              <a:ext uri="{FF2B5EF4-FFF2-40B4-BE49-F238E27FC236}">
                <a16:creationId xmlns:a16="http://schemas.microsoft.com/office/drawing/2014/main" id="{6E5FB51F-418C-4F8F-AD4D-4932BDD6D917}"/>
              </a:ext>
            </a:extLst>
          </p:cNvPr>
          <p:cNvSpPr>
            <a:spLocks xmlns:a="http://schemas.openxmlformats.org/drawingml/2006/main" noGrp="1"/>
          </p:cNvSpPr>
          <p:nvPr/>
        </p:nvSpPr>
        <p:spPr>
          <a:xfrm xmlns:a="http://schemas.openxmlformats.org/drawingml/2006/main">
            <a:off x="8096250" y="49625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45757"/>
                </a:solidFill>
                <a:latin typeface="NanumGothic"/>
                <a:ea typeface="NanumGothic"/>
                <a:cs typeface="NanumGothic"/>
              </a:defRPr>
            </a:pPr>
            <a:r>
              <a:rPr sz="1500" b="0">
                <a:solidFill>
                  <a:srgbClr val="E45757"/>
                </a:solidFill>
                <a:latin typeface="NanumGothic"/>
                <a:ea typeface="NanumGothic"/>
                <a:cs typeface="NanumGothic"/>
              </a:rPr>
              <a:t>복구율 증가, 비용 증가</a:t>
            </a:r>
          </a:p>
        </p:txBody>
      </p:sp>
      <p:sp>
        <p:nvSpPr>
          <p:cNvPr id="29" name="">
            <a:extLst xmlns:a="http://schemas.openxmlformats.org/drawingml/2006/main">
              <a:ext uri="{FF2B5EF4-FFF2-40B4-BE49-F238E27FC236}">
                <a16:creationId xmlns:a16="http://schemas.microsoft.com/office/drawing/2014/main" id="{48FBCD31-D420-4BCE-8A38-3A6AC86367C1}"/>
              </a:ext>
            </a:extLst>
          </p:cNvPr>
          <p:cNvSpPr>
            <a:spLocks xmlns:a="http://schemas.openxmlformats.org/drawingml/2006/main" noGrp="1"/>
          </p:cNvSpPr>
          <p:nvPr/>
        </p:nvSpPr>
        <p:spPr>
          <a:xfrm xmlns:a="http://schemas.openxmlformats.org/drawingml/2006/main">
            <a:off x="78105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68"/>
                </a:solidFill>
                <a:latin typeface="NanumGothic"/>
                <a:ea typeface="NanumGothic"/>
                <a:cs typeface="NanumGothic"/>
              </a:defRPr>
            </a:pPr>
            <a:r>
              <a:rPr sz="1500" b="1">
                <a:solidFill>
                  <a:srgbClr val="173A68"/>
                </a:solidFill>
                <a:latin typeface="NanumGothic"/>
                <a:ea typeface="NanumGothic"/>
                <a:cs typeface="NanumGothic"/>
              </a:rPr>
              <a:t>모델의 가중치는 그대로지만, 관찰·행동·피드백의 품질이 실제 작업 성공률을 바꾼다.</a:t>
            </a:r>
          </a:p>
        </p:txBody>
      </p:sp>
    </p:spTree>
    <p:extLst>
      <p:ext uri="{BB962C8B-B14F-4D97-AF65-F5344CB8AC3E}">
        <p14:creationId xmlns:p14="http://schemas.microsoft.com/office/powerpoint/2010/main" val="42114273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A837F8-1396-49F1-B033-5D40AA322B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166611-F463-448D-AA8D-564426CBAE32}"/>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선행 연구와 JARVIS-PC의 위치</a:t>
            </a:r>
          </a:p>
        </p:txBody>
      </p:sp>
      <p:sp>
        <p:nvSpPr>
          <p:cNvPr id="3" name="">
            <a:extLst xmlns:a="http://schemas.openxmlformats.org/drawingml/2006/main">
              <a:ext uri="{FF2B5EF4-FFF2-40B4-BE49-F238E27FC236}">
                <a16:creationId xmlns:a16="http://schemas.microsoft.com/office/drawing/2014/main" id="{A43C01A1-FFF5-4AD2-B5A9-40DF27050C79}"/>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11</a:t>
            </a:r>
          </a:p>
        </p:txBody>
      </p:sp>
      <p:sp>
        <p:nvSpPr>
          <p:cNvPr id="4" name="">
            <a:extLst xmlns:a="http://schemas.openxmlformats.org/drawingml/2006/main">
              <a:ext uri="{FF2B5EF4-FFF2-40B4-BE49-F238E27FC236}">
                <a16:creationId xmlns:a16="http://schemas.microsoft.com/office/drawing/2014/main" id="{4F0A4CA5-3788-4127-B999-51809CE7257A}"/>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graphicFrame>
        <p:nvGraphicFramePr>
          <p:cNvPr id="11" name=""/>
          <p:cNvGraphicFramePr/>
          <p:nvPr/>
        </p:nvGraphicFramePr>
        <p:xfrm>
          <a:off xmlns:a="http://schemas.openxmlformats.org/drawingml/2006/main" x="609600" y="1285875"/>
          <a:ext xmlns:a="http://schemas.openxmlformats.org/drawingml/2006/main" cx="10972800" cy="4381500"/>
        </p:xfrm>
        <a:graphic xmlns:a="http://schemas.openxmlformats.org/drawingml/2006/main">
          <a:graphicData uri="http://schemas.openxmlformats.org/drawingml/2006/table">
            <a:tbl>
              <a:tblPr/>
              <a:tblGrid>
                <a:gridCol w="2476500"/>
                <a:gridCol w="4476750"/>
                <a:gridCol w="4019550"/>
              </a:tblGrid>
              <a:tr h="625929">
                <a:tc>
                  <a:txBody>
                    <a:bodyPr>
                      <a:normAutofit/>
                    </a:bodyPr>
                    <a:lstStyle/>
                    <a:p>
                      <a:r>
                        <a:rPr sz="1125" b="1">
                          <a:solidFill>
                            <a:srgbClr val="FFFFFF"/>
                          </a:solidFill>
                          <a:latin typeface="NanumGothic"/>
                          <a:ea typeface="NanumGothic"/>
                          <a:cs typeface="NanumGothic"/>
                        </a:rPr>
                        <a:t>연구</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확인된 원리</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JARVIS-PC에 적용한 부분</a:t>
                      </a:r>
                    </a:p>
                  </a:txBody>
                  <a:tcPr marL="91440" marR="91440" marT="45720" marB="45720">
                    <a:solidFill>
                      <a:srgbClr val="173A68"/>
                    </a:solidFill>
                  </a:tcPr>
                </a:tc>
              </a:tr>
              <a:tr h="625929">
                <a:tc>
                  <a:txBody>
                    <a:bodyPr>
                      <a:normAutofit/>
                    </a:bodyPr>
                    <a:lstStyle/>
                    <a:p>
                      <a:r>
                        <a:rPr sz="1050" b="0">
                          <a:solidFill>
                            <a:srgbClr val="172033"/>
                          </a:solidFill>
                          <a:latin typeface="NanumGothic"/>
                          <a:ea typeface="NanumGothic"/>
                          <a:cs typeface="NanumGothic"/>
                        </a:rPr>
                        <a:t>ReAct (2023)</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추론과 행동을 번갈아 수행</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관찰 후 계획 갱신</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Voyager (2023)</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성공 절차를 스킬로 저장·재사용</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향후 검토된 절차 재사용</a:t>
                      </a:r>
                    </a:p>
                  </a:txBody>
                  <a:tcPr marL="91440" marR="91440" marT="45720" marB="45720">
                    <a:solidFill>
                      <a:srgbClr val="F7F9FC"/>
                    </a:solidFill>
                  </a:tcPr>
                </a:tc>
              </a:tr>
              <a:tr h="625929">
                <a:tc>
                  <a:txBody>
                    <a:bodyPr>
                      <a:normAutofit/>
                    </a:bodyPr>
                    <a:lstStyle/>
                    <a:p>
                      <a:r>
                        <a:rPr sz="1050" b="0">
                          <a:solidFill>
                            <a:srgbClr val="172033"/>
                          </a:solidFill>
                          <a:latin typeface="NanumGothic"/>
                          <a:ea typeface="NanumGothic"/>
                          <a:cs typeface="NanumGothic"/>
                        </a:rPr>
                        <a:t>SWE-agent (2024)</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에이전트용 인터페이스가 성능에 영향</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구조화된 기능·도구 경계</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OSWorld / WAA (2024)</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실제 PC 상태와 초기 환경으로 평가</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Windows 작업·snapshot 실험</a:t>
                      </a:r>
                    </a:p>
                  </a:txBody>
                  <a:tcPr marL="91440" marR="91440" marT="45720" marB="45720">
                    <a:solidFill>
                      <a:srgbClr val="F7F9FC"/>
                    </a:solidFill>
                  </a:tcPr>
                </a:tc>
              </a:tr>
              <a:tr h="625929">
                <a:tc>
                  <a:txBody>
                    <a:bodyPr>
                      <a:normAutofit/>
                    </a:bodyPr>
                    <a:lstStyle/>
                    <a:p>
                      <a:r>
                        <a:rPr sz="1050" b="0">
                          <a:solidFill>
                            <a:srgbClr val="172033"/>
                          </a:solidFill>
                          <a:latin typeface="NanumGothic"/>
                          <a:ea typeface="NanumGothic"/>
                          <a:cs typeface="NanumGothic"/>
                        </a:rPr>
                        <a:t>OS-Harm (2025)</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오용·주입·모델 오작동을 분리 평가</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위험 정책과 안전 지표</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OSWorld 2.0 (2026)</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긴 작업에서 제약 기억·검증이 어려움</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결과 검증과 제한된 복구</a:t>
                      </a:r>
                    </a:p>
                  </a:txBody>
                  <a:tcPr marL="91440" marR="91440" marT="45720" marB="45720">
                    <a:solidFill>
                      <a:srgbClr val="F7F9FC"/>
                    </a:solidFill>
                  </a:tcPr>
                </a:tc>
              </a:tr>
            </a:tbl>
          </a:graphicData>
        </a:graphic>
      </p:graphicFrame>
      <p:sp>
        <p:nvSpPr>
          <p:cNvPr id="6" name="">
            <a:extLst xmlns:a="http://schemas.openxmlformats.org/drawingml/2006/main">
              <a:ext uri="{FF2B5EF4-FFF2-40B4-BE49-F238E27FC236}">
                <a16:creationId xmlns:a16="http://schemas.microsoft.com/office/drawing/2014/main" id="{292F2B5A-D57C-45BC-A9E2-6596F969BBF7}"/>
              </a:ext>
            </a:extLst>
          </p:cNvPr>
          <p:cNvSpPr>
            <a:spLocks xmlns:a="http://schemas.openxmlformats.org/drawingml/2006/main" noGrp="1"/>
          </p:cNvSpPr>
          <p:nvPr/>
        </p:nvSpPr>
        <p:spPr>
          <a:xfrm xmlns:a="http://schemas.openxmlformats.org/drawingml/2006/main">
            <a:off x="714375" y="59055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3A68"/>
                </a:solidFill>
                <a:latin typeface="NanumGothic"/>
                <a:ea typeface="NanumGothic"/>
                <a:cs typeface="NanumGothic"/>
              </a:defRPr>
            </a:pPr>
            <a:r>
              <a:rPr sz="1425" b="1">
                <a:solidFill>
                  <a:srgbClr val="173A68"/>
                </a:solidFill>
                <a:latin typeface="NanumGothic"/>
                <a:ea typeface="NanumGothic"/>
                <a:cs typeface="NanumGothic"/>
              </a:rPr>
              <a:t>선행 연구는 각 설계 원리를 뒷받침하지만, JARVIS-PC의 우월성은 자체 실험으로 검증해야 한다.</a:t>
            </a:r>
          </a:p>
        </p:txBody>
      </p:sp>
    </p:spTree>
    <p:extLst>
      <p:ext uri="{BB962C8B-B14F-4D97-AF65-F5344CB8AC3E}">
        <p14:creationId xmlns:p14="http://schemas.microsoft.com/office/powerpoint/2010/main" val="155227848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0E596A4-A084-4A2F-809C-60399650694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02E8C9-42C5-4127-9305-78F8E785661F}"/>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효율성은 성공률과 비용을 함께 본다</a:t>
            </a:r>
          </a:p>
        </p:txBody>
      </p:sp>
      <p:sp>
        <p:nvSpPr>
          <p:cNvPr id="3" name="">
            <a:extLst xmlns:a="http://schemas.openxmlformats.org/drawingml/2006/main">
              <a:ext uri="{FF2B5EF4-FFF2-40B4-BE49-F238E27FC236}">
                <a16:creationId xmlns:a16="http://schemas.microsoft.com/office/drawing/2014/main" id="{C1FF5C5B-C7E2-4603-B21B-E46EB7125E56}"/>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12</a:t>
            </a:r>
          </a:p>
        </p:txBody>
      </p:sp>
      <p:sp>
        <p:nvSpPr>
          <p:cNvPr id="4" name="">
            <a:extLst xmlns:a="http://schemas.openxmlformats.org/drawingml/2006/main">
              <a:ext uri="{FF2B5EF4-FFF2-40B4-BE49-F238E27FC236}">
                <a16:creationId xmlns:a16="http://schemas.microsoft.com/office/drawing/2014/main" id="{8FF80700-F3F0-443F-A114-A0719EAD66B4}"/>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F545160C-BE5B-477C-8BFA-63FC090AD939}"/>
              </a:ext>
            </a:extLst>
          </p:cNvPr>
          <p:cNvSpPr>
            <a:spLocks xmlns:a="http://schemas.openxmlformats.org/drawingml/2006/main" noGrp="1"/>
          </p:cNvSpPr>
          <p:nvPr/>
        </p:nvSpPr>
        <p:spPr>
          <a:xfrm xmlns:a="http://schemas.openxmlformats.org/drawingml/2006/main">
            <a:off x="742950" y="13811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A6475"/>
                </a:solidFill>
                <a:latin typeface="NanumGothic"/>
                <a:ea typeface="NanumGothic"/>
                <a:cs typeface="NanumGothic"/>
              </a:defRPr>
            </a:pPr>
            <a:r>
              <a:rPr sz="1425" b="1">
                <a:solidFill>
                  <a:srgbClr val="5A6475"/>
                </a:solidFill>
                <a:latin typeface="NanumGothic"/>
                <a:ea typeface="NanumGothic"/>
                <a:cs typeface="NanumGothic"/>
              </a:rPr>
              <a:t>현재 수집</a:t>
            </a:r>
          </a:p>
        </p:txBody>
      </p:sp>
      <p:sp>
        <p:nvSpPr>
          <p:cNvPr id="6" name="">
            <a:extLst xmlns:a="http://schemas.openxmlformats.org/drawingml/2006/main">
              <a:ext uri="{FF2B5EF4-FFF2-40B4-BE49-F238E27FC236}">
                <a16:creationId xmlns:a16="http://schemas.microsoft.com/office/drawing/2014/main" id="{9871C83B-A5F2-4D2A-B0F2-4C786A27C831}"/>
              </a:ext>
            </a:extLst>
          </p:cNvPr>
          <p:cNvSpPr>
            <a:spLocks xmlns:a="http://schemas.openxmlformats.org/drawingml/2006/main" noGrp="1"/>
          </p:cNvSpPr>
          <p:nvPr/>
        </p:nvSpPr>
        <p:spPr>
          <a:xfrm xmlns:a="http://schemas.openxmlformats.org/drawingml/2006/main">
            <a:off x="742950" y="1809750"/>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A68"/>
                </a:solidFill>
                <a:latin typeface="NanumGothic"/>
                <a:ea typeface="NanumGothic"/>
                <a:cs typeface="NanumGothic"/>
              </a:defRPr>
            </a:pPr>
            <a:r>
              <a:rPr sz="3150" b="1">
                <a:solidFill>
                  <a:srgbClr val="173A68"/>
                </a:solidFill>
                <a:latin typeface="NanumGothic"/>
                <a:ea typeface="NanumGothic"/>
                <a:cs typeface="NanumGothic"/>
              </a:rPr>
              <a:t>70 / 120 셀</a:t>
            </a:r>
          </a:p>
        </p:txBody>
      </p:sp>
      <p:sp>
        <p:nvSpPr>
          <p:cNvPr id="7" name="">
            <a:extLst xmlns:a="http://schemas.openxmlformats.org/drawingml/2006/main">
              <a:ext uri="{FF2B5EF4-FFF2-40B4-BE49-F238E27FC236}">
                <a16:creationId xmlns:a16="http://schemas.microsoft.com/office/drawing/2014/main" id="{497C5BF6-002D-43FC-8F94-82C37EC6FC15}"/>
              </a:ext>
            </a:extLst>
          </p:cNvPr>
          <p:cNvSpPr>
            <a:spLocks xmlns:a="http://schemas.openxmlformats.org/drawingml/2006/main" noGrp="1"/>
          </p:cNvSpPr>
          <p:nvPr/>
        </p:nvSpPr>
        <p:spPr>
          <a:xfrm xmlns:a="http://schemas.openxmlformats.org/drawingml/2006/main">
            <a:off x="742950" y="252412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4A8C4"/>
                </a:solidFill>
                <a:latin typeface="NanumGothic"/>
                <a:ea typeface="NanumGothic"/>
                <a:cs typeface="NanumGothic"/>
              </a:defRPr>
            </a:pPr>
            <a:r>
              <a:rPr sz="1500" b="1">
                <a:solidFill>
                  <a:srgbClr val="14A8C4"/>
                </a:solidFill>
                <a:latin typeface="NanumGothic"/>
                <a:ea typeface="NanumGothic"/>
                <a:cs typeface="NanumGothic"/>
              </a:rPr>
              <a:t>58.3% 수집 완료</a:t>
            </a:r>
          </a:p>
        </p:txBody>
      </p:sp>
      <p:sp>
        <p:nvSpPr>
          <p:cNvPr id="8" name="">
            <a:extLst xmlns:a="http://schemas.openxmlformats.org/drawingml/2006/main">
              <a:ext uri="{FF2B5EF4-FFF2-40B4-BE49-F238E27FC236}">
                <a16:creationId xmlns:a16="http://schemas.microsoft.com/office/drawing/2014/main" id="{50147462-06E6-48B7-9F85-B08C77A94FDE}"/>
              </a:ext>
            </a:extLst>
          </p:cNvPr>
          <p:cNvSpPr>
            <a:spLocks xmlns:a="http://schemas.openxmlformats.org/drawingml/2006/main" noGrp="1"/>
          </p:cNvSpPr>
          <p:nvPr/>
        </p:nvSpPr>
        <p:spPr>
          <a:xfrm xmlns:a="http://schemas.openxmlformats.org/drawingml/2006/main">
            <a:off x="742950" y="3095625"/>
            <a:ext cx="4191000" cy="266700"/>
          </a:xfrm>
          <a:prstGeom xmlns:a="http://schemas.openxmlformats.org/drawingml/2006/main" prst="roundRect">
            <a:avLst>
              <a:gd name="adj" fmla="val 50000"/>
            </a:avLst>
          </a:prstGeom>
          <a:solidFill xmlns:a="http://schemas.openxmlformats.org/drawingml/2006/main">
            <a:srgbClr val="E5EAF0"/>
          </a:solidFill>
          <a:ln xmlns:a="http://schemas.openxmlformats.org/drawingml/2006/main" w="9525">
            <a:solidFill>
              <a:srgbClr val="E5EAF0"/>
            </a:solidFill>
            <a:prstDash val="solid"/>
          </a:ln>
        </p:spPr>
      </p:sp>
      <p:sp>
        <p:nvSpPr>
          <p:cNvPr id="9" name="">
            <a:extLst xmlns:a="http://schemas.openxmlformats.org/drawingml/2006/main">
              <a:ext uri="{FF2B5EF4-FFF2-40B4-BE49-F238E27FC236}">
                <a16:creationId xmlns:a16="http://schemas.microsoft.com/office/drawing/2014/main" id="{75B3F6FB-1A77-4C02-B3BA-CD5B2207727E}"/>
              </a:ext>
            </a:extLst>
          </p:cNvPr>
          <p:cNvSpPr>
            <a:spLocks xmlns:a="http://schemas.openxmlformats.org/drawingml/2006/main" noGrp="1"/>
          </p:cNvSpPr>
          <p:nvPr/>
        </p:nvSpPr>
        <p:spPr>
          <a:xfrm xmlns:a="http://schemas.openxmlformats.org/drawingml/2006/main">
            <a:off x="742950" y="3095625"/>
            <a:ext cx="2447925" cy="266700"/>
          </a:xfrm>
          <a:prstGeom xmlns:a="http://schemas.openxmlformats.org/drawingml/2006/main" prst="roundRect">
            <a:avLst>
              <a:gd name="adj" fmla="val 50000"/>
            </a:avLst>
          </a:prstGeom>
          <a:solidFill xmlns:a="http://schemas.openxmlformats.org/drawingml/2006/main">
            <a:srgbClr val="14A8C4"/>
          </a:solidFill>
          <a:ln xmlns:a="http://schemas.openxmlformats.org/drawingml/2006/main" w="9525">
            <a:solidFill>
              <a:srgbClr val="14A8C4"/>
            </a:solidFill>
            <a:prstDash val="solid"/>
          </a:ln>
        </p:spPr>
      </p:sp>
      <p:sp>
        <p:nvSpPr>
          <p:cNvPr id="10" name="">
            <a:extLst xmlns:a="http://schemas.openxmlformats.org/drawingml/2006/main">
              <a:ext uri="{FF2B5EF4-FFF2-40B4-BE49-F238E27FC236}">
                <a16:creationId xmlns:a16="http://schemas.microsoft.com/office/drawing/2014/main" id="{736A68BB-D017-4F5C-BF06-BBFAE5E137FC}"/>
              </a:ext>
            </a:extLst>
          </p:cNvPr>
          <p:cNvSpPr>
            <a:spLocks xmlns:a="http://schemas.openxmlformats.org/drawingml/2006/main" noGrp="1"/>
          </p:cNvSpPr>
          <p:nvPr/>
        </p:nvSpPr>
        <p:spPr>
          <a:xfrm xmlns:a="http://schemas.openxmlformats.org/drawingml/2006/main">
            <a:off x="742950" y="354330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현재 PC에서 가능한 70셀 완료</a:t>
            </a:r>
          </a:p>
        </p:txBody>
      </p:sp>
      <p:sp>
        <p:nvSpPr>
          <p:cNvPr id="11" name="">
            <a:extLst xmlns:a="http://schemas.openxmlformats.org/drawingml/2006/main">
              <a:ext uri="{FF2B5EF4-FFF2-40B4-BE49-F238E27FC236}">
                <a16:creationId xmlns:a16="http://schemas.microsoft.com/office/drawing/2014/main" id="{D64EACD9-8799-4DF0-8259-36E1BD47BD4E}"/>
              </a:ext>
            </a:extLst>
          </p:cNvPr>
          <p:cNvSpPr>
            <a:spLocks xmlns:a="http://schemas.openxmlformats.org/drawingml/2006/main" noGrp="1"/>
          </p:cNvSpPr>
          <p:nvPr/>
        </p:nvSpPr>
        <p:spPr>
          <a:xfrm xmlns:a="http://schemas.openxmlformats.org/drawingml/2006/main">
            <a:off x="742950" y="390525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E45757"/>
                </a:solidFill>
                <a:latin typeface="NanumGothic"/>
                <a:ea typeface="NanumGothic"/>
                <a:cs typeface="NanumGothic"/>
              </a:defRPr>
            </a:pPr>
            <a:r>
              <a:rPr sz="1350" b="0">
                <a:solidFill>
                  <a:srgbClr val="E45757"/>
                </a:solidFill>
                <a:latin typeface="NanumGothic"/>
                <a:ea typeface="NanumGothic"/>
                <a:cs typeface="NanumGothic"/>
              </a:rPr>
              <a:t>snapshot VM이 필요한 50셀은 남아 있음</a:t>
            </a:r>
          </a:p>
        </p:txBody>
      </p:sp>
      <p:sp>
        <p:nvSpPr>
          <p:cNvPr id="12" name="">
            <a:extLst xmlns:a="http://schemas.openxmlformats.org/drawingml/2006/main">
              <a:ext uri="{FF2B5EF4-FFF2-40B4-BE49-F238E27FC236}">
                <a16:creationId xmlns:a16="http://schemas.microsoft.com/office/drawing/2014/main" id="{E75144CA-5246-40BF-92F1-96CAA1985232}"/>
              </a:ext>
            </a:extLst>
          </p:cNvPr>
          <p:cNvSpPr>
            <a:spLocks xmlns:a="http://schemas.openxmlformats.org/drawingml/2006/main" noGrp="1"/>
          </p:cNvSpPr>
          <p:nvPr/>
        </p:nvSpPr>
        <p:spPr>
          <a:xfrm xmlns:a="http://schemas.openxmlformats.org/drawingml/2006/main">
            <a:off x="5572125" y="1381125"/>
            <a:ext cx="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3" name="">
            <a:extLst xmlns:a="http://schemas.openxmlformats.org/drawingml/2006/main">
              <a:ext uri="{FF2B5EF4-FFF2-40B4-BE49-F238E27FC236}">
                <a16:creationId xmlns:a16="http://schemas.microsoft.com/office/drawing/2014/main" id="{2F2879F9-3C3E-4C85-9D97-66EF53BB3D24}"/>
              </a:ext>
            </a:extLst>
          </p:cNvPr>
          <p:cNvSpPr>
            <a:spLocks xmlns:a="http://schemas.openxmlformats.org/drawingml/2006/main" noGrp="1"/>
          </p:cNvSpPr>
          <p:nvPr/>
        </p:nvSpPr>
        <p:spPr>
          <a:xfrm xmlns:a="http://schemas.openxmlformats.org/drawingml/2006/main">
            <a:off x="6191250" y="1381125"/>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68"/>
                </a:solidFill>
                <a:latin typeface="NanumGothic"/>
                <a:ea typeface="NanumGothic"/>
                <a:cs typeface="NanumGothic"/>
              </a:defRPr>
            </a:pPr>
            <a:r>
              <a:rPr sz="1650" b="1">
                <a:solidFill>
                  <a:srgbClr val="173A68"/>
                </a:solidFill>
                <a:latin typeface="NanumGothic"/>
                <a:ea typeface="NanumGothic"/>
                <a:cs typeface="NanumGothic"/>
              </a:rPr>
              <a:t>효율성 판단식</a:t>
            </a:r>
          </a:p>
        </p:txBody>
      </p:sp>
      <p:sp>
        <p:nvSpPr>
          <p:cNvPr id="14" name="">
            <a:extLst xmlns:a="http://schemas.openxmlformats.org/drawingml/2006/main">
              <a:ext uri="{FF2B5EF4-FFF2-40B4-BE49-F238E27FC236}">
                <a16:creationId xmlns:a16="http://schemas.microsoft.com/office/drawing/2014/main" id="{7570800A-41C9-42CC-B284-48514160020B}"/>
              </a:ext>
            </a:extLst>
          </p:cNvPr>
          <p:cNvSpPr>
            <a:spLocks xmlns:a="http://schemas.openxmlformats.org/drawingml/2006/main" noGrp="1"/>
          </p:cNvSpPr>
          <p:nvPr/>
        </p:nvSpPr>
        <p:spPr>
          <a:xfrm xmlns:a="http://schemas.openxmlformats.org/drawingml/2006/main">
            <a:off x="6191250" y="20002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검증된 작업 성공</a:t>
            </a:r>
          </a:p>
        </p:txBody>
      </p:sp>
      <p:sp>
        <p:nvSpPr>
          <p:cNvPr id="15" name="">
            <a:extLst xmlns:a="http://schemas.openxmlformats.org/drawingml/2006/main">
              <a:ext uri="{FF2B5EF4-FFF2-40B4-BE49-F238E27FC236}">
                <a16:creationId xmlns:a16="http://schemas.microsoft.com/office/drawing/2014/main" id="{8E3EB322-9BFC-4C96-9D92-FB7CE50840E1}"/>
              </a:ext>
            </a:extLst>
          </p:cNvPr>
          <p:cNvSpPr>
            <a:spLocks xmlns:a="http://schemas.openxmlformats.org/drawingml/2006/main" noGrp="1"/>
          </p:cNvSpPr>
          <p:nvPr/>
        </p:nvSpPr>
        <p:spPr>
          <a:xfrm xmlns:a="http://schemas.openxmlformats.org/drawingml/2006/main">
            <a:off x="6191250" y="2457450"/>
            <a:ext cx="3143250" cy="0"/>
          </a:xfrm>
          <a:prstGeom xmlns:a="http://schemas.openxmlformats.org/drawingml/2006/main" prst="line">
            <a:avLst/>
          </a:prstGeom>
          <a:noFill xmlns:a="http://schemas.openxmlformats.org/drawingml/2006/main"/>
          <a:ln xmlns:a="http://schemas.openxmlformats.org/drawingml/2006/main" w="19050">
            <a:solidFill>
              <a:srgbClr val="172033"/>
            </a:solidFill>
            <a:prstDash val="solid"/>
          </a:ln>
        </p:spPr>
      </p:sp>
      <p:sp>
        <p:nvSpPr>
          <p:cNvPr id="16" name="">
            <a:extLst xmlns:a="http://schemas.openxmlformats.org/drawingml/2006/main">
              <a:ext uri="{FF2B5EF4-FFF2-40B4-BE49-F238E27FC236}">
                <a16:creationId xmlns:a16="http://schemas.microsoft.com/office/drawing/2014/main" id="{6E83CB4A-31C6-4398-B156-C6CB7C4183D8}"/>
              </a:ext>
            </a:extLst>
          </p:cNvPr>
          <p:cNvSpPr>
            <a:spLocks xmlns:a="http://schemas.openxmlformats.org/drawingml/2006/main" noGrp="1"/>
          </p:cNvSpPr>
          <p:nvPr/>
        </p:nvSpPr>
        <p:spPr>
          <a:xfrm xmlns:a="http://schemas.openxmlformats.org/drawingml/2006/main">
            <a:off x="6191250" y="2619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033"/>
                </a:solidFill>
                <a:latin typeface="NanumGothic"/>
                <a:ea typeface="NanumGothic"/>
                <a:cs typeface="NanumGothic"/>
              </a:defRPr>
            </a:pPr>
            <a:r>
              <a:rPr sz="1650" b="0">
                <a:solidFill>
                  <a:srgbClr val="172033"/>
                </a:solidFill>
                <a:latin typeface="NanumGothic"/>
                <a:ea typeface="NanumGothic"/>
                <a:cs typeface="NanumGothic"/>
              </a:rPr>
              <a:t>시간 + 모델 호출 + 사용자 확인</a:t>
            </a:r>
          </a:p>
        </p:txBody>
      </p:sp>
      <p:sp>
        <p:nvSpPr>
          <p:cNvPr id="17" name="">
            <a:extLst xmlns:a="http://schemas.openxmlformats.org/drawingml/2006/main">
              <a:ext uri="{FF2B5EF4-FFF2-40B4-BE49-F238E27FC236}">
                <a16:creationId xmlns:a16="http://schemas.microsoft.com/office/drawing/2014/main" id="{9B59D561-AE29-4AE2-88E5-0C9D117E1F32}"/>
              </a:ext>
            </a:extLst>
          </p:cNvPr>
          <p:cNvSpPr>
            <a:spLocks xmlns:a="http://schemas.openxmlformats.org/drawingml/2006/main" noGrp="1"/>
          </p:cNvSpPr>
          <p:nvPr/>
        </p:nvSpPr>
        <p:spPr>
          <a:xfrm xmlns:a="http://schemas.openxmlformats.org/drawingml/2006/main">
            <a:off x="6191250" y="35242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1A66B"/>
                </a:solidFill>
                <a:latin typeface="NanumGothic"/>
                <a:ea typeface="NanumGothic"/>
                <a:cs typeface="NanumGothic"/>
              </a:defRPr>
            </a:pPr>
            <a:r>
              <a:rPr sz="1500" b="1">
                <a:solidFill>
                  <a:srgbClr val="21A66B"/>
                </a:solidFill>
                <a:latin typeface="NanumGothic"/>
                <a:ea typeface="NanumGothic"/>
                <a:cs typeface="NanumGothic"/>
              </a:rPr>
              <a:t>P2의 예상 효과</a:t>
            </a:r>
          </a:p>
        </p:txBody>
      </p:sp>
      <p:sp>
        <p:nvSpPr>
          <p:cNvPr id="18" name="">
            <a:extLst xmlns:a="http://schemas.openxmlformats.org/drawingml/2006/main">
              <a:ext uri="{FF2B5EF4-FFF2-40B4-BE49-F238E27FC236}">
                <a16:creationId xmlns:a16="http://schemas.microsoft.com/office/drawing/2014/main" id="{3E9B5D81-E1D0-414A-8EA7-B5342CDAEF15}"/>
              </a:ext>
            </a:extLst>
          </p:cNvPr>
          <p:cNvSpPr>
            <a:spLocks xmlns:a="http://schemas.openxmlformats.org/drawingml/2006/main" noGrp="1"/>
          </p:cNvSpPr>
          <p:nvPr/>
        </p:nvSpPr>
        <p:spPr>
          <a:xfrm xmlns:a="http://schemas.openxmlformats.org/drawingml/2006/main">
            <a:off x="6191250" y="3952875"/>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오실행·거짓 성공 감소</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일부 실패 복구</a:t>
            </a:r>
          </a:p>
        </p:txBody>
      </p:sp>
      <p:sp>
        <p:nvSpPr>
          <p:cNvPr id="19" name="">
            <a:extLst xmlns:a="http://schemas.openxmlformats.org/drawingml/2006/main">
              <a:ext uri="{FF2B5EF4-FFF2-40B4-BE49-F238E27FC236}">
                <a16:creationId xmlns:a16="http://schemas.microsoft.com/office/drawing/2014/main" id="{E2DBD8D4-D841-4DE6-806B-CA6AF92882BC}"/>
              </a:ext>
            </a:extLst>
          </p:cNvPr>
          <p:cNvSpPr>
            <a:spLocks xmlns:a="http://schemas.openxmlformats.org/drawingml/2006/main" noGrp="1"/>
          </p:cNvSpPr>
          <p:nvPr/>
        </p:nvSpPr>
        <p:spPr>
          <a:xfrm xmlns:a="http://schemas.openxmlformats.org/drawingml/2006/main">
            <a:off x="9429750" y="35242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2A72A"/>
                </a:solidFill>
                <a:latin typeface="NanumGothic"/>
                <a:ea typeface="NanumGothic"/>
                <a:cs typeface="NanumGothic"/>
              </a:defRPr>
            </a:pPr>
            <a:r>
              <a:rPr sz="1500" b="1">
                <a:solidFill>
                  <a:srgbClr val="F2A72A"/>
                </a:solidFill>
                <a:latin typeface="NanumGothic"/>
                <a:ea typeface="NanumGothic"/>
                <a:cs typeface="NanumGothic"/>
              </a:rPr>
              <a:t>예상 비용</a:t>
            </a:r>
          </a:p>
        </p:txBody>
      </p:sp>
      <p:sp>
        <p:nvSpPr>
          <p:cNvPr id="20" name="">
            <a:extLst xmlns:a="http://schemas.openxmlformats.org/drawingml/2006/main">
              <a:ext uri="{FF2B5EF4-FFF2-40B4-BE49-F238E27FC236}">
                <a16:creationId xmlns:a16="http://schemas.microsoft.com/office/drawing/2014/main" id="{60644B9B-15DE-45C5-8963-626D93156A58}"/>
              </a:ext>
            </a:extLst>
          </p:cNvPr>
          <p:cNvSpPr>
            <a:spLocks xmlns:a="http://schemas.openxmlformats.org/drawingml/2006/main" noGrp="1"/>
          </p:cNvSpPr>
          <p:nvPr/>
        </p:nvSpPr>
        <p:spPr>
          <a:xfrm xmlns:a="http://schemas.openxmlformats.org/drawingml/2006/main">
            <a:off x="9429750" y="3952875"/>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추가 관찰·검증</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지연시간 증가</a:t>
            </a:r>
          </a:p>
        </p:txBody>
      </p:sp>
      <p:sp>
        <p:nvSpPr>
          <p:cNvPr id="21" name="">
            <a:extLst xmlns:a="http://schemas.openxmlformats.org/drawingml/2006/main">
              <a:ext uri="{FF2B5EF4-FFF2-40B4-BE49-F238E27FC236}">
                <a16:creationId xmlns:a16="http://schemas.microsoft.com/office/drawing/2014/main" id="{602DE691-0B8B-4F9D-93D3-CB3BD2EC203C}"/>
              </a:ext>
            </a:extLst>
          </p:cNvPr>
          <p:cNvSpPr>
            <a:spLocks xmlns:a="http://schemas.openxmlformats.org/drawingml/2006/main" noGrp="1"/>
          </p:cNvSpPr>
          <p:nvPr/>
        </p:nvSpPr>
        <p:spPr>
          <a:xfrm xmlns:a="http://schemas.openxmlformats.org/drawingml/2006/main">
            <a:off x="742950" y="56673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57"/>
                </a:solidFill>
                <a:latin typeface="NanumGothic"/>
                <a:ea typeface="NanumGothic"/>
                <a:cs typeface="NanumGothic"/>
              </a:defRPr>
            </a:pPr>
            <a:r>
              <a:rPr sz="1500" b="1">
                <a:solidFill>
                  <a:srgbClr val="E45757"/>
                </a:solidFill>
                <a:latin typeface="NanumGothic"/>
                <a:ea typeface="NanumGothic"/>
                <a:cs typeface="NanumGothic"/>
              </a:rPr>
              <a:t>현재 단계에서는 기존 에이전트보다 몇 % 효율적이라고 주장하지 않는다. 완전한 paired 실험 뒤 계산한다.</a:t>
            </a:r>
          </a:p>
        </p:txBody>
      </p:sp>
    </p:spTree>
    <p:extLst>
      <p:ext uri="{BB962C8B-B14F-4D97-AF65-F5344CB8AC3E}">
        <p14:creationId xmlns:p14="http://schemas.microsoft.com/office/powerpoint/2010/main" val="2037261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6C26242F-35C5-4ADF-9BFC-55FF6C3500A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D583CC-DC49-4B81-A758-BBB09476E315}"/>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현재 진행 현황</a:t>
            </a:r>
          </a:p>
        </p:txBody>
      </p:sp>
      <p:sp>
        <p:nvSpPr>
          <p:cNvPr id="3" name="">
            <a:extLst xmlns:a="http://schemas.openxmlformats.org/drawingml/2006/main">
              <a:ext uri="{FF2B5EF4-FFF2-40B4-BE49-F238E27FC236}">
                <a16:creationId xmlns:a16="http://schemas.microsoft.com/office/drawing/2014/main" id="{8214E685-6912-43BD-8032-9A5CD3F8B9E4}"/>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13</a:t>
            </a:r>
          </a:p>
        </p:txBody>
      </p:sp>
      <p:sp>
        <p:nvSpPr>
          <p:cNvPr id="4" name="">
            <a:extLst xmlns:a="http://schemas.openxmlformats.org/drawingml/2006/main">
              <a:ext uri="{FF2B5EF4-FFF2-40B4-BE49-F238E27FC236}">
                <a16:creationId xmlns:a16="http://schemas.microsoft.com/office/drawing/2014/main" id="{103B9238-657F-4F55-8A1D-DC5F246F9260}"/>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6B214503-6FE7-4E09-AC9E-215A426563E0}"/>
              </a:ext>
            </a:extLst>
          </p:cNvPr>
          <p:cNvSpPr>
            <a:spLocks xmlns:a="http://schemas.openxmlformats.org/drawingml/2006/main" noGrp="1"/>
          </p:cNvSpPr>
          <p:nvPr/>
        </p:nvSpPr>
        <p:spPr>
          <a:xfrm xmlns:a="http://schemas.openxmlformats.org/drawingml/2006/main">
            <a:off x="723900" y="11239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A6475"/>
                </a:solidFill>
                <a:latin typeface="NanumGothic"/>
                <a:ea typeface="NanumGothic"/>
                <a:cs typeface="NanumGothic"/>
              </a:defRPr>
            </a:pPr>
            <a:r>
              <a:rPr sz="1500" b="0">
                <a:solidFill>
                  <a:srgbClr val="5A6475"/>
                </a:solidFill>
                <a:latin typeface="NanumGothic"/>
                <a:ea typeface="NanumGothic"/>
                <a:cs typeface="NanumGothic"/>
              </a:rPr>
              <a:t>핵심 프로그램은 동작하며, 지금은 논문 결론을 위한 외부 실험 증거를 채우는 단계입니다.</a:t>
            </a:r>
          </a:p>
        </p:txBody>
      </p:sp>
      <p:sp>
        <p:nvSpPr>
          <p:cNvPr id="6" name="">
            <a:extLst xmlns:a="http://schemas.openxmlformats.org/drawingml/2006/main">
              <a:ext uri="{FF2B5EF4-FFF2-40B4-BE49-F238E27FC236}">
                <a16:creationId xmlns:a16="http://schemas.microsoft.com/office/drawing/2014/main" id="{777FA37A-AF36-499E-8A95-9CBC50CE1FF7}"/>
              </a:ext>
            </a:extLst>
          </p:cNvPr>
          <p:cNvSpPr>
            <a:spLocks xmlns:a="http://schemas.openxmlformats.org/drawingml/2006/main" noGrp="1"/>
          </p:cNvSpPr>
          <p:nvPr/>
        </p:nvSpPr>
        <p:spPr>
          <a:xfrm xmlns:a="http://schemas.openxmlformats.org/drawingml/2006/main">
            <a:off x="762000" y="16192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안전 제어 핵심</a:t>
            </a:r>
          </a:p>
        </p:txBody>
      </p:sp>
      <p:sp>
        <p:nvSpPr>
          <p:cNvPr id="7" name="">
            <a:extLst xmlns:a="http://schemas.openxmlformats.org/drawingml/2006/main">
              <a:ext uri="{FF2B5EF4-FFF2-40B4-BE49-F238E27FC236}">
                <a16:creationId xmlns:a16="http://schemas.microsoft.com/office/drawing/2014/main" id="{43F3EB3F-164B-4516-8A1D-04CF7B4D07C0}"/>
              </a:ext>
            </a:extLst>
          </p:cNvPr>
          <p:cNvSpPr>
            <a:spLocks xmlns:a="http://schemas.openxmlformats.org/drawingml/2006/main" noGrp="1"/>
          </p:cNvSpPr>
          <p:nvPr/>
        </p:nvSpPr>
        <p:spPr>
          <a:xfrm xmlns:a="http://schemas.openxmlformats.org/drawingml/2006/main">
            <a:off x="3714750" y="1619250"/>
            <a:ext cx="1714500" cy="323850"/>
          </a:xfrm>
          <a:prstGeom xmlns:a="http://schemas.openxmlformats.org/drawingml/2006/main" prst="roundRect">
            <a:avLst>
              <a:gd name="adj" fmla="val 50000"/>
            </a:avLst>
          </a:prstGeom>
          <a:solidFill xmlns:a="http://schemas.openxmlformats.org/drawingml/2006/main">
            <a:srgbClr val="21A66B"/>
          </a:solidFill>
          <a:ln xmlns:a="http://schemas.openxmlformats.org/drawingml/2006/main" w="9525">
            <a:solidFill>
              <a:srgbClr val="21A66B"/>
            </a:solidFill>
            <a:prstDash val="solid"/>
          </a:ln>
        </p:spPr>
      </p:sp>
      <p:sp>
        <p:nvSpPr>
          <p:cNvPr id="8" name="">
            <a:extLst xmlns:a="http://schemas.openxmlformats.org/drawingml/2006/main">
              <a:ext uri="{FF2B5EF4-FFF2-40B4-BE49-F238E27FC236}">
                <a16:creationId xmlns:a16="http://schemas.microsoft.com/office/drawing/2014/main" id="{7066D704-6C79-4F5A-85E8-68F13A953585}"/>
              </a:ext>
            </a:extLst>
          </p:cNvPr>
          <p:cNvSpPr>
            <a:spLocks xmlns:a="http://schemas.openxmlformats.org/drawingml/2006/main" noGrp="1"/>
          </p:cNvSpPr>
          <p:nvPr/>
        </p:nvSpPr>
        <p:spPr>
          <a:xfrm xmlns:a="http://schemas.openxmlformats.org/drawingml/2006/main">
            <a:off x="3810000" y="16668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완료</a:t>
            </a:r>
          </a:p>
        </p:txBody>
      </p:sp>
      <p:sp>
        <p:nvSpPr>
          <p:cNvPr id="9" name="">
            <a:extLst xmlns:a="http://schemas.openxmlformats.org/drawingml/2006/main">
              <a:ext uri="{FF2B5EF4-FFF2-40B4-BE49-F238E27FC236}">
                <a16:creationId xmlns:a16="http://schemas.microsoft.com/office/drawing/2014/main" id="{44238F54-2051-49A3-9B6D-484C9C12B5B1}"/>
              </a:ext>
            </a:extLst>
          </p:cNvPr>
          <p:cNvSpPr>
            <a:spLocks xmlns:a="http://schemas.openxmlformats.org/drawingml/2006/main" noGrp="1"/>
          </p:cNvSpPr>
          <p:nvPr/>
        </p:nvSpPr>
        <p:spPr>
          <a:xfrm xmlns:a="http://schemas.openxmlformats.org/drawingml/2006/main">
            <a:off x="5857875" y="161925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2033"/>
                </a:solidFill>
                <a:latin typeface="NanumGothic"/>
                <a:ea typeface="NanumGothic"/>
                <a:cs typeface="NanumGothic"/>
              </a:defRPr>
            </a:pPr>
            <a:r>
              <a:rPr sz="1275" b="0">
                <a:solidFill>
                  <a:srgbClr val="172033"/>
                </a:solidFill>
                <a:latin typeface="NanumGothic"/>
                <a:ea typeface="NanumGothic"/>
                <a:cs typeface="NanumGothic"/>
              </a:rPr>
              <a:t>계획 · 정책 · 승인 · 결과 검증 · STOP · 감사 기록</a:t>
            </a:r>
          </a:p>
        </p:txBody>
      </p:sp>
      <p:sp>
        <p:nvSpPr>
          <p:cNvPr id="10" name="">
            <a:extLst xmlns:a="http://schemas.openxmlformats.org/drawingml/2006/main">
              <a:ext uri="{FF2B5EF4-FFF2-40B4-BE49-F238E27FC236}">
                <a16:creationId xmlns:a16="http://schemas.microsoft.com/office/drawing/2014/main" id="{4BE26D92-EBB1-4AFD-B299-0E7299F896A3}"/>
              </a:ext>
            </a:extLst>
          </p:cNvPr>
          <p:cNvSpPr>
            <a:spLocks xmlns:a="http://schemas.openxmlformats.org/drawingml/2006/main" noGrp="1"/>
          </p:cNvSpPr>
          <p:nvPr/>
        </p:nvSpPr>
        <p:spPr>
          <a:xfrm xmlns:a="http://schemas.openxmlformats.org/drawingml/2006/main">
            <a:off x="762000" y="2162175"/>
            <a:ext cx="105727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1" name="">
            <a:extLst xmlns:a="http://schemas.openxmlformats.org/drawingml/2006/main">
              <a:ext uri="{FF2B5EF4-FFF2-40B4-BE49-F238E27FC236}">
                <a16:creationId xmlns:a16="http://schemas.microsoft.com/office/drawing/2014/main" id="{36D22923-9DDA-4BA3-97E1-4E5188E063A4}"/>
              </a:ext>
            </a:extLst>
          </p:cNvPr>
          <p:cNvSpPr>
            <a:spLocks xmlns:a="http://schemas.openxmlformats.org/drawingml/2006/main" noGrp="1"/>
          </p:cNvSpPr>
          <p:nvPr/>
        </p:nvSpPr>
        <p:spPr>
          <a:xfrm xmlns:a="http://schemas.openxmlformats.org/drawingml/2006/main">
            <a:off x="762000" y="24574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Windows 제품 조립</a:t>
            </a:r>
          </a:p>
        </p:txBody>
      </p:sp>
      <p:sp>
        <p:nvSpPr>
          <p:cNvPr id="12" name="">
            <a:extLst xmlns:a="http://schemas.openxmlformats.org/drawingml/2006/main">
              <a:ext uri="{FF2B5EF4-FFF2-40B4-BE49-F238E27FC236}">
                <a16:creationId xmlns:a16="http://schemas.microsoft.com/office/drawing/2014/main" id="{7C66EBFD-444D-441D-B5EC-CD7083C3F7EB}"/>
              </a:ext>
            </a:extLst>
          </p:cNvPr>
          <p:cNvSpPr>
            <a:spLocks xmlns:a="http://schemas.openxmlformats.org/drawingml/2006/main" noGrp="1"/>
          </p:cNvSpPr>
          <p:nvPr/>
        </p:nvSpPr>
        <p:spPr>
          <a:xfrm xmlns:a="http://schemas.openxmlformats.org/drawingml/2006/main">
            <a:off x="3714750" y="2457450"/>
            <a:ext cx="1714500" cy="323850"/>
          </a:xfrm>
          <a:prstGeom xmlns:a="http://schemas.openxmlformats.org/drawingml/2006/main" prst="roundRect">
            <a:avLst>
              <a:gd name="adj" fmla="val 50000"/>
            </a:avLst>
          </a:prstGeom>
          <a:solidFill xmlns:a="http://schemas.openxmlformats.org/drawingml/2006/main">
            <a:srgbClr val="21A66B"/>
          </a:solidFill>
          <a:ln xmlns:a="http://schemas.openxmlformats.org/drawingml/2006/main" w="9525">
            <a:solidFill>
              <a:srgbClr val="21A66B"/>
            </a:solidFill>
            <a:prstDash val="solid"/>
          </a:ln>
        </p:spPr>
      </p:sp>
      <p:sp>
        <p:nvSpPr>
          <p:cNvPr id="13" name="">
            <a:extLst xmlns:a="http://schemas.openxmlformats.org/drawingml/2006/main">
              <a:ext uri="{FF2B5EF4-FFF2-40B4-BE49-F238E27FC236}">
                <a16:creationId xmlns:a16="http://schemas.microsoft.com/office/drawing/2014/main" id="{A1CB93A4-B3E7-4EDD-969C-E2A05C7474DD}"/>
              </a:ext>
            </a:extLst>
          </p:cNvPr>
          <p:cNvSpPr>
            <a:spLocks xmlns:a="http://schemas.openxmlformats.org/drawingml/2006/main" noGrp="1"/>
          </p:cNvSpPr>
          <p:nvPr/>
        </p:nvSpPr>
        <p:spPr>
          <a:xfrm xmlns:a="http://schemas.openxmlformats.org/drawingml/2006/main">
            <a:off x="3810000" y="25050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완료</a:t>
            </a:r>
          </a:p>
        </p:txBody>
      </p:sp>
      <p:sp>
        <p:nvSpPr>
          <p:cNvPr id="14" name="">
            <a:extLst xmlns:a="http://schemas.openxmlformats.org/drawingml/2006/main">
              <a:ext uri="{FF2B5EF4-FFF2-40B4-BE49-F238E27FC236}">
                <a16:creationId xmlns:a16="http://schemas.microsoft.com/office/drawing/2014/main" id="{E4C32250-C316-4FDE-BA52-22EDF6A40C06}"/>
              </a:ext>
            </a:extLst>
          </p:cNvPr>
          <p:cNvSpPr>
            <a:spLocks xmlns:a="http://schemas.openxmlformats.org/drawingml/2006/main" noGrp="1"/>
          </p:cNvSpPr>
          <p:nvPr/>
        </p:nvSpPr>
        <p:spPr>
          <a:xfrm xmlns:a="http://schemas.openxmlformats.org/drawingml/2006/main">
            <a:off x="5857875" y="245745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2033"/>
                </a:solidFill>
                <a:latin typeface="NanumGothic"/>
                <a:ea typeface="NanumGothic"/>
                <a:cs typeface="NanumGothic"/>
              </a:defRPr>
            </a:pPr>
            <a:r>
              <a:rPr sz="1275" b="0">
                <a:solidFill>
                  <a:srgbClr val="172033"/>
                </a:solidFill>
                <a:latin typeface="NanumGothic"/>
                <a:ea typeface="NanumGothic"/>
                <a:cs typeface="NanumGothic"/>
              </a:rPr>
              <a:t>13개 기능 · 자격 증명 관리자 · 문맥/기억 · 서비스 경로</a:t>
            </a:r>
          </a:p>
        </p:txBody>
      </p:sp>
      <p:sp>
        <p:nvSpPr>
          <p:cNvPr id="15" name="">
            <a:extLst xmlns:a="http://schemas.openxmlformats.org/drawingml/2006/main">
              <a:ext uri="{FF2B5EF4-FFF2-40B4-BE49-F238E27FC236}">
                <a16:creationId xmlns:a16="http://schemas.microsoft.com/office/drawing/2014/main" id="{A8CD10F5-DD06-454E-9D10-85192DF9954D}"/>
              </a:ext>
            </a:extLst>
          </p:cNvPr>
          <p:cNvSpPr>
            <a:spLocks xmlns:a="http://schemas.openxmlformats.org/drawingml/2006/main" noGrp="1"/>
          </p:cNvSpPr>
          <p:nvPr/>
        </p:nvSpPr>
        <p:spPr>
          <a:xfrm xmlns:a="http://schemas.openxmlformats.org/drawingml/2006/main">
            <a:off x="762000" y="3000375"/>
            <a:ext cx="105727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6" name="">
            <a:extLst xmlns:a="http://schemas.openxmlformats.org/drawingml/2006/main">
              <a:ext uri="{FF2B5EF4-FFF2-40B4-BE49-F238E27FC236}">
                <a16:creationId xmlns:a16="http://schemas.microsoft.com/office/drawing/2014/main" id="{611104B1-10E2-4BD7-A3ED-01AB6C39FC42}"/>
              </a:ext>
            </a:extLst>
          </p:cNvPr>
          <p:cNvSpPr>
            <a:spLocks xmlns:a="http://schemas.openxmlformats.org/drawingml/2006/main" noGrp="1"/>
          </p:cNvSpPr>
          <p:nvPr/>
        </p:nvSpPr>
        <p:spPr>
          <a:xfrm xmlns:a="http://schemas.openxmlformats.org/drawingml/2006/main">
            <a:off x="762000" y="32956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자동 시험·배포 산출물</a:t>
            </a:r>
          </a:p>
        </p:txBody>
      </p:sp>
      <p:sp>
        <p:nvSpPr>
          <p:cNvPr id="17" name="">
            <a:extLst xmlns:a="http://schemas.openxmlformats.org/drawingml/2006/main">
              <a:ext uri="{FF2B5EF4-FFF2-40B4-BE49-F238E27FC236}">
                <a16:creationId xmlns:a16="http://schemas.microsoft.com/office/drawing/2014/main" id="{FD8E508E-D909-4E8A-8D8B-D4F9DA536731}"/>
              </a:ext>
            </a:extLst>
          </p:cNvPr>
          <p:cNvSpPr>
            <a:spLocks xmlns:a="http://schemas.openxmlformats.org/drawingml/2006/main" noGrp="1"/>
          </p:cNvSpPr>
          <p:nvPr/>
        </p:nvSpPr>
        <p:spPr>
          <a:xfrm xmlns:a="http://schemas.openxmlformats.org/drawingml/2006/main">
            <a:off x="3714750" y="3295650"/>
            <a:ext cx="1714500" cy="323850"/>
          </a:xfrm>
          <a:prstGeom xmlns:a="http://schemas.openxmlformats.org/drawingml/2006/main" prst="roundRect">
            <a:avLst>
              <a:gd name="adj" fmla="val 50000"/>
            </a:avLst>
          </a:prstGeom>
          <a:solidFill xmlns:a="http://schemas.openxmlformats.org/drawingml/2006/main">
            <a:srgbClr val="F2A72A"/>
          </a:solidFill>
          <a:ln xmlns:a="http://schemas.openxmlformats.org/drawingml/2006/main" w="9525">
            <a:solidFill>
              <a:srgbClr val="F2A72A"/>
            </a:solidFill>
            <a:prstDash val="solid"/>
          </a:ln>
        </p:spPr>
      </p:sp>
      <p:sp>
        <p:nvSpPr>
          <p:cNvPr id="18" name="">
            <a:extLst xmlns:a="http://schemas.openxmlformats.org/drawingml/2006/main">
              <a:ext uri="{FF2B5EF4-FFF2-40B4-BE49-F238E27FC236}">
                <a16:creationId xmlns:a16="http://schemas.microsoft.com/office/drawing/2014/main" id="{039B4185-8565-469B-A0F7-17824A6D14F6}"/>
              </a:ext>
            </a:extLst>
          </p:cNvPr>
          <p:cNvSpPr>
            <a:spLocks xmlns:a="http://schemas.openxmlformats.org/drawingml/2006/main" noGrp="1"/>
          </p:cNvSpPr>
          <p:nvPr/>
        </p:nvSpPr>
        <p:spPr>
          <a:xfrm xmlns:a="http://schemas.openxmlformats.org/drawingml/2006/main">
            <a:off x="3810000" y="33432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완료(서명 제외)</a:t>
            </a:r>
          </a:p>
        </p:txBody>
      </p:sp>
      <p:sp>
        <p:nvSpPr>
          <p:cNvPr id="19" name="">
            <a:extLst xmlns:a="http://schemas.openxmlformats.org/drawingml/2006/main">
              <a:ext uri="{FF2B5EF4-FFF2-40B4-BE49-F238E27FC236}">
                <a16:creationId xmlns:a16="http://schemas.microsoft.com/office/drawing/2014/main" id="{EEC7B5F9-F33B-47D1-8A86-4587C602F423}"/>
              </a:ext>
            </a:extLst>
          </p:cNvPr>
          <p:cNvSpPr>
            <a:spLocks xmlns:a="http://schemas.openxmlformats.org/drawingml/2006/main" noGrp="1"/>
          </p:cNvSpPr>
          <p:nvPr/>
        </p:nvSpPr>
        <p:spPr>
          <a:xfrm xmlns:a="http://schemas.openxmlformats.org/drawingml/2006/main">
            <a:off x="5857875" y="329565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2033"/>
                </a:solidFill>
                <a:latin typeface="NanumGothic"/>
                <a:ea typeface="NanumGothic"/>
                <a:cs typeface="NanumGothic"/>
              </a:defRPr>
            </a:pPr>
            <a:r>
              <a:rPr sz="1275" b="0">
                <a:solidFill>
                  <a:srgbClr val="172033"/>
                </a:solidFill>
                <a:latin typeface="NanumGothic"/>
                <a:ea typeface="NanumGothic"/>
                <a:cs typeface="NanumGothic"/>
              </a:rPr>
              <a:t>766 통과 / 3 건너뜀 · 83% · 실제 최초 설치와 파일 목록 일치</a:t>
            </a:r>
          </a:p>
        </p:txBody>
      </p:sp>
      <p:sp>
        <p:nvSpPr>
          <p:cNvPr id="20" name="">
            <a:extLst xmlns:a="http://schemas.openxmlformats.org/drawingml/2006/main">
              <a:ext uri="{FF2B5EF4-FFF2-40B4-BE49-F238E27FC236}">
                <a16:creationId xmlns:a16="http://schemas.microsoft.com/office/drawing/2014/main" id="{97FCAF30-B991-4FFA-8F91-B4E5FB592132}"/>
              </a:ext>
            </a:extLst>
          </p:cNvPr>
          <p:cNvSpPr>
            <a:spLocks xmlns:a="http://schemas.openxmlformats.org/drawingml/2006/main" noGrp="1"/>
          </p:cNvSpPr>
          <p:nvPr/>
        </p:nvSpPr>
        <p:spPr>
          <a:xfrm xmlns:a="http://schemas.openxmlformats.org/drawingml/2006/main">
            <a:off x="762000" y="3838575"/>
            <a:ext cx="105727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1" name="">
            <a:extLst xmlns:a="http://schemas.openxmlformats.org/drawingml/2006/main">
              <a:ext uri="{FF2B5EF4-FFF2-40B4-BE49-F238E27FC236}">
                <a16:creationId xmlns:a16="http://schemas.microsoft.com/office/drawing/2014/main" id="{625713DE-8B4A-43D4-B7DB-82ACCFCB541F}"/>
              </a:ext>
            </a:extLst>
          </p:cNvPr>
          <p:cNvSpPr>
            <a:spLocks xmlns:a="http://schemas.openxmlformats.org/drawingml/2006/main" noGrp="1"/>
          </p:cNvSpPr>
          <p:nvPr/>
        </p:nvSpPr>
        <p:spPr>
          <a:xfrm xmlns:a="http://schemas.openxmlformats.org/drawingml/2006/main">
            <a:off x="762000" y="41338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벤치마크 수집</a:t>
            </a:r>
          </a:p>
        </p:txBody>
      </p:sp>
      <p:sp>
        <p:nvSpPr>
          <p:cNvPr id="22" name="">
            <a:extLst xmlns:a="http://schemas.openxmlformats.org/drawingml/2006/main">
              <a:ext uri="{FF2B5EF4-FFF2-40B4-BE49-F238E27FC236}">
                <a16:creationId xmlns:a16="http://schemas.microsoft.com/office/drawing/2014/main" id="{BDD5B230-3CB2-4FA6-9238-A7AB83380EED}"/>
              </a:ext>
            </a:extLst>
          </p:cNvPr>
          <p:cNvSpPr>
            <a:spLocks xmlns:a="http://schemas.openxmlformats.org/drawingml/2006/main" noGrp="1"/>
          </p:cNvSpPr>
          <p:nvPr/>
        </p:nvSpPr>
        <p:spPr>
          <a:xfrm xmlns:a="http://schemas.openxmlformats.org/drawingml/2006/main">
            <a:off x="3714750" y="4133850"/>
            <a:ext cx="1714500" cy="323850"/>
          </a:xfrm>
          <a:prstGeom xmlns:a="http://schemas.openxmlformats.org/drawingml/2006/main" prst="roundRect">
            <a:avLst>
              <a:gd name="adj" fmla="val 50000"/>
            </a:avLst>
          </a:prstGeom>
          <a:solidFill xmlns:a="http://schemas.openxmlformats.org/drawingml/2006/main">
            <a:srgbClr val="14A8C4"/>
          </a:solidFill>
          <a:ln xmlns:a="http://schemas.openxmlformats.org/drawingml/2006/main" w="9525">
            <a:solidFill>
              <a:srgbClr val="14A8C4"/>
            </a:solidFill>
            <a:prstDash val="solid"/>
          </a:ln>
        </p:spPr>
      </p:sp>
      <p:sp>
        <p:nvSpPr>
          <p:cNvPr id="23" name="">
            <a:extLst xmlns:a="http://schemas.openxmlformats.org/drawingml/2006/main">
              <a:ext uri="{FF2B5EF4-FFF2-40B4-BE49-F238E27FC236}">
                <a16:creationId xmlns:a16="http://schemas.microsoft.com/office/drawing/2014/main" id="{F355DE02-354F-449A-A6B9-B659B30BF43A}"/>
              </a:ext>
            </a:extLst>
          </p:cNvPr>
          <p:cNvSpPr>
            <a:spLocks xmlns:a="http://schemas.openxmlformats.org/drawingml/2006/main" noGrp="1"/>
          </p:cNvSpPr>
          <p:nvPr/>
        </p:nvSpPr>
        <p:spPr>
          <a:xfrm xmlns:a="http://schemas.openxmlformats.org/drawingml/2006/main">
            <a:off x="3810000" y="41814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진행 중</a:t>
            </a:r>
          </a:p>
        </p:txBody>
      </p:sp>
      <p:sp>
        <p:nvSpPr>
          <p:cNvPr id="24" name="">
            <a:extLst xmlns:a="http://schemas.openxmlformats.org/drawingml/2006/main">
              <a:ext uri="{FF2B5EF4-FFF2-40B4-BE49-F238E27FC236}">
                <a16:creationId xmlns:a16="http://schemas.microsoft.com/office/drawing/2014/main" id="{E2972979-2611-48D7-BA22-B3B1659A75FF}"/>
              </a:ext>
            </a:extLst>
          </p:cNvPr>
          <p:cNvSpPr>
            <a:spLocks xmlns:a="http://schemas.openxmlformats.org/drawingml/2006/main" noGrp="1"/>
          </p:cNvSpPr>
          <p:nvPr/>
        </p:nvSpPr>
        <p:spPr>
          <a:xfrm xmlns:a="http://schemas.openxmlformats.org/drawingml/2006/main">
            <a:off x="5857875" y="413385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2033"/>
                </a:solidFill>
                <a:latin typeface="NanumGothic"/>
                <a:ea typeface="NanumGothic"/>
                <a:cs typeface="NanumGothic"/>
              </a:defRPr>
            </a:pPr>
            <a:r>
              <a:rPr sz="1275" b="0">
                <a:solidFill>
                  <a:srgbClr val="172033"/>
                </a:solidFill>
                <a:latin typeface="NanumGothic"/>
                <a:ea typeface="NanumGothic"/>
                <a:cs typeface="NanumGothic"/>
              </a:rPr>
              <a:t>70/120칸(58.3%) · 현재 PC 70/70 · 초기화 가상머신 50칸 남음</a:t>
            </a:r>
          </a:p>
        </p:txBody>
      </p:sp>
      <p:sp>
        <p:nvSpPr>
          <p:cNvPr id="25" name="">
            <a:extLst xmlns:a="http://schemas.openxmlformats.org/drawingml/2006/main">
              <a:ext uri="{FF2B5EF4-FFF2-40B4-BE49-F238E27FC236}">
                <a16:creationId xmlns:a16="http://schemas.microsoft.com/office/drawing/2014/main" id="{2FE7CE16-C10A-4B00-A23F-5E4E3A8E4CBE}"/>
              </a:ext>
            </a:extLst>
          </p:cNvPr>
          <p:cNvSpPr>
            <a:spLocks xmlns:a="http://schemas.openxmlformats.org/drawingml/2006/main" noGrp="1"/>
          </p:cNvSpPr>
          <p:nvPr/>
        </p:nvSpPr>
        <p:spPr>
          <a:xfrm xmlns:a="http://schemas.openxmlformats.org/drawingml/2006/main">
            <a:off x="762000" y="4676775"/>
            <a:ext cx="105727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6" name="">
            <a:extLst xmlns:a="http://schemas.openxmlformats.org/drawingml/2006/main">
              <a:ext uri="{FF2B5EF4-FFF2-40B4-BE49-F238E27FC236}">
                <a16:creationId xmlns:a16="http://schemas.microsoft.com/office/drawing/2014/main" id="{CDBAB9BE-2562-4E3B-A1BD-080B4BF9603C}"/>
              </a:ext>
            </a:extLst>
          </p:cNvPr>
          <p:cNvSpPr>
            <a:spLocks xmlns:a="http://schemas.openxmlformats.org/drawingml/2006/main" noGrp="1"/>
          </p:cNvSpPr>
          <p:nvPr/>
        </p:nvSpPr>
        <p:spPr>
          <a:xfrm xmlns:a="http://schemas.openxmlformats.org/drawingml/2006/main">
            <a:off x="762000" y="49720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실장비·사용자 연구</a:t>
            </a:r>
          </a:p>
        </p:txBody>
      </p:sp>
      <p:sp>
        <p:nvSpPr>
          <p:cNvPr id="27" name="">
            <a:extLst xmlns:a="http://schemas.openxmlformats.org/drawingml/2006/main">
              <a:ext uri="{FF2B5EF4-FFF2-40B4-BE49-F238E27FC236}">
                <a16:creationId xmlns:a16="http://schemas.microsoft.com/office/drawing/2014/main" id="{8EF227D0-B741-46D7-A940-CF20EDC1BC9A}"/>
              </a:ext>
            </a:extLst>
          </p:cNvPr>
          <p:cNvSpPr>
            <a:spLocks xmlns:a="http://schemas.openxmlformats.org/drawingml/2006/main" noGrp="1"/>
          </p:cNvSpPr>
          <p:nvPr/>
        </p:nvSpPr>
        <p:spPr>
          <a:xfrm xmlns:a="http://schemas.openxmlformats.org/drawingml/2006/main">
            <a:off x="3714750" y="4972050"/>
            <a:ext cx="1714500" cy="323850"/>
          </a:xfrm>
          <a:prstGeom xmlns:a="http://schemas.openxmlformats.org/drawingml/2006/main" prst="roundRect">
            <a:avLst>
              <a:gd name="adj" fmla="val 50000"/>
            </a:avLst>
          </a:prstGeom>
          <a:solidFill xmlns:a="http://schemas.openxmlformats.org/drawingml/2006/main">
            <a:srgbClr val="E45757"/>
          </a:solidFill>
          <a:ln xmlns:a="http://schemas.openxmlformats.org/drawingml/2006/main" w="9525">
            <a:solidFill>
              <a:srgbClr val="E45757"/>
            </a:solidFill>
            <a:prstDash val="solid"/>
          </a:ln>
        </p:spPr>
      </p:sp>
      <p:sp>
        <p:nvSpPr>
          <p:cNvPr id="28" name="">
            <a:extLst xmlns:a="http://schemas.openxmlformats.org/drawingml/2006/main">
              <a:ext uri="{FF2B5EF4-FFF2-40B4-BE49-F238E27FC236}">
                <a16:creationId xmlns:a16="http://schemas.microsoft.com/office/drawing/2014/main" id="{E0345C76-7653-4C76-83AB-48B042D931C1}"/>
              </a:ext>
            </a:extLst>
          </p:cNvPr>
          <p:cNvSpPr>
            <a:spLocks xmlns:a="http://schemas.openxmlformats.org/drawingml/2006/main" noGrp="1"/>
          </p:cNvSpPr>
          <p:nvPr/>
        </p:nvSpPr>
        <p:spPr>
          <a:xfrm xmlns:a="http://schemas.openxmlformats.org/drawingml/2006/main">
            <a:off x="3810000" y="50196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대기</a:t>
            </a:r>
          </a:p>
        </p:txBody>
      </p:sp>
      <p:sp>
        <p:nvSpPr>
          <p:cNvPr id="29" name="">
            <a:extLst xmlns:a="http://schemas.openxmlformats.org/drawingml/2006/main">
              <a:ext uri="{FF2B5EF4-FFF2-40B4-BE49-F238E27FC236}">
                <a16:creationId xmlns:a16="http://schemas.microsoft.com/office/drawing/2014/main" id="{20E82452-500B-45E0-849E-D344E5000761}"/>
              </a:ext>
            </a:extLst>
          </p:cNvPr>
          <p:cNvSpPr>
            <a:spLocks xmlns:a="http://schemas.openxmlformats.org/drawingml/2006/main" noGrp="1"/>
          </p:cNvSpPr>
          <p:nvPr/>
        </p:nvSpPr>
        <p:spPr>
          <a:xfrm xmlns:a="http://schemas.openxmlformats.org/drawingml/2006/main">
            <a:off x="5857875" y="497205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2033"/>
                </a:solidFill>
                <a:latin typeface="NanumGothic"/>
                <a:ea typeface="NanumGothic"/>
                <a:cs typeface="NanumGothic"/>
              </a:defRPr>
            </a:pPr>
            <a:r>
              <a:rPr sz="1275" b="0">
                <a:solidFill>
                  <a:srgbClr val="172033"/>
                </a:solidFill>
                <a:latin typeface="NanumGothic"/>
                <a:ea typeface="NanumGothic"/>
                <a:cs typeface="NanumGothic"/>
              </a:rPr>
              <a:t>음성 · 생체정보/PIN 인증 · 참가자 연구는 새 동의가 필요</a:t>
            </a:r>
          </a:p>
        </p:txBody>
      </p:sp>
      <p:sp>
        <p:nvSpPr>
          <p:cNvPr id="30" name="">
            <a:extLst xmlns:a="http://schemas.openxmlformats.org/drawingml/2006/main">
              <a:ext uri="{FF2B5EF4-FFF2-40B4-BE49-F238E27FC236}">
                <a16:creationId xmlns:a16="http://schemas.microsoft.com/office/drawing/2014/main" id="{26DBB9DE-0FF5-482D-93CB-77C109D7281B}"/>
              </a:ext>
            </a:extLst>
          </p:cNvPr>
          <p:cNvSpPr>
            <a:spLocks xmlns:a="http://schemas.openxmlformats.org/drawingml/2006/main" noGrp="1"/>
          </p:cNvSpPr>
          <p:nvPr/>
        </p:nvSpPr>
        <p:spPr>
          <a:xfrm xmlns:a="http://schemas.openxmlformats.org/drawingml/2006/main">
            <a:off x="762000" y="5514975"/>
            <a:ext cx="105727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31" name="">
            <a:extLst xmlns:a="http://schemas.openxmlformats.org/drawingml/2006/main">
              <a:ext uri="{FF2B5EF4-FFF2-40B4-BE49-F238E27FC236}">
                <a16:creationId xmlns:a16="http://schemas.microsoft.com/office/drawing/2014/main" id="{C4708EF6-3164-4D80-A890-1EAAF83B3A62}"/>
              </a:ext>
            </a:extLst>
          </p:cNvPr>
          <p:cNvSpPr>
            <a:spLocks xmlns:a="http://schemas.openxmlformats.org/drawingml/2006/main" noGrp="1"/>
          </p:cNvSpPr>
          <p:nvPr/>
        </p:nvSpPr>
        <p:spPr>
          <a:xfrm xmlns:a="http://schemas.openxmlformats.org/drawingml/2006/main">
            <a:off x="723900" y="5953125"/>
            <a:ext cx="10668000" cy="495300"/>
          </a:xfrm>
          <a:prstGeom xmlns:a="http://schemas.openxmlformats.org/drawingml/2006/main" prst="roundRect">
            <a:avLst>
              <a:gd name="adj" fmla="val 15385"/>
            </a:avLst>
          </a:prstGeom>
          <a:solidFill xmlns:a="http://schemas.openxmlformats.org/drawingml/2006/main">
            <a:srgbClr val="0F1B2D"/>
          </a:solidFill>
          <a:ln xmlns:a="http://schemas.openxmlformats.org/drawingml/2006/main" w="9525">
            <a:solidFill>
              <a:srgbClr val="0F1B2D"/>
            </a:solidFill>
            <a:prstDash val="solid"/>
          </a:ln>
        </p:spPr>
      </p:sp>
      <p:sp>
        <p:nvSpPr>
          <p:cNvPr id="32" name="">
            <a:extLst xmlns:a="http://schemas.openxmlformats.org/drawingml/2006/main">
              <a:ext uri="{FF2B5EF4-FFF2-40B4-BE49-F238E27FC236}">
                <a16:creationId xmlns:a16="http://schemas.microsoft.com/office/drawing/2014/main" id="{22DFB688-830A-47A1-84C4-597020005CFD}"/>
              </a:ext>
            </a:extLst>
          </p:cNvPr>
          <p:cNvSpPr>
            <a:spLocks xmlns:a="http://schemas.openxmlformats.org/drawingml/2006/main" noGrp="1"/>
          </p:cNvSpPr>
          <p:nvPr/>
        </p:nvSpPr>
        <p:spPr>
          <a:xfrm xmlns:a="http://schemas.openxmlformats.org/drawingml/2006/main">
            <a:off x="904875" y="60674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FFFFF"/>
                </a:solidFill>
                <a:latin typeface="NanumGothic"/>
                <a:ea typeface="NanumGothic"/>
                <a:cs typeface="NanumGothic"/>
              </a:defRPr>
            </a:pPr>
            <a:r>
              <a:rPr sz="1350" b="1">
                <a:solidFill>
                  <a:srgbClr val="FFFFFF"/>
                </a:solidFill>
                <a:latin typeface="NanumGothic"/>
                <a:ea typeface="NanumGothic"/>
                <a:cs typeface="NanumGothic"/>
              </a:rPr>
              <a:t>정리: 구현 자체는 발표 가능한 상태이고, 비교 결론을 확정할 실험과 외부 검증이 남아 있습니다.</a:t>
            </a:r>
          </a:p>
        </p:txBody>
      </p:sp>
    </p:spTree>
    <p:extLst>
      <p:ext uri="{BB962C8B-B14F-4D97-AF65-F5344CB8AC3E}">
        <p14:creationId xmlns:p14="http://schemas.microsoft.com/office/powerpoint/2010/main" val="61483467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CDE2A32-D3B1-4D72-8FAF-D256570307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AC3348-43E8-4E45-8098-A3523B1B965F}"/>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현재 구현과 남은 검증</a:t>
            </a:r>
          </a:p>
        </p:txBody>
      </p:sp>
      <p:sp>
        <p:nvSpPr>
          <p:cNvPr id="3" name="">
            <a:extLst xmlns:a="http://schemas.openxmlformats.org/drawingml/2006/main">
              <a:ext uri="{FF2B5EF4-FFF2-40B4-BE49-F238E27FC236}">
                <a16:creationId xmlns:a16="http://schemas.microsoft.com/office/drawing/2014/main" id="{B815596B-62CB-46C9-9427-B6B16739A7E8}"/>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14</a:t>
            </a:r>
          </a:p>
        </p:txBody>
      </p:sp>
      <p:sp>
        <p:nvSpPr>
          <p:cNvPr id="4" name="">
            <a:extLst xmlns:a="http://schemas.openxmlformats.org/drawingml/2006/main">
              <a:ext uri="{FF2B5EF4-FFF2-40B4-BE49-F238E27FC236}">
                <a16:creationId xmlns:a16="http://schemas.microsoft.com/office/drawing/2014/main" id="{0DD8043A-46E2-4BC0-84B7-C3C4AD205650}"/>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FB9C3966-59E5-48FF-8787-4BB77B2E5A5E}"/>
              </a:ext>
            </a:extLst>
          </p:cNvPr>
          <p:cNvSpPr>
            <a:spLocks xmlns:a="http://schemas.openxmlformats.org/drawingml/2006/main" noGrp="1"/>
          </p:cNvSpPr>
          <p:nvPr/>
        </p:nvSpPr>
        <p:spPr>
          <a:xfrm xmlns:a="http://schemas.openxmlformats.org/drawingml/2006/main">
            <a:off x="723900" y="1352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1A66B"/>
                </a:solidFill>
                <a:latin typeface="NanumGothic"/>
                <a:ea typeface="NanumGothic"/>
                <a:cs typeface="NanumGothic"/>
              </a:defRPr>
            </a:pPr>
            <a:r>
              <a:rPr sz="1725" b="1">
                <a:solidFill>
                  <a:srgbClr val="21A66B"/>
                </a:solidFill>
                <a:latin typeface="NanumGothic"/>
                <a:ea typeface="NanumGothic"/>
                <a:cs typeface="NanumGothic"/>
              </a:rPr>
              <a:t>구현된 범위</a:t>
            </a:r>
          </a:p>
        </p:txBody>
      </p:sp>
      <p:sp>
        <p:nvSpPr>
          <p:cNvPr id="6" name="">
            <a:extLst xmlns:a="http://schemas.openxmlformats.org/drawingml/2006/main">
              <a:ext uri="{FF2B5EF4-FFF2-40B4-BE49-F238E27FC236}">
                <a16:creationId xmlns:a16="http://schemas.microsoft.com/office/drawing/2014/main" id="{16061ED9-DE4D-4AE4-870F-552FE73E91E2}"/>
              </a:ext>
            </a:extLst>
          </p:cNvPr>
          <p:cNvSpPr>
            <a:spLocks xmlns:a="http://schemas.openxmlformats.org/drawingml/2006/main" noGrp="1"/>
          </p:cNvSpPr>
          <p:nvPr/>
        </p:nvSpPr>
        <p:spPr>
          <a:xfrm xmlns:a="http://schemas.openxmlformats.org/drawingml/2006/main">
            <a:off x="723900" y="1857375"/>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13개 제한된 Windows 기능</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구조화된 계획과 위험 정책</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정확한 행동에 묶인 승인 토큰</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실행 후 독립 검증과 감사 로그</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로컬 중단, 기억 검색, 배포 패키지</a:t>
            </a:r>
          </a:p>
        </p:txBody>
      </p:sp>
      <p:sp>
        <p:nvSpPr>
          <p:cNvPr id="7" name="">
            <a:extLst xmlns:a="http://schemas.openxmlformats.org/drawingml/2006/main">
              <a:ext uri="{FF2B5EF4-FFF2-40B4-BE49-F238E27FC236}">
                <a16:creationId xmlns:a16="http://schemas.microsoft.com/office/drawing/2014/main" id="{46DCB417-6AE0-4BB4-9052-7E45242AB7A9}"/>
              </a:ext>
            </a:extLst>
          </p:cNvPr>
          <p:cNvSpPr>
            <a:spLocks xmlns:a="http://schemas.openxmlformats.org/drawingml/2006/main" noGrp="1"/>
          </p:cNvSpPr>
          <p:nvPr/>
        </p:nvSpPr>
        <p:spPr>
          <a:xfrm xmlns:a="http://schemas.openxmlformats.org/drawingml/2006/main">
            <a:off x="6191250" y="1352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3A68"/>
                </a:solidFill>
                <a:latin typeface="NanumGothic"/>
                <a:ea typeface="NanumGothic"/>
                <a:cs typeface="NanumGothic"/>
              </a:defRPr>
            </a:pPr>
            <a:r>
              <a:rPr sz="1725" b="1">
                <a:solidFill>
                  <a:srgbClr val="173A68"/>
                </a:solidFill>
                <a:latin typeface="NanumGothic"/>
                <a:ea typeface="NanumGothic"/>
                <a:cs typeface="NanumGothic"/>
              </a:rPr>
              <a:t>확인된 증거</a:t>
            </a:r>
          </a:p>
        </p:txBody>
      </p:sp>
      <p:sp>
        <p:nvSpPr>
          <p:cNvPr id="8" name="">
            <a:extLst xmlns:a="http://schemas.openxmlformats.org/drawingml/2006/main">
              <a:ext uri="{FF2B5EF4-FFF2-40B4-BE49-F238E27FC236}">
                <a16:creationId xmlns:a16="http://schemas.microsoft.com/office/drawing/2014/main" id="{7DB55534-2C12-4B41-9C14-AD3E9ADAC04A}"/>
              </a:ext>
            </a:extLst>
          </p:cNvPr>
          <p:cNvSpPr>
            <a:spLocks xmlns:a="http://schemas.openxmlformats.org/drawingml/2006/main" noGrp="1"/>
          </p:cNvSpPr>
          <p:nvPr/>
        </p:nvSpPr>
        <p:spPr>
          <a:xfrm xmlns:a="http://schemas.openxmlformats.org/drawingml/2006/main">
            <a:off x="6191250" y="1857375"/>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전체 회귀 766 통과, 3 건너뜀</a:t>
            </a:r>
          </a:p>
          <a:p xmlns:a="http://schemas.openxmlformats.org/drawingml/2006/main">
            <a:pPr>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코드 줄 기준 시험 범위 83%</a:t>
            </a:r>
          </a:p>
          <a:p xmlns:a="http://schemas.openxmlformats.org/drawingml/2006/main">
            <a:pPr>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시스템 점검 15/15 통과</a:t>
            </a:r>
          </a:p>
          <a:p xmlns:a="http://schemas.openxmlformats.org/drawingml/2006/main">
            <a:pPr>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제품 서비스 13개 기능 조립 성공</a:t>
            </a:r>
          </a:p>
          <a:p xmlns:a="http://schemas.openxmlformats.org/drawingml/2006/main">
            <a:pPr>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설치 프로그램 실제 최초 설치 성공</a:t>
            </a:r>
          </a:p>
          <a:p xmlns:a="http://schemas.openxmlformats.org/drawingml/2006/main">
            <a:pPr>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벤치마크 70/120 셀 수집</a:t>
            </a:r>
          </a:p>
        </p:txBody>
      </p:sp>
      <p:sp>
        <p:nvSpPr>
          <p:cNvPr id="9" name="">
            <a:extLst xmlns:a="http://schemas.openxmlformats.org/drawingml/2006/main">
              <a:ext uri="{FF2B5EF4-FFF2-40B4-BE49-F238E27FC236}">
                <a16:creationId xmlns:a16="http://schemas.microsoft.com/office/drawing/2014/main" id="{1E3205BD-573A-4590-8375-5CD9D2AFB75A}"/>
              </a:ext>
            </a:extLst>
          </p:cNvPr>
          <p:cNvSpPr>
            <a:spLocks xmlns:a="http://schemas.openxmlformats.org/drawingml/2006/main" noGrp="1"/>
          </p:cNvSpPr>
          <p:nvPr/>
        </p:nvSpPr>
        <p:spPr>
          <a:xfrm xmlns:a="http://schemas.openxmlformats.org/drawingml/2006/main">
            <a:off x="685800" y="4953000"/>
            <a:ext cx="108204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0" name="">
            <a:extLst xmlns:a="http://schemas.openxmlformats.org/drawingml/2006/main">
              <a:ext uri="{FF2B5EF4-FFF2-40B4-BE49-F238E27FC236}">
                <a16:creationId xmlns:a16="http://schemas.microsoft.com/office/drawing/2014/main" id="{3EF9DE83-B6EA-4DF5-8FF8-0649095E17CA}"/>
              </a:ext>
            </a:extLst>
          </p:cNvPr>
          <p:cNvSpPr>
            <a:spLocks xmlns:a="http://schemas.openxmlformats.org/drawingml/2006/main" noGrp="1"/>
          </p:cNvSpPr>
          <p:nvPr/>
        </p:nvSpPr>
        <p:spPr>
          <a:xfrm xmlns:a="http://schemas.openxmlformats.org/drawingml/2006/main">
            <a:off x="723900" y="52387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E45757"/>
                </a:solidFill>
                <a:latin typeface="NanumGothic"/>
                <a:ea typeface="NanumGothic"/>
                <a:cs typeface="NanumGothic"/>
              </a:defRPr>
            </a:pPr>
            <a:r>
              <a:rPr sz="1575" b="1">
                <a:solidFill>
                  <a:srgbClr val="E45757"/>
                </a:solidFill>
                <a:latin typeface="NanumGothic"/>
                <a:ea typeface="NanumGothic"/>
                <a:cs typeface="NanumGothic"/>
              </a:rPr>
              <a:t>남은 외부 증거</a:t>
            </a:r>
          </a:p>
        </p:txBody>
      </p:sp>
      <p:sp>
        <p:nvSpPr>
          <p:cNvPr id="11" name="">
            <a:extLst xmlns:a="http://schemas.openxmlformats.org/drawingml/2006/main">
              <a:ext uri="{FF2B5EF4-FFF2-40B4-BE49-F238E27FC236}">
                <a16:creationId xmlns:a16="http://schemas.microsoft.com/office/drawing/2014/main" id="{4CBF321B-34EC-41DA-AD53-01DEF41C18C0}"/>
              </a:ext>
            </a:extLst>
          </p:cNvPr>
          <p:cNvSpPr>
            <a:spLocks xmlns:a="http://schemas.openxmlformats.org/drawingml/2006/main" noGrp="1"/>
          </p:cNvSpPr>
          <p:nvPr/>
        </p:nvSpPr>
        <p:spPr>
          <a:xfrm xmlns:a="http://schemas.openxmlformats.org/drawingml/2006/main">
            <a:off x="2857500" y="519112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72033"/>
                </a:solidFill>
                <a:latin typeface="NanumGothic"/>
                <a:ea typeface="NanumGothic"/>
                <a:cs typeface="NanumGothic"/>
              </a:defRPr>
            </a:pPr>
            <a:r>
              <a:rPr sz="1425" b="0">
                <a:solidFill>
                  <a:srgbClr val="172033"/>
                </a:solidFill>
                <a:latin typeface="NanumGothic"/>
                <a:ea typeface="NanumGothic"/>
                <a:cs typeface="NanumGothic"/>
              </a:rPr>
              <a:t>초기화 가상머신 50칸 · 코드 서명 인증서 · 실제 음성/생체정보·PIN 인증 · 참가자 연구</a:t>
            </a:r>
          </a:p>
        </p:txBody>
      </p:sp>
      <p:sp>
        <p:nvSpPr>
          <p:cNvPr id="12" name="">
            <a:extLst xmlns:a="http://schemas.openxmlformats.org/drawingml/2006/main">
              <a:ext uri="{FF2B5EF4-FFF2-40B4-BE49-F238E27FC236}">
                <a16:creationId xmlns:a16="http://schemas.microsoft.com/office/drawing/2014/main" id="{0BB0633E-4947-457D-B938-3D170397E515}"/>
              </a:ext>
            </a:extLst>
          </p:cNvPr>
          <p:cNvSpPr>
            <a:spLocks xmlns:a="http://schemas.openxmlformats.org/drawingml/2006/main" noGrp="1"/>
          </p:cNvSpPr>
          <p:nvPr/>
        </p:nvSpPr>
        <p:spPr>
          <a:xfrm xmlns:a="http://schemas.openxmlformats.org/drawingml/2006/main">
            <a:off x="7239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68"/>
                </a:solidFill>
                <a:latin typeface="NanumGothic"/>
                <a:ea typeface="NanumGothic"/>
                <a:cs typeface="NanumGothic"/>
              </a:defRPr>
            </a:pPr>
            <a:r>
              <a:rPr sz="1500" b="1">
                <a:solidFill>
                  <a:srgbClr val="173A68"/>
                </a:solidFill>
                <a:latin typeface="NanumGothic"/>
                <a:ea typeface="NanumGothic"/>
                <a:cs typeface="NanumGothic"/>
              </a:rPr>
              <a:t>현재 결과물은 강한 안전 제어 시제품이다. 논문 결론은 남은 실험을 마친 뒤 확정한다.</a:t>
            </a:r>
          </a:p>
        </p:txBody>
      </p:sp>
    </p:spTree>
    <p:extLst>
      <p:ext uri="{BB962C8B-B14F-4D97-AF65-F5344CB8AC3E}">
        <p14:creationId xmlns:p14="http://schemas.microsoft.com/office/powerpoint/2010/main" val="18816828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B98048D-C68A-4303-8598-7F42237C95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8533DA-676D-4A25-8C18-5E24A6E90DC7}"/>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교수님 예상 질문과 답변</a:t>
            </a:r>
          </a:p>
        </p:txBody>
      </p:sp>
      <p:sp>
        <p:nvSpPr>
          <p:cNvPr id="3" name="">
            <a:extLst xmlns:a="http://schemas.openxmlformats.org/drawingml/2006/main">
              <a:ext uri="{FF2B5EF4-FFF2-40B4-BE49-F238E27FC236}">
                <a16:creationId xmlns:a16="http://schemas.microsoft.com/office/drawing/2014/main" id="{C77F3D63-1E18-4908-A3C2-9853ABBF3A50}"/>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15</a:t>
            </a:r>
          </a:p>
        </p:txBody>
      </p:sp>
      <p:sp>
        <p:nvSpPr>
          <p:cNvPr id="4" name="">
            <a:extLst xmlns:a="http://schemas.openxmlformats.org/drawingml/2006/main">
              <a:ext uri="{FF2B5EF4-FFF2-40B4-BE49-F238E27FC236}">
                <a16:creationId xmlns:a16="http://schemas.microsoft.com/office/drawing/2014/main" id="{DA382783-CE22-4C93-8E0E-5044D14567B5}"/>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89F91A17-B83D-4674-B3C5-A1C0FBED3A70}"/>
              </a:ext>
            </a:extLst>
          </p:cNvPr>
          <p:cNvSpPr>
            <a:spLocks xmlns:a="http://schemas.openxmlformats.org/drawingml/2006/main" noGrp="1"/>
          </p:cNvSpPr>
          <p:nvPr/>
        </p:nvSpPr>
        <p:spPr>
          <a:xfrm xmlns:a="http://schemas.openxmlformats.org/drawingml/2006/main">
            <a:off x="704850" y="12858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Q1</a:t>
            </a:r>
          </a:p>
        </p:txBody>
      </p:sp>
      <p:sp>
        <p:nvSpPr>
          <p:cNvPr id="6" name="">
            <a:extLst xmlns:a="http://schemas.openxmlformats.org/drawingml/2006/main">
              <a:ext uri="{FF2B5EF4-FFF2-40B4-BE49-F238E27FC236}">
                <a16:creationId xmlns:a16="http://schemas.microsoft.com/office/drawing/2014/main" id="{FC30DBF2-0318-4B6B-89AC-F38F769329E0}"/>
              </a:ext>
            </a:extLst>
          </p:cNvPr>
          <p:cNvSpPr>
            <a:spLocks xmlns:a="http://schemas.openxmlformats.org/drawingml/2006/main" noGrp="1"/>
          </p:cNvSpPr>
          <p:nvPr/>
        </p:nvSpPr>
        <p:spPr>
          <a:xfrm xmlns:a="http://schemas.openxmlformats.org/drawingml/2006/main">
            <a:off x="1238250" y="12382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정확히 무엇을 만들었나?</a:t>
            </a:r>
          </a:p>
        </p:txBody>
      </p:sp>
      <p:sp>
        <p:nvSpPr>
          <p:cNvPr id="7" name="">
            <a:extLst xmlns:a="http://schemas.openxmlformats.org/drawingml/2006/main">
              <a:ext uri="{FF2B5EF4-FFF2-40B4-BE49-F238E27FC236}">
                <a16:creationId xmlns:a16="http://schemas.microsoft.com/office/drawing/2014/main" id="{0532C000-275D-42E8-B62E-E98A77E4EA1C}"/>
              </a:ext>
            </a:extLst>
          </p:cNvPr>
          <p:cNvSpPr>
            <a:spLocks xmlns:a="http://schemas.openxmlformats.org/drawingml/2006/main" noGrp="1"/>
          </p:cNvSpPr>
          <p:nvPr/>
        </p:nvSpPr>
        <p:spPr>
          <a:xfrm xmlns:a="http://schemas.openxmlformats.org/drawingml/2006/main">
            <a:off x="4714875" y="12382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LLM이 제안한 Windows 행동을 의도·위험·승인·독립 검증으로 통제하는 음성 작업 에이전트입니다.</a:t>
            </a:r>
          </a:p>
        </p:txBody>
      </p:sp>
      <p:sp>
        <p:nvSpPr>
          <p:cNvPr id="8" name="">
            <a:extLst xmlns:a="http://schemas.openxmlformats.org/drawingml/2006/main">
              <a:ext uri="{FF2B5EF4-FFF2-40B4-BE49-F238E27FC236}">
                <a16:creationId xmlns:a16="http://schemas.microsoft.com/office/drawing/2014/main" id="{69F817C0-D238-47BB-9C0A-68AC44E0D933}"/>
              </a:ext>
            </a:extLst>
          </p:cNvPr>
          <p:cNvSpPr>
            <a:spLocks xmlns:a="http://schemas.openxmlformats.org/drawingml/2006/main" noGrp="1"/>
          </p:cNvSpPr>
          <p:nvPr/>
        </p:nvSpPr>
        <p:spPr>
          <a:xfrm xmlns:a="http://schemas.openxmlformats.org/drawingml/2006/main">
            <a:off x="1238250" y="19050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9" name="">
            <a:extLst xmlns:a="http://schemas.openxmlformats.org/drawingml/2006/main">
              <a:ext uri="{FF2B5EF4-FFF2-40B4-BE49-F238E27FC236}">
                <a16:creationId xmlns:a16="http://schemas.microsoft.com/office/drawing/2014/main" id="{016E7AC0-F75E-4CEE-A3AF-A95CCD5C1BEA}"/>
              </a:ext>
            </a:extLst>
          </p:cNvPr>
          <p:cNvSpPr>
            <a:spLocks xmlns:a="http://schemas.openxmlformats.org/drawingml/2006/main" noGrp="1"/>
          </p:cNvSpPr>
          <p:nvPr/>
        </p:nvSpPr>
        <p:spPr>
          <a:xfrm xmlns:a="http://schemas.openxmlformats.org/drawingml/2006/main">
            <a:off x="704850" y="21240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Q2</a:t>
            </a:r>
          </a:p>
        </p:txBody>
      </p:sp>
      <p:sp>
        <p:nvSpPr>
          <p:cNvPr id="10" name="">
            <a:extLst xmlns:a="http://schemas.openxmlformats.org/drawingml/2006/main">
              <a:ext uri="{FF2B5EF4-FFF2-40B4-BE49-F238E27FC236}">
                <a16:creationId xmlns:a16="http://schemas.microsoft.com/office/drawing/2014/main" id="{2363D8E8-771D-40E8-B8B4-1129C08891C6}"/>
              </a:ext>
            </a:extLst>
          </p:cNvPr>
          <p:cNvSpPr>
            <a:spLocks xmlns:a="http://schemas.openxmlformats.org/drawingml/2006/main" noGrp="1"/>
          </p:cNvSpPr>
          <p:nvPr/>
        </p:nvSpPr>
        <p:spPr>
          <a:xfrm xmlns:a="http://schemas.openxmlformats.org/drawingml/2006/main">
            <a:off x="1238250" y="20764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기존 PC 에이전트와 차이는?</a:t>
            </a:r>
          </a:p>
        </p:txBody>
      </p:sp>
      <p:sp>
        <p:nvSpPr>
          <p:cNvPr id="11" name="">
            <a:extLst xmlns:a="http://schemas.openxmlformats.org/drawingml/2006/main">
              <a:ext uri="{FF2B5EF4-FFF2-40B4-BE49-F238E27FC236}">
                <a16:creationId xmlns:a16="http://schemas.microsoft.com/office/drawing/2014/main" id="{B4FF8993-D81E-436B-AA5C-C22367C6EA2C}"/>
              </a:ext>
            </a:extLst>
          </p:cNvPr>
          <p:cNvSpPr>
            <a:spLocks xmlns:a="http://schemas.openxmlformats.org/drawingml/2006/main" noGrp="1"/>
          </p:cNvSpPr>
          <p:nvPr/>
        </p:nvSpPr>
        <p:spPr>
          <a:xfrm xmlns:a="http://schemas.openxmlformats.org/drawingml/2006/main">
            <a:off x="4714875" y="20764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PC 조작 범위보다 상시 음성 명령 판별과 제안·권한·완료 판정의 분리에 연구 초점을 둡니다.</a:t>
            </a:r>
          </a:p>
        </p:txBody>
      </p:sp>
      <p:sp>
        <p:nvSpPr>
          <p:cNvPr id="12" name="">
            <a:extLst xmlns:a="http://schemas.openxmlformats.org/drawingml/2006/main">
              <a:ext uri="{FF2B5EF4-FFF2-40B4-BE49-F238E27FC236}">
                <a16:creationId xmlns:a16="http://schemas.microsoft.com/office/drawing/2014/main" id="{1466140C-C522-4869-BEBD-823D4A35276A}"/>
              </a:ext>
            </a:extLst>
          </p:cNvPr>
          <p:cNvSpPr>
            <a:spLocks xmlns:a="http://schemas.openxmlformats.org/drawingml/2006/main" noGrp="1"/>
          </p:cNvSpPr>
          <p:nvPr/>
        </p:nvSpPr>
        <p:spPr>
          <a:xfrm xmlns:a="http://schemas.openxmlformats.org/drawingml/2006/main">
            <a:off x="1238250" y="27432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3" name="">
            <a:extLst xmlns:a="http://schemas.openxmlformats.org/drawingml/2006/main">
              <a:ext uri="{FF2B5EF4-FFF2-40B4-BE49-F238E27FC236}">
                <a16:creationId xmlns:a16="http://schemas.microsoft.com/office/drawing/2014/main" id="{7EFFE55C-F3E8-4793-A3FD-4B83EAA5D440}"/>
              </a:ext>
            </a:extLst>
          </p:cNvPr>
          <p:cNvSpPr>
            <a:spLocks xmlns:a="http://schemas.openxmlformats.org/drawingml/2006/main" noGrp="1"/>
          </p:cNvSpPr>
          <p:nvPr/>
        </p:nvSpPr>
        <p:spPr>
          <a:xfrm xmlns:a="http://schemas.openxmlformats.org/drawingml/2006/main">
            <a:off x="704850" y="29622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Q3</a:t>
            </a:r>
          </a:p>
        </p:txBody>
      </p:sp>
      <p:sp>
        <p:nvSpPr>
          <p:cNvPr id="14" name="">
            <a:extLst xmlns:a="http://schemas.openxmlformats.org/drawingml/2006/main">
              <a:ext uri="{FF2B5EF4-FFF2-40B4-BE49-F238E27FC236}">
                <a16:creationId xmlns:a16="http://schemas.microsoft.com/office/drawing/2014/main" id="{ED357C96-141A-4D42-9081-DF38A5781045}"/>
              </a:ext>
            </a:extLst>
          </p:cNvPr>
          <p:cNvSpPr>
            <a:spLocks xmlns:a="http://schemas.openxmlformats.org/drawingml/2006/main" noGrp="1"/>
          </p:cNvSpPr>
          <p:nvPr/>
        </p:nvSpPr>
        <p:spPr>
          <a:xfrm xmlns:a="http://schemas.openxmlformats.org/drawingml/2006/main">
            <a:off x="1238250" y="29146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왜 NIM 모델을 쓰나?</a:t>
            </a:r>
          </a:p>
        </p:txBody>
      </p:sp>
      <p:sp>
        <p:nvSpPr>
          <p:cNvPr id="15" name="">
            <a:extLst xmlns:a="http://schemas.openxmlformats.org/drawingml/2006/main">
              <a:ext uri="{FF2B5EF4-FFF2-40B4-BE49-F238E27FC236}">
                <a16:creationId xmlns:a16="http://schemas.microsoft.com/office/drawing/2014/main" id="{7A94E745-747E-4FE7-ACD0-0A2C0C81D6E1}"/>
              </a:ext>
            </a:extLst>
          </p:cNvPr>
          <p:cNvSpPr>
            <a:spLocks xmlns:a="http://schemas.openxmlformats.org/drawingml/2006/main" noGrp="1"/>
          </p:cNvSpPr>
          <p:nvPr/>
        </p:nvSpPr>
        <p:spPr>
          <a:xfrm xmlns:a="http://schemas.openxmlformats.org/drawingml/2006/main">
            <a:off x="4714875" y="29146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언어 이해와 계획 생성 부품으로 사용합니다. 모델은 교체 가능하며 연구 기여는 실행 하네스입니다.</a:t>
            </a:r>
          </a:p>
        </p:txBody>
      </p:sp>
      <p:sp>
        <p:nvSpPr>
          <p:cNvPr id="16" name="">
            <a:extLst xmlns:a="http://schemas.openxmlformats.org/drawingml/2006/main">
              <a:ext uri="{FF2B5EF4-FFF2-40B4-BE49-F238E27FC236}">
                <a16:creationId xmlns:a16="http://schemas.microsoft.com/office/drawing/2014/main" id="{25CA25FE-4C8B-40BF-A9C0-614F1716B23B}"/>
              </a:ext>
            </a:extLst>
          </p:cNvPr>
          <p:cNvSpPr>
            <a:spLocks xmlns:a="http://schemas.openxmlformats.org/drawingml/2006/main" noGrp="1"/>
          </p:cNvSpPr>
          <p:nvPr/>
        </p:nvSpPr>
        <p:spPr>
          <a:xfrm xmlns:a="http://schemas.openxmlformats.org/drawingml/2006/main">
            <a:off x="1238250" y="35814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7" name="">
            <a:extLst xmlns:a="http://schemas.openxmlformats.org/drawingml/2006/main">
              <a:ext uri="{FF2B5EF4-FFF2-40B4-BE49-F238E27FC236}">
                <a16:creationId xmlns:a16="http://schemas.microsoft.com/office/drawing/2014/main" id="{320FB96B-06AA-48AD-976E-C7B0CDEA007E}"/>
              </a:ext>
            </a:extLst>
          </p:cNvPr>
          <p:cNvSpPr>
            <a:spLocks xmlns:a="http://schemas.openxmlformats.org/drawingml/2006/main" noGrp="1"/>
          </p:cNvSpPr>
          <p:nvPr/>
        </p:nvSpPr>
        <p:spPr>
          <a:xfrm xmlns:a="http://schemas.openxmlformats.org/drawingml/2006/main">
            <a:off x="704850" y="38004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Q4</a:t>
            </a:r>
          </a:p>
        </p:txBody>
      </p:sp>
      <p:sp>
        <p:nvSpPr>
          <p:cNvPr id="18" name="">
            <a:extLst xmlns:a="http://schemas.openxmlformats.org/drawingml/2006/main">
              <a:ext uri="{FF2B5EF4-FFF2-40B4-BE49-F238E27FC236}">
                <a16:creationId xmlns:a16="http://schemas.microsoft.com/office/drawing/2014/main" id="{2259968C-94AD-456C-B87F-36025E15A102}"/>
              </a:ext>
            </a:extLst>
          </p:cNvPr>
          <p:cNvSpPr>
            <a:spLocks xmlns:a="http://schemas.openxmlformats.org/drawingml/2006/main" noGrp="1"/>
          </p:cNvSpPr>
          <p:nvPr/>
        </p:nvSpPr>
        <p:spPr>
          <a:xfrm xmlns:a="http://schemas.openxmlformats.org/drawingml/2006/main">
            <a:off x="1238250" y="37528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스킬을 쓰면 권한이 늘어나나?</a:t>
            </a:r>
          </a:p>
        </p:txBody>
      </p:sp>
      <p:sp>
        <p:nvSpPr>
          <p:cNvPr id="19" name="">
            <a:extLst xmlns:a="http://schemas.openxmlformats.org/drawingml/2006/main">
              <a:ext uri="{FF2B5EF4-FFF2-40B4-BE49-F238E27FC236}">
                <a16:creationId xmlns:a16="http://schemas.microsoft.com/office/drawing/2014/main" id="{2F649F38-2AEA-4FC9-A4CC-EBFB233982DA}"/>
              </a:ext>
            </a:extLst>
          </p:cNvPr>
          <p:cNvSpPr>
            <a:spLocks xmlns:a="http://schemas.openxmlformats.org/drawingml/2006/main" noGrp="1"/>
          </p:cNvSpPr>
          <p:nvPr/>
        </p:nvSpPr>
        <p:spPr>
          <a:xfrm xmlns:a="http://schemas.openxmlformats.org/drawingml/2006/main">
            <a:off x="4714875" y="37528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아닙니다. 스킬은 작업 절차이고 실제 권한은 등록 기능과 정책·승인이 결정합니다.</a:t>
            </a:r>
          </a:p>
        </p:txBody>
      </p:sp>
      <p:sp>
        <p:nvSpPr>
          <p:cNvPr id="20" name="">
            <a:extLst xmlns:a="http://schemas.openxmlformats.org/drawingml/2006/main">
              <a:ext uri="{FF2B5EF4-FFF2-40B4-BE49-F238E27FC236}">
                <a16:creationId xmlns:a16="http://schemas.microsoft.com/office/drawing/2014/main" id="{6422A5A2-4B92-4F43-9AC3-9BD2C8FF7D99}"/>
              </a:ext>
            </a:extLst>
          </p:cNvPr>
          <p:cNvSpPr>
            <a:spLocks xmlns:a="http://schemas.openxmlformats.org/drawingml/2006/main" noGrp="1"/>
          </p:cNvSpPr>
          <p:nvPr/>
        </p:nvSpPr>
        <p:spPr>
          <a:xfrm xmlns:a="http://schemas.openxmlformats.org/drawingml/2006/main">
            <a:off x="1238250" y="44196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1" name="">
            <a:extLst xmlns:a="http://schemas.openxmlformats.org/drawingml/2006/main">
              <a:ext uri="{FF2B5EF4-FFF2-40B4-BE49-F238E27FC236}">
                <a16:creationId xmlns:a16="http://schemas.microsoft.com/office/drawing/2014/main" id="{541670DD-A922-4281-950F-02F094E2DE2E}"/>
              </a:ext>
            </a:extLst>
          </p:cNvPr>
          <p:cNvSpPr>
            <a:spLocks xmlns:a="http://schemas.openxmlformats.org/drawingml/2006/main" noGrp="1"/>
          </p:cNvSpPr>
          <p:nvPr/>
        </p:nvSpPr>
        <p:spPr>
          <a:xfrm xmlns:a="http://schemas.openxmlformats.org/drawingml/2006/main">
            <a:off x="704850" y="46386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Q5</a:t>
            </a:r>
          </a:p>
        </p:txBody>
      </p:sp>
      <p:sp>
        <p:nvSpPr>
          <p:cNvPr id="22" name="">
            <a:extLst xmlns:a="http://schemas.openxmlformats.org/drawingml/2006/main">
              <a:ext uri="{FF2B5EF4-FFF2-40B4-BE49-F238E27FC236}">
                <a16:creationId xmlns:a16="http://schemas.microsoft.com/office/drawing/2014/main" id="{5B971ECD-6645-4F56-ABA2-78211B825D94}"/>
              </a:ext>
            </a:extLst>
          </p:cNvPr>
          <p:cNvSpPr>
            <a:spLocks xmlns:a="http://schemas.openxmlformats.org/drawingml/2006/main" noGrp="1"/>
          </p:cNvSpPr>
          <p:nvPr/>
        </p:nvSpPr>
        <p:spPr>
          <a:xfrm xmlns:a="http://schemas.openxmlformats.org/drawingml/2006/main">
            <a:off x="1238250" y="45910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기존보다 얼마나 효율적인가?</a:t>
            </a:r>
          </a:p>
        </p:txBody>
      </p:sp>
      <p:sp>
        <p:nvSpPr>
          <p:cNvPr id="23" name="">
            <a:extLst xmlns:a="http://schemas.openxmlformats.org/drawingml/2006/main">
              <a:ext uri="{FF2B5EF4-FFF2-40B4-BE49-F238E27FC236}">
                <a16:creationId xmlns:a16="http://schemas.microsoft.com/office/drawing/2014/main" id="{1FE08420-07B7-4A1A-8ACE-D746DFEEEB65}"/>
              </a:ext>
            </a:extLst>
          </p:cNvPr>
          <p:cNvSpPr>
            <a:spLocks xmlns:a="http://schemas.openxmlformats.org/drawingml/2006/main" noGrp="1"/>
          </p:cNvSpPr>
          <p:nvPr/>
        </p:nvSpPr>
        <p:spPr>
          <a:xfrm xmlns:a="http://schemas.openxmlformats.org/drawingml/2006/main">
            <a:off x="4714875" y="45910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아직 완전 실험 전이라 수치를 주장하지 않습니다. 성공률·시간·호출·확인 부담을 함께 계산합니다.</a:t>
            </a:r>
          </a:p>
        </p:txBody>
      </p:sp>
      <p:sp>
        <p:nvSpPr>
          <p:cNvPr id="24" name="">
            <a:extLst xmlns:a="http://schemas.openxmlformats.org/drawingml/2006/main">
              <a:ext uri="{FF2B5EF4-FFF2-40B4-BE49-F238E27FC236}">
                <a16:creationId xmlns:a16="http://schemas.microsoft.com/office/drawing/2014/main" id="{67ED3F9F-A50A-4F52-8AB8-13C49CFFC7EF}"/>
              </a:ext>
            </a:extLst>
          </p:cNvPr>
          <p:cNvSpPr>
            <a:spLocks xmlns:a="http://schemas.openxmlformats.org/drawingml/2006/main" noGrp="1"/>
          </p:cNvSpPr>
          <p:nvPr/>
        </p:nvSpPr>
        <p:spPr>
          <a:xfrm xmlns:a="http://schemas.openxmlformats.org/drawingml/2006/main">
            <a:off x="1238250" y="52578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5" name="">
            <a:extLst xmlns:a="http://schemas.openxmlformats.org/drawingml/2006/main">
              <a:ext uri="{FF2B5EF4-FFF2-40B4-BE49-F238E27FC236}">
                <a16:creationId xmlns:a16="http://schemas.microsoft.com/office/drawing/2014/main" id="{60D1097C-2807-4072-8A75-B871111ED24C}"/>
              </a:ext>
            </a:extLst>
          </p:cNvPr>
          <p:cNvSpPr>
            <a:spLocks xmlns:a="http://schemas.openxmlformats.org/drawingml/2006/main" noGrp="1"/>
          </p:cNvSpPr>
          <p:nvPr/>
        </p:nvSpPr>
        <p:spPr>
          <a:xfrm xmlns:a="http://schemas.openxmlformats.org/drawingml/2006/main">
            <a:off x="704850" y="54768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Q6</a:t>
            </a:r>
          </a:p>
        </p:txBody>
      </p:sp>
      <p:sp>
        <p:nvSpPr>
          <p:cNvPr id="26" name="">
            <a:extLst xmlns:a="http://schemas.openxmlformats.org/drawingml/2006/main">
              <a:ext uri="{FF2B5EF4-FFF2-40B4-BE49-F238E27FC236}">
                <a16:creationId xmlns:a16="http://schemas.microsoft.com/office/drawing/2014/main" id="{968317D0-5826-4E11-846B-89867A65A734}"/>
              </a:ext>
            </a:extLst>
          </p:cNvPr>
          <p:cNvSpPr>
            <a:spLocks xmlns:a="http://schemas.openxmlformats.org/drawingml/2006/main" noGrp="1"/>
          </p:cNvSpPr>
          <p:nvPr/>
        </p:nvSpPr>
        <p:spPr>
          <a:xfrm xmlns:a="http://schemas.openxmlformats.org/drawingml/2006/main">
            <a:off x="1238250" y="54292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완전 자율 시스템인가?</a:t>
            </a:r>
          </a:p>
        </p:txBody>
      </p:sp>
      <p:sp>
        <p:nvSpPr>
          <p:cNvPr id="27" name="">
            <a:extLst xmlns:a="http://schemas.openxmlformats.org/drawingml/2006/main">
              <a:ext uri="{FF2B5EF4-FFF2-40B4-BE49-F238E27FC236}">
                <a16:creationId xmlns:a16="http://schemas.microsoft.com/office/drawing/2014/main" id="{1EE87261-E616-4BD3-BEC2-69823DD94F80}"/>
              </a:ext>
            </a:extLst>
          </p:cNvPr>
          <p:cNvSpPr>
            <a:spLocks xmlns:a="http://schemas.openxmlformats.org/drawingml/2006/main" noGrp="1"/>
          </p:cNvSpPr>
          <p:nvPr/>
        </p:nvSpPr>
        <p:spPr>
          <a:xfrm xmlns:a="http://schemas.openxmlformats.org/drawingml/2006/main">
            <a:off x="4714875" y="54292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아닙니다. 허용된 기능만 실행하고 위험 행동은 사용자 승인이나 강한 인증을 요구합니다.</a:t>
            </a:r>
          </a:p>
        </p:txBody>
      </p:sp>
    </p:spTree>
    <p:extLst>
      <p:ext uri="{BB962C8B-B14F-4D97-AF65-F5344CB8AC3E}">
        <p14:creationId xmlns:p14="http://schemas.microsoft.com/office/powerpoint/2010/main" val="1272223687"/>
      </p:ext>
    </p:extLst>
  </p:cSld>
</p:sld>
</file>

<file path=ppt/slides/slide16.xml><?xml version="1.0" encoding="utf-8"?>
<p:sld xmlns:p="http://schemas.openxmlformats.org/presentationml/2006/main">
  <p:cSld>
    <p:bg>
      <p:bgPr>
        <a:solidFill xmlns:a="http://schemas.openxmlformats.org/drawingml/2006/main">
          <a:srgbClr val="0E172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4AF31B-2756-41B3-AD79-3446858D6439}"/>
              </a:ext>
            </a:extLst>
          </p:cNvPr>
          <p:cNvSpPr>
            <a:spLocks xmlns:a="http://schemas.openxmlformats.org/drawingml/2006/main" noGrp="1"/>
          </p:cNvSpPr>
          <p:nvPr/>
        </p:nvSpPr>
        <p:spPr>
          <a:xfrm xmlns:a="http://schemas.openxmlformats.org/drawingml/2006/main">
            <a:off x="685800" y="5143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00" b="1">
                <a:solidFill>
                  <a:srgbClr val="FFFFFF"/>
                </a:solidFill>
                <a:latin typeface="NanumGothic"/>
                <a:ea typeface="NanumGothic"/>
                <a:cs typeface="NanumGothic"/>
              </a:defRPr>
            </a:pPr>
            <a:r>
              <a:rPr sz="2700" b="1">
                <a:solidFill>
                  <a:srgbClr val="FFFFFF"/>
                </a:solidFill>
                <a:latin typeface="NanumGothic"/>
                <a:ea typeface="NanumGothic"/>
                <a:cs typeface="NanumGothic"/>
              </a:rPr>
              <a:t>결론</a:t>
            </a:r>
          </a:p>
        </p:txBody>
      </p:sp>
      <p:sp>
        <p:nvSpPr>
          <p:cNvPr id="2" name="">
            <a:extLst xmlns:a="http://schemas.openxmlformats.org/drawingml/2006/main">
              <a:ext uri="{FF2B5EF4-FFF2-40B4-BE49-F238E27FC236}">
                <a16:creationId xmlns:a16="http://schemas.microsoft.com/office/drawing/2014/main" id="{DEC40653-FC5B-4F83-93E2-45917C001931}"/>
              </a:ext>
            </a:extLst>
          </p:cNvPr>
          <p:cNvSpPr>
            <a:spLocks xmlns:a="http://schemas.openxmlformats.org/drawingml/2006/main" noGrp="1"/>
          </p:cNvSpPr>
          <p:nvPr/>
        </p:nvSpPr>
        <p:spPr>
          <a:xfrm xmlns:a="http://schemas.openxmlformats.org/drawingml/2006/main">
            <a:off x="685800" y="12573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000" b="1">
                <a:solidFill>
                  <a:srgbClr val="FFFFFF"/>
                </a:solidFill>
                <a:latin typeface="NanumGothic"/>
                <a:ea typeface="NanumGothic"/>
                <a:cs typeface="NanumGothic"/>
              </a:defRPr>
            </a:pPr>
            <a:r>
              <a:rPr sz="3000" b="1">
                <a:solidFill>
                  <a:srgbClr val="FFFFFF"/>
                </a:solidFill>
                <a:latin typeface="NanumGothic"/>
                <a:ea typeface="NanumGothic"/>
                <a:cs typeface="NanumGothic"/>
              </a:rPr>
              <a:t>모델은 행동을 제안하고,</a:t>
            </a:r>
          </a:p>
          <a:p xmlns:a="http://schemas.openxmlformats.org/drawingml/2006/main">
            <a:pPr algn="l">
              <a:buNone/>
              <a:defRPr sz="3000" b="1">
                <a:solidFill>
                  <a:srgbClr val="FFFFFF"/>
                </a:solidFill>
                <a:latin typeface="NanumGothic"/>
                <a:ea typeface="NanumGothic"/>
                <a:cs typeface="NanumGothic"/>
              </a:defRPr>
            </a:pPr>
            <a:r>
              <a:rPr sz="3000" b="1">
                <a:solidFill>
                  <a:srgbClr val="FFFFFF"/>
                </a:solidFill>
                <a:latin typeface="NanumGothic"/>
                <a:ea typeface="NanumGothic"/>
                <a:cs typeface="NanumGothic"/>
              </a:rPr>
              <a:t>권한과 완료 판정은 검증 가능한 하네스가 담당한다.</a:t>
            </a:r>
          </a:p>
        </p:txBody>
      </p:sp>
      <p:sp>
        <p:nvSpPr>
          <p:cNvPr id="3" name="">
            <a:extLst xmlns:a="http://schemas.openxmlformats.org/drawingml/2006/main">
              <a:ext uri="{FF2B5EF4-FFF2-40B4-BE49-F238E27FC236}">
                <a16:creationId xmlns:a16="http://schemas.microsoft.com/office/drawing/2014/main" id="{75EB779D-6FC3-4DD5-A641-C208F4B3B859}"/>
              </a:ext>
            </a:extLst>
          </p:cNvPr>
          <p:cNvSpPr>
            <a:spLocks xmlns:a="http://schemas.openxmlformats.org/drawingml/2006/main" noGrp="1"/>
          </p:cNvSpPr>
          <p:nvPr/>
        </p:nvSpPr>
        <p:spPr>
          <a:xfrm xmlns:a="http://schemas.openxmlformats.org/drawingml/2006/main">
            <a:off x="723900" y="27051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59C3E5"/>
                </a:solidFill>
                <a:latin typeface="NanumGothic"/>
                <a:ea typeface="NanumGothic"/>
                <a:cs typeface="NanumGothic"/>
              </a:defRPr>
            </a:pPr>
            <a:r>
              <a:rPr sz="1425" b="1">
                <a:solidFill>
                  <a:srgbClr val="59C3E5"/>
                </a:solidFill>
                <a:latin typeface="NanumGothic"/>
                <a:ea typeface="NanumGothic"/>
                <a:cs typeface="NanumGothic"/>
              </a:rPr>
              <a:t>졸업작품</a:t>
            </a:r>
          </a:p>
        </p:txBody>
      </p:sp>
      <p:sp>
        <p:nvSpPr>
          <p:cNvPr id="4" name="">
            <a:extLst xmlns:a="http://schemas.openxmlformats.org/drawingml/2006/main">
              <a:ext uri="{FF2B5EF4-FFF2-40B4-BE49-F238E27FC236}">
                <a16:creationId xmlns:a16="http://schemas.microsoft.com/office/drawing/2014/main" id="{46F86BB8-4B72-439C-B19C-D3CE107E7799}"/>
              </a:ext>
            </a:extLst>
          </p:cNvPr>
          <p:cNvSpPr>
            <a:spLocks xmlns:a="http://schemas.openxmlformats.org/drawingml/2006/main" noGrp="1"/>
          </p:cNvSpPr>
          <p:nvPr/>
        </p:nvSpPr>
        <p:spPr>
          <a:xfrm xmlns:a="http://schemas.openxmlformats.org/drawingml/2006/main">
            <a:off x="723900" y="30861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FFFFFF"/>
                </a:solidFill>
                <a:latin typeface="NanumGothic"/>
                <a:ea typeface="NanumGothic"/>
                <a:cs typeface="NanumGothic"/>
              </a:defRPr>
            </a:pPr>
            <a:r>
              <a:rPr sz="1875" b="1">
                <a:solidFill>
                  <a:srgbClr val="FFFFFF"/>
                </a:solidFill>
                <a:latin typeface="NanumGothic"/>
                <a:ea typeface="NanumGothic"/>
                <a:cs typeface="NanumGothic"/>
              </a:rPr>
              <a:t>안전한 음성 기반 Windows 작업 에이전트</a:t>
            </a:r>
          </a:p>
        </p:txBody>
      </p:sp>
      <p:sp>
        <p:nvSpPr>
          <p:cNvPr id="5" name="">
            <a:extLst xmlns:a="http://schemas.openxmlformats.org/drawingml/2006/main">
              <a:ext uri="{FF2B5EF4-FFF2-40B4-BE49-F238E27FC236}">
                <a16:creationId xmlns:a16="http://schemas.microsoft.com/office/drawing/2014/main" id="{5CA00A88-DF24-4652-8E0F-2E6488F9408D}"/>
              </a:ext>
            </a:extLst>
          </p:cNvPr>
          <p:cNvSpPr>
            <a:spLocks xmlns:a="http://schemas.openxmlformats.org/drawingml/2006/main" noGrp="1"/>
          </p:cNvSpPr>
          <p:nvPr/>
        </p:nvSpPr>
        <p:spPr>
          <a:xfrm xmlns:a="http://schemas.openxmlformats.org/drawingml/2006/main">
            <a:off x="723900" y="374332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F2A93B"/>
                </a:solidFill>
                <a:latin typeface="NanumGothic"/>
                <a:ea typeface="NanumGothic"/>
                <a:cs typeface="NanumGothic"/>
              </a:defRPr>
            </a:pPr>
            <a:r>
              <a:rPr sz="1425" b="1">
                <a:solidFill>
                  <a:srgbClr val="F2A93B"/>
                </a:solidFill>
                <a:latin typeface="NanumGothic"/>
                <a:ea typeface="NanumGothic"/>
                <a:cs typeface="NanumGothic"/>
              </a:rPr>
              <a:t>졸업논문</a:t>
            </a:r>
          </a:p>
        </p:txBody>
      </p:sp>
      <p:sp>
        <p:nvSpPr>
          <p:cNvPr id="6" name="">
            <a:extLst xmlns:a="http://schemas.openxmlformats.org/drawingml/2006/main">
              <a:ext uri="{FF2B5EF4-FFF2-40B4-BE49-F238E27FC236}">
                <a16:creationId xmlns:a16="http://schemas.microsoft.com/office/drawing/2014/main" id="{D7F34851-88C8-48B0-AD6A-6F173339AC71}"/>
              </a:ext>
            </a:extLst>
          </p:cNvPr>
          <p:cNvSpPr>
            <a:spLocks xmlns:a="http://schemas.openxmlformats.org/drawingml/2006/main" noGrp="1"/>
          </p:cNvSpPr>
          <p:nvPr/>
        </p:nvSpPr>
        <p:spPr>
          <a:xfrm xmlns:a="http://schemas.openxmlformats.org/drawingml/2006/main">
            <a:off x="723900" y="4124325"/>
            <a:ext cx="676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FFFFFF"/>
                </a:solidFill>
                <a:latin typeface="NanumGothic"/>
                <a:ea typeface="NanumGothic"/>
                <a:cs typeface="NanumGothic"/>
              </a:defRPr>
            </a:pPr>
            <a:r>
              <a:rPr sz="1875" b="1">
                <a:solidFill>
                  <a:srgbClr val="FFFFFF"/>
                </a:solidFill>
                <a:latin typeface="NanumGothic"/>
                <a:ea typeface="NanumGothic"/>
                <a:cs typeface="NanumGothic"/>
              </a:rPr>
              <a:t>의도·위험·승인·독립 검증 하네스의 효과</a:t>
            </a:r>
          </a:p>
        </p:txBody>
      </p:sp>
      <p:sp>
        <p:nvSpPr>
          <p:cNvPr id="7" name="">
            <a:extLst xmlns:a="http://schemas.openxmlformats.org/drawingml/2006/main">
              <a:ext uri="{FF2B5EF4-FFF2-40B4-BE49-F238E27FC236}">
                <a16:creationId xmlns:a16="http://schemas.microsoft.com/office/drawing/2014/main" id="{B2CDC3CC-8219-4B9F-8C11-01ACE3FC837B}"/>
              </a:ext>
            </a:extLst>
          </p:cNvPr>
          <p:cNvSpPr>
            <a:spLocks xmlns:a="http://schemas.openxmlformats.org/drawingml/2006/main" noGrp="1"/>
          </p:cNvSpPr>
          <p:nvPr/>
        </p:nvSpPr>
        <p:spPr>
          <a:xfrm xmlns:a="http://schemas.openxmlformats.org/drawingml/2006/main">
            <a:off x="7905750" y="27051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350" b="1">
                <a:solidFill>
                  <a:srgbClr val="A9B9D0"/>
                </a:solidFill>
                <a:latin typeface="NanumGothic"/>
                <a:ea typeface="NanumGothic"/>
                <a:cs typeface="NanumGothic"/>
              </a:defRPr>
            </a:pPr>
            <a:r>
              <a:rPr sz="1350" b="1">
                <a:solidFill>
                  <a:srgbClr val="A9B9D0"/>
                </a:solidFill>
                <a:latin typeface="NanumGothic"/>
                <a:ea typeface="NanumGothic"/>
                <a:cs typeface="NanumGothic"/>
              </a:rPr>
              <a:t>주요 출처</a:t>
            </a:r>
          </a:p>
        </p:txBody>
      </p:sp>
      <p:sp>
        <p:nvSpPr>
          <p:cNvPr id="8" name="">
            <a:extLst xmlns:a="http://schemas.openxmlformats.org/drawingml/2006/main">
              <a:ext uri="{FF2B5EF4-FFF2-40B4-BE49-F238E27FC236}">
                <a16:creationId xmlns:a16="http://schemas.microsoft.com/office/drawing/2014/main" id="{8A3FF74E-D9FA-4911-B069-8A95CA7D92B4}"/>
              </a:ext>
            </a:extLst>
          </p:cNvPr>
          <p:cNvSpPr>
            <a:spLocks xmlns:a="http://schemas.openxmlformats.org/drawingml/2006/main" noGrp="1"/>
          </p:cNvSpPr>
          <p:nvPr/>
        </p:nvSpPr>
        <p:spPr>
          <a:xfrm xmlns:a="http://schemas.openxmlformats.org/drawingml/2006/main">
            <a:off x="7905750" y="3114675"/>
            <a:ext cx="3429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ReAct · 행동과 관찰 (2023)</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Voyager · 스킬 재사용 (2023)</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SWE-agent · 인터페이스 (2024)</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OSWorld / WAA · 실제 PC 평가 (2024)</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OS-Harm · 안전 평가 (2025)</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OSWorld 2.0 · 긴 작업 평가 (2026)</a:t>
            </a:r>
          </a:p>
        </p:txBody>
      </p:sp>
      <p:sp>
        <p:nvSpPr>
          <p:cNvPr id="9" name="">
            <a:extLst xmlns:a="http://schemas.openxmlformats.org/drawingml/2006/main">
              <a:ext uri="{FF2B5EF4-FFF2-40B4-BE49-F238E27FC236}">
                <a16:creationId xmlns:a16="http://schemas.microsoft.com/office/drawing/2014/main" id="{E96C8F70-A7A7-41DD-856D-6298222736A1}"/>
              </a:ext>
            </a:extLst>
          </p:cNvPr>
          <p:cNvSpPr>
            <a:spLocks xmlns:a="http://schemas.openxmlformats.org/drawingml/2006/main" noGrp="1"/>
          </p:cNvSpPr>
          <p:nvPr/>
        </p:nvSpPr>
        <p:spPr>
          <a:xfrm xmlns:a="http://schemas.openxmlformats.org/drawingml/2006/main">
            <a:off x="704850" y="561975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100" b="1">
                <a:solidFill>
                  <a:srgbClr val="59C3E5"/>
                </a:solidFill>
                <a:latin typeface="NanumGothic"/>
                <a:ea typeface="NanumGothic"/>
                <a:cs typeface="NanumGothic"/>
              </a:defRPr>
            </a:pPr>
            <a:r>
              <a:rPr sz="2100" b="1">
                <a:solidFill>
                  <a:srgbClr val="59C3E5"/>
                </a:solidFill>
                <a:latin typeface="NanumGothic"/>
                <a:ea typeface="NanumGothic"/>
                <a:cs typeface="NanumGothic"/>
              </a:rPr>
              <a:t>감사합니다</a:t>
            </a:r>
          </a:p>
        </p:txBody>
      </p:sp>
    </p:spTree>
    <p:extLst>
      <p:ext uri="{BB962C8B-B14F-4D97-AF65-F5344CB8AC3E}">
        <p14:creationId xmlns:p14="http://schemas.microsoft.com/office/powerpoint/2010/main" val="9035631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2026-10-06T10:12:33.2550000Z</dcterms:created>
  <dcterms:modified xsi:type="dcterms:W3CDTF">2026-10-06T10:12:33.2550000Z</dcterms:modified>
</coreProperties>
</file>