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36e041db0a4a4c" /><Relationship Type="http://schemas.openxmlformats.org/officeDocument/2006/relationships/extended-properties" Target="/docProps/app.xml" Id="R8f9005bbd1a34c0b" /><Relationship Type="http://schemas.openxmlformats.org/officeDocument/2006/relationships/officeDocument" Target="/ppt/presentation.xml" Id="R07ade275887c486c" /></Relationships>
</file>

<file path=ppt/presentation.xml><?xml version="1.0" encoding="utf-8"?>
<p:presentation xmlns:p="http://schemas.openxmlformats.org/presentationml/2006/main">
  <p:sldMasterIdLst>
    <p:sldMasterId xmlns:r="http://schemas.openxmlformats.org/officeDocument/2006/relationships" id="2147483648" r:id="Rcf0f66e26c7e4ad6"/>
  </p:sldMasterIdLst>
  <p:notesMasterIdLst>
    <p:notesMasterId xmlns:r="http://schemas.openxmlformats.org/officeDocument/2006/relationships" r:id="R00885ef2b7fc4eb1"/>
  </p:notesMasterIdLst>
  <p:sldIdLst>
    <p:sldId xmlns:r="http://schemas.openxmlformats.org/officeDocument/2006/relationships" id="256" r:id="Rc3d98c9dc8764316"/>
    <p:sldId xmlns:r="http://schemas.openxmlformats.org/officeDocument/2006/relationships" id="257" r:id="R2b8dfcbde75c496b"/>
    <p:sldId xmlns:r="http://schemas.openxmlformats.org/officeDocument/2006/relationships" id="258" r:id="Rda5a07782f6e4b27"/>
    <p:sldId xmlns:r="http://schemas.openxmlformats.org/officeDocument/2006/relationships" id="259" r:id="Rbacfe713cef44b66"/>
    <p:sldId xmlns:r="http://schemas.openxmlformats.org/officeDocument/2006/relationships" id="260" r:id="Ra558a3d43a6d4d4f"/>
    <p:sldId xmlns:r="http://schemas.openxmlformats.org/officeDocument/2006/relationships" id="261" r:id="R74f921f6bbdb46bb"/>
    <p:sldId xmlns:r="http://schemas.openxmlformats.org/officeDocument/2006/relationships" id="262" r:id="Rc504687e54f44b82"/>
    <p:sldId xmlns:r="http://schemas.openxmlformats.org/officeDocument/2006/relationships" id="263" r:id="R9ed94bdf6c954d8f"/>
    <p:sldId xmlns:r="http://schemas.openxmlformats.org/officeDocument/2006/relationships" id="264" r:id="R7ed68635d71c434f"/>
    <p:sldId xmlns:r="http://schemas.openxmlformats.org/officeDocument/2006/relationships" id="265" r:id="R5cc3f157ba9343b7"/>
    <p:sldId xmlns:r="http://schemas.openxmlformats.org/officeDocument/2006/relationships" id="266" r:id="Rb6f1a759f6134ecf"/>
    <p:sldId xmlns:r="http://schemas.openxmlformats.org/officeDocument/2006/relationships" id="267" r:id="Rc37e10c435a547c9"/>
    <p:sldId xmlns:r="http://schemas.openxmlformats.org/officeDocument/2006/relationships" id="268" r:id="R5089ea9f792a4a01"/>
    <p:sldId xmlns:r="http://schemas.openxmlformats.org/officeDocument/2006/relationships" id="269" r:id="R69311e66b4114a65"/>
    <p:sldId xmlns:r="http://schemas.openxmlformats.org/officeDocument/2006/relationships" id="270" r:id="R1db2f8c151f242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4e6ab9c26d4e19" /><Relationship Type="http://schemas.openxmlformats.org/officeDocument/2006/relationships/slideMaster" Target="/ppt/slideMasters/slideMaster1.xml" Id="Rcf0f66e26c7e4ad6" /><Relationship Type="http://schemas.openxmlformats.org/officeDocument/2006/relationships/notesMaster" Target="/ppt/notesMasters/notesMaster1.xml" Id="R00885ef2b7fc4eb1" /><Relationship Type="http://schemas.openxmlformats.org/officeDocument/2006/relationships/presProps" Target="/ppt/presProps.xml" Id="Red5f3ff1f9ba4f18" /><Relationship Type="http://schemas.openxmlformats.org/officeDocument/2006/relationships/tableStyles" Target="/ppt/tableStyles.xml" Id="Rc985a9252baa4b3a" /><Relationship Type="http://schemas.openxmlformats.org/officeDocument/2006/relationships/slide" Target="/ppt/slides/slide1.xml" Id="Rc3d98c9dc8764316" /><Relationship Type="http://schemas.openxmlformats.org/officeDocument/2006/relationships/slide" Target="/ppt/slides/slide2.xml" Id="R2b8dfcbde75c496b" /><Relationship Type="http://schemas.openxmlformats.org/officeDocument/2006/relationships/slide" Target="/ppt/slides/slide3.xml" Id="Rda5a07782f6e4b27" /><Relationship Type="http://schemas.openxmlformats.org/officeDocument/2006/relationships/slide" Target="/ppt/slides/slide4.xml" Id="Rbacfe713cef44b66" /><Relationship Type="http://schemas.openxmlformats.org/officeDocument/2006/relationships/slide" Target="/ppt/slides/slide5.xml" Id="Ra558a3d43a6d4d4f" /><Relationship Type="http://schemas.openxmlformats.org/officeDocument/2006/relationships/slide" Target="/ppt/slides/slide6.xml" Id="R74f921f6bbdb46bb" /><Relationship Type="http://schemas.openxmlformats.org/officeDocument/2006/relationships/slide" Target="/ppt/slides/slide7.xml" Id="Rc504687e54f44b82" /><Relationship Type="http://schemas.openxmlformats.org/officeDocument/2006/relationships/slide" Target="/ppt/slides/slide8.xml" Id="R9ed94bdf6c954d8f" /><Relationship Type="http://schemas.openxmlformats.org/officeDocument/2006/relationships/slide" Target="/ppt/slides/slide9.xml" Id="R7ed68635d71c434f" /><Relationship Type="http://schemas.openxmlformats.org/officeDocument/2006/relationships/slide" Target="/ppt/slides/slide10.xml" Id="R5cc3f157ba9343b7" /><Relationship Type="http://schemas.openxmlformats.org/officeDocument/2006/relationships/slide" Target="/ppt/slides/slide11.xml" Id="Rb6f1a759f6134ecf" /><Relationship Type="http://schemas.openxmlformats.org/officeDocument/2006/relationships/slide" Target="/ppt/slides/slide12.xml" Id="Rc37e10c435a547c9" /><Relationship Type="http://schemas.openxmlformats.org/officeDocument/2006/relationships/slide" Target="/ppt/slides/slide13.xml" Id="R5089ea9f792a4a01" /><Relationship Type="http://schemas.openxmlformats.org/officeDocument/2006/relationships/slide" Target="/ppt/slides/slide14.xml" Id="R69311e66b4114a65" /><Relationship Type="http://schemas.openxmlformats.org/officeDocument/2006/relationships/slide" Target="/ppt/slides/slide15.xml" Id="R1db2f8c151f242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ed329f2aa248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afea20c1924d57" /><Relationship Type="http://schemas.openxmlformats.org/officeDocument/2006/relationships/notesMaster" Target="/ppt/notesMasters/notesMaster1.xml" Id="Rd4806bfe470549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2cf1af1efb4a6b" /><Relationship Type="http://schemas.openxmlformats.org/officeDocument/2006/relationships/notesMaster" Target="/ppt/notesMasters/notesMaster1.xml" Id="Rfb582bca9c6c43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dd3da4c0374217" /><Relationship Type="http://schemas.openxmlformats.org/officeDocument/2006/relationships/notesMaster" Target="/ppt/notesMasters/notesMaster1.xml" Id="R699c68be705d48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6a0d10eaf541f6" /><Relationship Type="http://schemas.openxmlformats.org/officeDocument/2006/relationships/notesMaster" Target="/ppt/notesMasters/notesMaster1.xml" Id="R8f088852dc1443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0650fc95af487f" /><Relationship Type="http://schemas.openxmlformats.org/officeDocument/2006/relationships/notesMaster" Target="/ppt/notesMasters/notesMaster1.xml" Id="R39910da2117149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b137db0cf844f7" /><Relationship Type="http://schemas.openxmlformats.org/officeDocument/2006/relationships/notesMaster" Target="/ppt/notesMasters/notesMaster1.xml" Id="Rbd4ee2d6689d45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dad4c0bcbc4cf6" /><Relationship Type="http://schemas.openxmlformats.org/officeDocument/2006/relationships/notesMaster" Target="/ppt/notesMasters/notesMaster1.xml" Id="R80c0764afaaa46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6b463431f54caf" /><Relationship Type="http://schemas.openxmlformats.org/officeDocument/2006/relationships/notesMaster" Target="/ppt/notesMasters/notesMaster1.xml" Id="R6c89099c90f24b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02cd1ec0064062" /><Relationship Type="http://schemas.openxmlformats.org/officeDocument/2006/relationships/notesMaster" Target="/ppt/notesMasters/notesMaster1.xml" Id="R3a3963e18b724c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1a8c8165a247a0" /><Relationship Type="http://schemas.openxmlformats.org/officeDocument/2006/relationships/notesMaster" Target="/ppt/notesMasters/notesMaster1.xml" Id="Re2dcef6ff8e9413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63e76dbebb442b" /><Relationship Type="http://schemas.openxmlformats.org/officeDocument/2006/relationships/notesMaster" Target="/ppt/notesMasters/notesMaster1.xml" Id="R7a87fb8c708241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4464da215d4f40" /><Relationship Type="http://schemas.openxmlformats.org/officeDocument/2006/relationships/notesMaster" Target="/ppt/notesMasters/notesMaster1.xml" Id="R6ccec7a5ad264b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5ee6f0879a4a97" /><Relationship Type="http://schemas.openxmlformats.org/officeDocument/2006/relationships/notesMaster" Target="/ppt/notesMasters/notesMaster1.xml" Id="R5f9a01b70a5c44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42d5430f0a4ab5" /><Relationship Type="http://schemas.openxmlformats.org/officeDocument/2006/relationships/notesMaster" Target="/ppt/notesMasters/notesMaster1.xml" Id="R78b2d812121f47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957bdd2d644dc4" /><Relationship Type="http://schemas.openxmlformats.org/officeDocument/2006/relationships/notesMaster" Target="/ppt/notesMasters/notesMaster1.xml" Id="R08fb0b1940014b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핵심은 음성비서 기능 자체가 아닙니다. 사용자의 말을 명령으로 볼지, 어떤 행동을 허용할지, 실행 결과가 실제로 맞는지를 분리해 통제하는 Windows 작업 에이전트를 만들고 있습니다. 작품은 전체 시스템이고 논문은 이 실행 제어 하네스의 효과를 비교 실험합니다.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상시대기형에서는 오인식보다 더 큰 문제가 있습니다. 문장을 정확히 인식했더라도 사용자가 실제 명령한 것인지, 단순한 대화인지, 그리고 자동 실행해도 되는지를 별도로 판단해야 합니다. 이 구분이 없으면 작은 오류가 파일 삭제나 초기화 같은 큰 사고로 이어집니다.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PC를 클릭하는 기능 자체는 이미 여러 에이전트가 제공합니다. JARVIS-PC의 차이는 상시 음성에서 명령인지 먼저 판별하고, 모델의 계획과 실행 권한을 분리하며, 실행 후 운영체제 상태를 독립적으로 확인한다는 점입니다. OSWorld 2.0에서 Claude Opus 4.8 최대 추론 설정의 완전 완료율은 20.6%였습니다. 이 수치는 기존 시스템이 쓸모없다는 뜻이 아니라 긴 작업에서 제약 유지와 검증이 여전히 어렵다는 뜻입니다.</a:t>
            </a:r>
          </a:p>
          <a:p xmlns:a="http://schemas.openxmlformats.org/drawingml/2006/main">
            <a:r>
              <a:t/>
            </a:r>
          </a:p>
          <a:p xmlns:a="http://schemas.openxmlformats.org/drawingml/2006/main">
            <a:r>
              <a:t>출처</a:t>
            </a:r>
          </a:p>
          <a:p xmlns:a="http://schemas.openxmlformats.org/drawingml/2006/main">
            <a:r>
              <a:t>Yuan et al., OSWorld 2.0, 2026, https://arxiv.org/abs/2606.29537</a:t>
            </a:r>
          </a:p>
          <a:p xmlns:a="http://schemas.openxmlformats.org/drawingml/2006/main">
            <a:r>
              <a:t>Microsoft Research, UFO2, 2026, https://www.microsoft.com/en-us/research/publication/ufo2-the-desktop-agentos/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졸업작품과 논문을 분리해 설명할 수 있습니다. 작품에서는 음성 입력부터 Windows 조작과 결과 검증까지 전체 시스템을 보여줍니다. 논문에서는 Intent, Risk, Execution 세 단계 제어가 오작동을 얼마나 줄이는지 실험합니다.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일곱 단계로 구성됩니다. 비용을 줄이기 위해 화면을 계속 촬영하지 않고 창 변경이나 UI 이벤트가 있을 때만 비전 모델을 호출합니다. 실행은 API나 PowerShell을 우선하고, 불가능할 때 UI Automation과 화면 기반 클릭을 사용합니다. 실행 후에는 반드시 결과를 확인하고 실패하면 재계획합니다.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정책은 세 단계입니다. 낮은 위험은 즉시 실행하고, 중간 위험은 작업 계획과 취소 시간을 제공합니다. 삭제나 초기화, 외부 메시지와 결제는 음성 확인만으로 실행하지 않고 화면 승인이나 본인 인증을 요구합니다. OS-Harm 연구도 컴퓨터 사용 에이전트가 오용 요청과 프롬프트 주입에 취약할 수 있음을 보여줍니다.</a:t>
            </a:r>
          </a:p>
          <a:p xmlns:a="http://schemas.openxmlformats.org/drawingml/2006/main">
            <a:r>
              <a:t/>
            </a:r>
          </a:p>
          <a:p xmlns:a="http://schemas.openxmlformats.org/drawingml/2006/main">
            <a:r>
              <a:t>출처</a:t>
            </a:r>
          </a:p>
          <a:p xmlns:a="http://schemas.openxmlformats.org/drawingml/2006/main">
            <a:r>
              <a:t>Kuntz et al., OS-Harm: A Benchmark for Measuring Safety of Computer Use Agents, 2025, https://arxiv.org/abs/2506.14866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구현은 모듈 경계를 명확히 나눕니다. 각 함수는 원시 문자열 대신 구조화된 객체를 주고받습니다. 따라서 STT나 LLM 모델을 바꾸더라도 전체 코드를 다시 만들 필요가 없고, 의도 분류기와 위험 판단기만 독립적으로 정확도를 측정할 수 있습니다.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
            </a:r>
          </a:p>
          <a:p xmlns:a="http://schemas.openxmlformats.org/drawingml/2006/main">
            <a:r>
              <a:t>발표 후 참고</a:t>
            </a:r>
          </a:p>
          <a:p xmlns:a="http://schemas.openxmlformats.org/drawingml/2006/main">
            <a:r>
              <a:t>마스터 프롬프트 핵심 규칙:</a:t>
            </a:r>
          </a:p>
          <a:p xmlns:a="http://schemas.openxmlformats.org/drawingml/2006/main">
            <a:r>
              <a:t>1) 사용자의 최종 목표를 TaskPlan의 원자적 단계로 분해한다.</a:t>
            </a:r>
          </a:p>
          <a:p xmlns:a="http://schemas.openxmlformats.org/drawingml/2006/main">
            <a:r>
              <a:t>2) 각 단계에 tool, target, parameters, expected_state, rollback, risk_features를 기록한다.</a:t>
            </a:r>
          </a:p>
          <a:p xmlns:a="http://schemas.openxmlformats.org/drawingml/2006/main">
            <a:r>
              <a:t>3) 시스템 상태를 추측하지 말고 ContextSnapshot에 없는 정보는 관찰 또는 질문으로 해결한다.</a:t>
            </a:r>
          </a:p>
          <a:p xmlns:a="http://schemas.openxmlformats.org/drawingml/2006/main">
            <a:r>
              <a:t>4) 외부 전송·삭제·설치·권한 상승·계정·결제·초기화는 실행하지 말고 SafetyDecision을 요청한다.</a:t>
            </a:r>
          </a:p>
          <a:p xmlns:a="http://schemas.openxmlformats.org/drawingml/2006/main">
            <a:r>
              <a:t>5) 실행 후 expected_state와 실제 상태를 비교하고 불일치하면 최대 2회 재계획한다.</a:t>
            </a:r>
          </a:p>
          <a:p xmlns:a="http://schemas.openxmlformats.org/drawingml/2006/main">
            <a:r>
              <a:t>6) 출력은 설명문 없이 Goal, Assumptions, Plan, RequiredApprovals, CompletionCriteria JSON 스키마를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논문은 모델을 바꾸는 실험이 아닙니다. 동일 모델, 동일 작업, 동일 초기 상태에서 하네스의 제어 수준만 바꿉니다. B0는 직접 실행, B1은 매번 확인, P1은 의도와 위험 정책, P2는 독립 검증과 제한된 복구까지 포함합니다. P2가 더 좋다는 결론은 실험 전에 정하지 않습니다. 성공률, 위험 실행, 확인 부담, 시간과 비용을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실제 컴퓨터에 연결하는 실행 틀입니다. 스킬은 반복 작업의 절차이고 도구는 실제 한 번의 동작입니다. 가장 중요한 구분은 스킬이 권한을 늘리지 않는다는 점입니다. JARVIS-PC에서는 모델이나 스킬이 임의 명령을 실행하지 못하고 등록된 기능만 정책과 승인 뒤에 실행합니다.</a:t>
            </a:r>
          </a:p>
          <a:p xmlns:a="http://schemas.openxmlformats.org/drawingml/2006/main">
            <a:r>
              <a:t/>
            </a:r>
          </a:p>
          <a:p xmlns:a="http://schemas.openxmlformats.org/drawingml/2006/main">
            <a:r>
              <a:t>출처</a:t>
            </a:r>
          </a:p>
          <a:p xmlns:a="http://schemas.openxmlformats.org/drawingml/2006/main">
            <a:r>
              <a:t>OpenAI, Skills, https://developers.openai.com/api/docs/guides/tools-skills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재학습하지 않습니다. 대신 모델이 무엇을 보고, 어떤 행동을 선택하며, 실패했을 때 어떤 피드백을 받는지를 바꿉니다. SWE-agent는 에이전트용 컴퓨터 인터페이스 설계가 실제 코드 수정 성능과 행동에 영향을 준다고 보고했습니다. ReAct는 추론과 행동을 번갈아 수행해 외부 관찰로 계획을 갱신하는 구조를 제시했습니다.</a:t>
            </a:r>
          </a:p>
          <a:p xmlns:a="http://schemas.openxmlformats.org/drawingml/2006/main">
            <a:r>
              <a:t/>
            </a:r>
          </a:p>
          <a:p xmlns:a="http://schemas.openxmlformats.org/drawingml/2006/main">
            <a:r>
              <a:t>출처</a:t>
            </a:r>
          </a:p>
          <a:p xmlns:a="http://schemas.openxmlformats.org/drawingml/2006/main">
            <a:r>
              <a:t>Yao et al., ReAct, 2023, https://arxiv.org/abs/2210.03629</a:t>
            </a:r>
          </a:p>
          <a:p xmlns:a="http://schemas.openxmlformats.org/drawingml/2006/main">
            <a:r>
              <a:t>Yang et al., SWE-agent, 2024, https://arxiv.org/abs/2405.15793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연구들은 JARVIS-PC 전체가 이미 증명됐다는 뜻이 아닙니다. ReAct는 행동과 관찰, Voyager는 스킬 재사용, SWE-agent는 인터페이스, OSWorld와 Windows Agent Arena는 실제 컴퓨터 평가, OS-Harm은 안전 평가의 선례입니다. JARVIS-PC는 이 원리를 상시 음성 명령 판별과 위험·결과 검증에 결합하고 B0/B1/P1/P2로 자체 검증합니다.</a:t>
            </a:r>
          </a:p>
          <a:p xmlns:a="http://schemas.openxmlformats.org/drawingml/2006/main">
            <a:r>
              <a:t/>
            </a:r>
          </a:p>
          <a:p xmlns:a="http://schemas.openxmlformats.org/drawingml/2006/main">
            <a:r>
              <a:t>출처</a:t>
            </a:r>
          </a:p>
          <a:p xmlns:a="http://schemas.openxmlformats.org/drawingml/2006/main">
            <a:r>
              <a:t>Yao et al., ReAct, https://arxiv.org/abs/2210.03629</a:t>
            </a:r>
          </a:p>
          <a:p xmlns:a="http://schemas.openxmlformats.org/drawingml/2006/main">
            <a:r>
              <a:t>Wang et al., Voyager, https://arxiv.org/abs/2305.16291</a:t>
            </a:r>
          </a:p>
          <a:p xmlns:a="http://schemas.openxmlformats.org/drawingml/2006/main">
            <a:r>
              <a:t>Yang et al., SWE-agent, https://arxiv.org/abs/2405.15793</a:t>
            </a:r>
          </a:p>
          <a:p xmlns:a="http://schemas.openxmlformats.org/drawingml/2006/main">
            <a:r>
              <a:t>Xie et al., OSWorld, https://arxiv.org/abs/2404.07972</a:t>
            </a:r>
          </a:p>
          <a:p xmlns:a="http://schemas.openxmlformats.org/drawingml/2006/main">
            <a:r>
              <a:t>Bonatti et al., Windows Agent Arena, https://arxiv.org/abs/2409.08264</a:t>
            </a:r>
          </a:p>
          <a:p xmlns:a="http://schemas.openxmlformats.org/drawingml/2006/main">
            <a:r>
              <a:t>Kuntz et al., OS-Harm, https://arxiv.org/abs/2506.14866</a:t>
            </a:r>
          </a:p>
          <a:p xmlns:a="http://schemas.openxmlformats.org/drawingml/2006/main">
            <a:r>
              <a:t>Yuan et al., OSWorld 2.0, https://arxiv.org/abs/2606.29537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교수님이 기존 에이전트보다 얼마나 효율적인지 물으면 아직 확정 수치가 없다고 답해야 합니다. 현재 120개 정확한 실험 셀 중 70개를 수집했고 50개는 snapshot VM이 필요합니다. 효율성은 단순 속도가 아니라 검증된 성공을 얻는 데 필요한 시간, 모델 호출, 토큰, 사용자 확인으로 계산합니다. P2는 안전성과 복구율을 높일 수 있지만 검증 비용도 늘 수 있습니다. 정확도와 비용을 함께 평가해야 한다는 근거는 AI Agents That Matter에 있습니다.</a:t>
            </a:r>
          </a:p>
          <a:p xmlns:a="http://schemas.openxmlformats.org/drawingml/2006/main">
            <a:r>
              <a:t/>
            </a:r>
          </a:p>
          <a:p xmlns:a="http://schemas.openxmlformats.org/drawingml/2006/main">
            <a:r>
              <a:t>출처</a:t>
            </a:r>
          </a:p>
          <a:p xmlns:a="http://schemas.openxmlformats.org/drawingml/2006/main">
            <a:r>
              <a:t>Kapoor et al., AI Agents That Matter, 2024, https://arxiv.org/abs/2407.01502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실험 결과를 구분해서 말해야 합니다. 프로그램에는 13개 제한 기능, 정책, 승인, 독립 검증, 감사와 STOP이 연결되어 있습니다. 최신 완전 회귀 기준은 762 통과, 3 건너뜀, 코드 줄 기준 83%입니다. 그러나 코드 서명, VM 50셀, 실제 음성·Hello, 참가자 실험은 외부 조건이 필요합니다. 따라서 완성품과 논문 효과를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질문을 받기 전에 빠르게 훑거나 질의응답 때 사용할 수 있습니다. 가장 중요한 답은 세 가지입니다. 첫째, 연구 기여는 특정 LLM이 아니라 실행 제어 하네스입니다. 둘째, 스킬은 권한이 아닙니다. 셋째, 효율 우월성은 아직 확정하지 않았고 완전한 비교 실험으로 검증합니다.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JARVIS-PC는 LLM의 말을 바로 실행하는 비서가 아닙니다. 모델은 계획을 제안하고, 등록 기능과 정책이 권한을 제한하며, 실행 후 독립 검증기가 실제 결과를 확인합니다. 졸업작품은 이 전체 시스템이고, 졸업논문은 같은 모델에서 하네스의 제어 수준을 바꿨을 때 성공률, 위험 실행, 확인 부담, 시간과 비용이 어떻게 달라지는지 검증합니다.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463863c2af4e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0c423decc446ec" /><Relationship Type="http://schemas.openxmlformats.org/officeDocument/2006/relationships/slideLayout" Target="/ppt/slideLayouts/slideLayout1.xml" Id="R84a81fe4e69c4f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a81fe4e69c4f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62429386764b32" /><Relationship Type="http://schemas.openxmlformats.org/officeDocument/2006/relationships/notesSlide" Target="/ppt/notesSlides/notesSlide1.xml" Id="R4d68310e723844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f0d4bed0df417c" /><Relationship Type="http://schemas.openxmlformats.org/officeDocument/2006/relationships/notesSlide" Target="/ppt/notesSlides/notesSlide2.xml" Id="R2929f055e2ea43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d6baa38f11431a" /><Relationship Type="http://schemas.openxmlformats.org/officeDocument/2006/relationships/notesSlide" Target="/ppt/notesSlides/notesSlide3.xml" Id="R9c770bad5e6a43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ae43e707a344f99" /><Relationship Type="http://schemas.openxmlformats.org/officeDocument/2006/relationships/notesSlide" Target="/ppt/notesSlides/notesSlide4.xml" Id="R6ffb77b7791841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3288ba63ce480d" /><Relationship Type="http://schemas.openxmlformats.org/officeDocument/2006/relationships/notesSlide" Target="/ppt/notesSlides/notesSlide5.xml" Id="Readfa64ec27d42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7b474a798a420e" /><Relationship Type="http://schemas.openxmlformats.org/officeDocument/2006/relationships/notesSlide" Target="/ppt/notesSlides/notesSlide6.xml" Id="R5f8ed986451743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3ac10532734cdc" /><Relationship Type="http://schemas.openxmlformats.org/officeDocument/2006/relationships/notesSlide" Target="/ppt/notesSlides/notesSlide7.xml" Id="Rf30f1ad424664c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16d7192a7340dd" /><Relationship Type="http://schemas.openxmlformats.org/officeDocument/2006/relationships/notesSlide" Target="/ppt/notesSlides/notesSlide8.xml" Id="R48a9ec05c19040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6ee9bacaf94b73" /><Relationship Type="http://schemas.openxmlformats.org/officeDocument/2006/relationships/notesSlide" Target="/ppt/notesSlides/notesSlide9.xml" Id="R48e50513552047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0f685b6eaa4700" /><Relationship Type="http://schemas.openxmlformats.org/officeDocument/2006/relationships/notesSlide" Target="/ppt/notesSlides/notesSlide10.xml" Id="Rbeffea6043d341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4336a92d73401b" /><Relationship Type="http://schemas.openxmlformats.org/officeDocument/2006/relationships/notesSlide" Target="/ppt/notesSlides/notesSlide11.xml" Id="Rbc4a0e4f00184a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5420c57ddf64f56" /><Relationship Type="http://schemas.openxmlformats.org/officeDocument/2006/relationships/notesSlide" Target="/ppt/notesSlides/notesSlide12.xml" Id="R18bbc0a1648b41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350b13822846b9" /><Relationship Type="http://schemas.openxmlformats.org/officeDocument/2006/relationships/notesSlide" Target="/ppt/notesSlides/notesSlide13.xml" Id="R9a5e5e63016c41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6f4a7ca7e9445d" /><Relationship Type="http://schemas.openxmlformats.org/officeDocument/2006/relationships/notesSlide" Target="/ppt/notesSlides/notesSlide14.xml" Id="Ree11c84048754a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f87ae3211624581" /><Relationship Type="http://schemas.openxmlformats.org/officeDocument/2006/relationships/notesSlide" Target="/ppt/notesSlides/notesSlide15.xml" Id="Raa6ceac70b4e486b" /></Relationships>
</file>

<file path=ppt/slides/slide1.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550880-2832-4DF0-B300-31D9CF78D100}"/>
              </a:ext>
            </a:extLst>
          </p:cNvPr>
          <p:cNvSpPr>
            <a:spLocks xmlns:a="http://schemas.openxmlformats.org/drawingml/2006/main" noGrp="1"/>
          </p:cNvSpPr>
          <p:nvPr/>
        </p:nvSpPr>
        <p:spPr>
          <a:xfrm xmlns:a="http://schemas.openxmlformats.org/drawingml/2006/main">
            <a:off x="685800" y="11430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음성 기반 Windows 작업 에이전트</a:t>
            </a:r>
          </a:p>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JARVIS-PC</a:t>
            </a:r>
          </a:p>
        </p:txBody>
      </p:sp>
      <p:sp>
        <p:nvSpPr>
          <p:cNvPr id="2" name="">
            <a:extLst xmlns:a="http://schemas.openxmlformats.org/drawingml/2006/main">
              <a:ext uri="{FF2B5EF4-FFF2-40B4-BE49-F238E27FC236}">
                <a16:creationId xmlns:a16="http://schemas.microsoft.com/office/drawing/2014/main" id="{CC2CD248-F921-4C99-B261-2F4BAE033511}"/>
              </a:ext>
            </a:extLst>
          </p:cNvPr>
          <p:cNvSpPr>
            <a:spLocks xmlns:a="http://schemas.openxmlformats.org/drawingml/2006/main" noGrp="1"/>
          </p:cNvSpPr>
          <p:nvPr/>
        </p:nvSpPr>
        <p:spPr>
          <a:xfrm xmlns:a="http://schemas.openxmlformats.org/drawingml/2006/main">
            <a:off x="723900" y="30956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00" b="0">
                <a:solidFill>
                  <a:srgbClr val="C8D5E8"/>
                </a:solidFill>
                <a:latin typeface="NanumGothic"/>
                <a:ea typeface="NanumGothic"/>
                <a:cs typeface="NanumGothic"/>
              </a:defRPr>
            </a:pPr>
            <a:r>
              <a:rPr sz="1800" b="0">
                <a:solidFill>
                  <a:srgbClr val="C8D5E8"/>
                </a:solidFill>
                <a:latin typeface="NanumGothic"/>
                <a:ea typeface="NanumGothic"/>
                <a:cs typeface="NanumGothic"/>
              </a:rPr>
              <a:t>명령 의도, 작업 위험, 실제 결과를 분리해 판단하는 실행 제어 구조</a:t>
            </a:r>
          </a:p>
        </p:txBody>
      </p:sp>
      <p:sp>
        <p:nvSpPr>
          <p:cNvPr id="3" name="">
            <a:extLst xmlns:a="http://schemas.openxmlformats.org/drawingml/2006/main">
              <a:ext uri="{FF2B5EF4-FFF2-40B4-BE49-F238E27FC236}">
                <a16:creationId xmlns:a16="http://schemas.microsoft.com/office/drawing/2014/main" id="{13EDAF6C-0E6A-4474-8C83-4A5778AF3C66}"/>
              </a:ext>
            </a:extLst>
          </p:cNvPr>
          <p:cNvSpPr>
            <a:spLocks xmlns:a="http://schemas.openxmlformats.org/drawingml/2006/main" noGrp="1"/>
          </p:cNvSpPr>
          <p:nvPr/>
        </p:nvSpPr>
        <p:spPr>
          <a:xfrm xmlns:a="http://schemas.openxmlformats.org/drawingml/2006/main">
            <a:off x="742950" y="3895725"/>
            <a:ext cx="6762750" cy="0"/>
          </a:xfrm>
          <a:prstGeom xmlns:a="http://schemas.openxmlformats.org/drawingml/2006/main" prst="line">
            <a:avLst/>
          </a:prstGeom>
          <a:noFill xmlns:a="http://schemas.openxmlformats.org/drawingml/2006/main"/>
          <a:ln xmlns:a="http://schemas.openxmlformats.org/drawingml/2006/main" w="38100">
            <a:solidFill>
              <a:srgbClr val="59C3E5"/>
            </a:solidFill>
            <a:prstDash val="solid"/>
          </a:ln>
        </p:spPr>
      </p:sp>
      <p:sp>
        <p:nvSpPr>
          <p:cNvPr id="4" name="">
            <a:extLst xmlns:a="http://schemas.openxmlformats.org/drawingml/2006/main">
              <a:ext uri="{FF2B5EF4-FFF2-40B4-BE49-F238E27FC236}">
                <a16:creationId xmlns:a16="http://schemas.microsoft.com/office/drawing/2014/main" id="{1688986C-E7CD-4957-8A8B-1D9064D4F004}"/>
              </a:ext>
            </a:extLst>
          </p:cNvPr>
          <p:cNvSpPr>
            <a:spLocks xmlns:a="http://schemas.openxmlformats.org/drawingml/2006/main" noGrp="1"/>
          </p:cNvSpPr>
          <p:nvPr/>
        </p:nvSpPr>
        <p:spPr>
          <a:xfrm xmlns:a="http://schemas.openxmlformats.org/drawingml/2006/main">
            <a:off x="742950" y="42195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졸업작품: 안전한 Windows PC 제어 에이전트</a:t>
            </a:r>
          </a:p>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졸업논문: 의도·위험·실행·검증 하네스의 효과</a:t>
            </a:r>
          </a:p>
        </p:txBody>
      </p:sp>
      <p:sp>
        <p:nvSpPr>
          <p:cNvPr id="5" name="">
            <a:extLst xmlns:a="http://schemas.openxmlformats.org/drawingml/2006/main">
              <a:ext uri="{FF2B5EF4-FFF2-40B4-BE49-F238E27FC236}">
                <a16:creationId xmlns:a16="http://schemas.microsoft.com/office/drawing/2014/main" id="{0BF06B70-E8BD-4E07-BD78-653B5746E821}"/>
              </a:ext>
            </a:extLst>
          </p:cNvPr>
          <p:cNvSpPr>
            <a:spLocks xmlns:a="http://schemas.openxmlformats.org/drawingml/2006/main" noGrp="1"/>
          </p:cNvSpPr>
          <p:nvPr/>
        </p:nvSpPr>
        <p:spPr>
          <a:xfrm xmlns:a="http://schemas.openxmlformats.org/drawingml/2006/main">
            <a:off x="8763000" y="1238250"/>
            <a:ext cx="2381250" cy="4095750"/>
          </a:xfrm>
          <a:prstGeom xmlns:a="http://schemas.openxmlformats.org/drawingml/2006/main" prst="roundRect">
            <a:avLst>
              <a:gd name="adj" fmla="val 7200"/>
            </a:avLst>
          </a:prstGeom>
          <a:solidFill xmlns:a="http://schemas.openxmlformats.org/drawingml/2006/main">
            <a:srgbClr val="15233B"/>
          </a:solidFill>
          <a:ln xmlns:a="http://schemas.openxmlformats.org/drawingml/2006/main" w="9525">
            <a:solidFill>
              <a:srgbClr val="314767"/>
            </a:solidFill>
            <a:prstDash val="solid"/>
          </a:ln>
        </p:spPr>
      </p:sp>
      <p:sp>
        <p:nvSpPr>
          <p:cNvPr id="6" name="">
            <a:extLst xmlns:a="http://schemas.openxmlformats.org/drawingml/2006/main">
              <a:ext uri="{FF2B5EF4-FFF2-40B4-BE49-F238E27FC236}">
                <a16:creationId xmlns:a16="http://schemas.microsoft.com/office/drawing/2014/main" id="{2EC5B56B-3F34-430D-B22C-03575D5B94DE}"/>
              </a:ext>
            </a:extLst>
          </p:cNvPr>
          <p:cNvSpPr>
            <a:spLocks xmlns:a="http://schemas.openxmlformats.org/drawingml/2006/main" noGrp="1"/>
          </p:cNvSpPr>
          <p:nvPr/>
        </p:nvSpPr>
        <p:spPr>
          <a:xfrm xmlns:a="http://schemas.openxmlformats.org/drawingml/2006/main">
            <a:off x="9048750" y="15716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59C3E5"/>
                </a:solidFill>
                <a:latin typeface="NanumGothic"/>
                <a:ea typeface="NanumGothic"/>
                <a:cs typeface="NanumGothic"/>
              </a:defRPr>
            </a:pPr>
            <a:r>
              <a:rPr sz="1500" b="1">
                <a:solidFill>
                  <a:srgbClr val="59C3E5"/>
                </a:solidFill>
                <a:latin typeface="NanumGothic"/>
                <a:ea typeface="NanumGothic"/>
                <a:cs typeface="NanumGothic"/>
              </a:rPr>
              <a:t>LISTEN</a:t>
            </a:r>
          </a:p>
        </p:txBody>
      </p:sp>
      <p:sp>
        <p:nvSpPr>
          <p:cNvPr id="7" name="">
            <a:extLst xmlns:a="http://schemas.openxmlformats.org/drawingml/2006/main">
              <a:ext uri="{FF2B5EF4-FFF2-40B4-BE49-F238E27FC236}">
                <a16:creationId xmlns:a16="http://schemas.microsoft.com/office/drawing/2014/main" id="{19442F4A-0EDF-4E76-A608-64DAEB9613E4}"/>
              </a:ext>
            </a:extLst>
          </p:cNvPr>
          <p:cNvSpPr>
            <a:spLocks xmlns:a="http://schemas.openxmlformats.org/drawingml/2006/main" noGrp="1"/>
          </p:cNvSpPr>
          <p:nvPr/>
        </p:nvSpPr>
        <p:spPr>
          <a:xfrm xmlns:a="http://schemas.openxmlformats.org/drawingml/2006/main">
            <a:off x="9048750" y="22669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UNDERSTAND</a:t>
            </a:r>
          </a:p>
        </p:txBody>
      </p:sp>
      <p:sp>
        <p:nvSpPr>
          <p:cNvPr id="8" name="">
            <a:extLst xmlns:a="http://schemas.openxmlformats.org/drawingml/2006/main">
              <a:ext uri="{FF2B5EF4-FFF2-40B4-BE49-F238E27FC236}">
                <a16:creationId xmlns:a16="http://schemas.microsoft.com/office/drawing/2014/main" id="{4163F3D1-7EBE-4AF1-B234-4BA58131B219}"/>
              </a:ext>
            </a:extLst>
          </p:cNvPr>
          <p:cNvSpPr>
            <a:spLocks xmlns:a="http://schemas.openxmlformats.org/drawingml/2006/main" noGrp="1"/>
          </p:cNvSpPr>
          <p:nvPr/>
        </p:nvSpPr>
        <p:spPr>
          <a:xfrm xmlns:a="http://schemas.openxmlformats.org/drawingml/2006/main">
            <a:off x="90487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2A93B"/>
                </a:solidFill>
                <a:latin typeface="NanumGothic"/>
                <a:ea typeface="NanumGothic"/>
                <a:cs typeface="NanumGothic"/>
              </a:defRPr>
            </a:pPr>
            <a:r>
              <a:rPr sz="1500" b="1">
                <a:solidFill>
                  <a:srgbClr val="F2A93B"/>
                </a:solidFill>
                <a:latin typeface="NanumGothic"/>
                <a:ea typeface="NanumGothic"/>
                <a:cs typeface="NanumGothic"/>
              </a:rPr>
              <a:t>DECIDE</a:t>
            </a:r>
          </a:p>
        </p:txBody>
      </p:sp>
      <p:sp>
        <p:nvSpPr>
          <p:cNvPr id="9" name="">
            <a:extLst xmlns:a="http://schemas.openxmlformats.org/drawingml/2006/main">
              <a:ext uri="{FF2B5EF4-FFF2-40B4-BE49-F238E27FC236}">
                <a16:creationId xmlns:a16="http://schemas.microsoft.com/office/drawing/2014/main" id="{32B6F6AF-E678-4B8A-8583-BC481FEE7BD6}"/>
              </a:ext>
            </a:extLst>
          </p:cNvPr>
          <p:cNvSpPr>
            <a:spLocks xmlns:a="http://schemas.openxmlformats.org/drawingml/2006/main" noGrp="1"/>
          </p:cNvSpPr>
          <p:nvPr/>
        </p:nvSpPr>
        <p:spPr>
          <a:xfrm xmlns:a="http://schemas.openxmlformats.org/drawingml/2006/main">
            <a:off x="9048750" y="36576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2FA36B"/>
                </a:solidFill>
                <a:latin typeface="NanumGothic"/>
                <a:ea typeface="NanumGothic"/>
                <a:cs typeface="NanumGothic"/>
              </a:defRPr>
            </a:pPr>
            <a:r>
              <a:rPr sz="1500" b="1">
                <a:solidFill>
                  <a:srgbClr val="2FA36B"/>
                </a:solidFill>
                <a:latin typeface="NanumGothic"/>
                <a:ea typeface="NanumGothic"/>
                <a:cs typeface="NanumGothic"/>
              </a:rPr>
              <a:t>ACT</a:t>
            </a:r>
          </a:p>
        </p:txBody>
      </p:sp>
      <p:sp>
        <p:nvSpPr>
          <p:cNvPr id="10" name="">
            <a:extLst xmlns:a="http://schemas.openxmlformats.org/drawingml/2006/main">
              <a:ext uri="{FF2B5EF4-FFF2-40B4-BE49-F238E27FC236}">
                <a16:creationId xmlns:a16="http://schemas.microsoft.com/office/drawing/2014/main" id="{C11E6BCB-4AD6-40F7-9049-EE07CA33A937}"/>
              </a:ext>
            </a:extLst>
          </p:cNvPr>
          <p:cNvSpPr>
            <a:spLocks xmlns:a="http://schemas.openxmlformats.org/drawingml/2006/main" noGrp="1"/>
          </p:cNvSpPr>
          <p:nvPr/>
        </p:nvSpPr>
        <p:spPr>
          <a:xfrm xmlns:a="http://schemas.openxmlformats.org/drawingml/2006/main">
            <a:off x="9048750" y="4352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VERIFY</a:t>
            </a:r>
          </a:p>
        </p:txBody>
      </p:sp>
    </p:spTree>
    <p:extLst>
      <p:ext uri="{BB962C8B-B14F-4D97-AF65-F5344CB8AC3E}">
        <p14:creationId xmlns:p14="http://schemas.microsoft.com/office/powerpoint/2010/main" val="1552413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AC1A2-1433-44E2-95B6-1A1B1DF97A7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왜 ‘항상 듣는 PC 에이전트’가 어려운가</a:t>
            </a:r>
          </a:p>
        </p:txBody>
      </p:sp>
      <p:sp>
        <p:nvSpPr>
          <p:cNvPr id="2" name="">
            <a:extLst xmlns:a="http://schemas.openxmlformats.org/drawingml/2006/main">
              <a:ext uri="{FF2B5EF4-FFF2-40B4-BE49-F238E27FC236}">
                <a16:creationId xmlns:a16="http://schemas.microsoft.com/office/drawing/2014/main" id="{FE044968-E2A9-4A8B-9438-BCEC2686493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02</a:t>
            </a:r>
          </a:p>
        </p:txBody>
      </p:sp>
      <p:sp>
        <p:nvSpPr>
          <p:cNvPr id="3" name="">
            <a:extLst xmlns:a="http://schemas.openxmlformats.org/drawingml/2006/main">
              <a:ext uri="{FF2B5EF4-FFF2-40B4-BE49-F238E27FC236}">
                <a16:creationId xmlns:a16="http://schemas.microsoft.com/office/drawing/2014/main" id="{75BB9575-A632-4B69-9173-2FDAC8503D3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43939060-B52A-4718-AF96-9791DDC30E2E}"/>
              </a:ext>
            </a:extLst>
          </p:cNvPr>
          <p:cNvSpPr>
            <a:spLocks xmlns:a="http://schemas.openxmlformats.org/drawingml/2006/main" noGrp="1"/>
          </p:cNvSpPr>
          <p:nvPr/>
        </p:nvSpPr>
        <p:spPr>
          <a:xfrm xmlns:a="http://schemas.openxmlformats.org/drawingml/2006/main">
            <a:off x="762000" y="135255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75" b="1">
                <a:solidFill>
                  <a:srgbClr val="172033"/>
                </a:solidFill>
                <a:latin typeface="NanumGothic"/>
                <a:ea typeface="NanumGothic"/>
                <a:cs typeface="NanumGothic"/>
              </a:defRPr>
            </a:pPr>
            <a:r>
              <a:rPr sz="2775" b="1">
                <a:solidFill>
                  <a:srgbClr val="172033"/>
                </a:solidFill>
                <a:latin typeface="NanumGothic"/>
                <a:ea typeface="NanumGothic"/>
                <a:cs typeface="NanumGothic"/>
              </a:rPr>
              <a:t>“아, 컴퓨터 그냥 초기화해 버릴까?”</a:t>
            </a:r>
          </a:p>
        </p:txBody>
      </p:sp>
      <p:sp>
        <p:nvSpPr>
          <p:cNvPr id="5" name="">
            <a:extLst xmlns:a="http://schemas.openxmlformats.org/drawingml/2006/main">
              <a:ext uri="{FF2B5EF4-FFF2-40B4-BE49-F238E27FC236}">
                <a16:creationId xmlns:a16="http://schemas.microsoft.com/office/drawing/2014/main" id="{89419827-7EE0-453C-B5F5-CACDA748007D}"/>
              </a:ext>
            </a:extLst>
          </p:cNvPr>
          <p:cNvSpPr>
            <a:spLocks xmlns:a="http://schemas.openxmlformats.org/drawingml/2006/main" noGrp="1"/>
          </p:cNvSpPr>
          <p:nvPr/>
        </p:nvSpPr>
        <p:spPr>
          <a:xfrm xmlns:a="http://schemas.openxmlformats.org/drawingml/2006/main">
            <a:off x="781050"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0">
                <a:solidFill>
                  <a:srgbClr val="657187"/>
                </a:solidFill>
                <a:latin typeface="NanumGothic"/>
                <a:ea typeface="NanumGothic"/>
                <a:cs typeface="NanumGothic"/>
              </a:defRPr>
            </a:pPr>
            <a:r>
              <a:rPr sz="1650" b="0">
                <a:solidFill>
                  <a:srgbClr val="657187"/>
                </a:solidFill>
                <a:latin typeface="NanumGothic"/>
                <a:ea typeface="NanumGothic"/>
                <a:cs typeface="NanumGothic"/>
              </a:rPr>
              <a:t>STT가 문장을 정확히 받아써도, 실행 명령이라고 단정할 수 없다.</a:t>
            </a:r>
          </a:p>
        </p:txBody>
      </p:sp>
      <p:sp>
        <p:nvSpPr>
          <p:cNvPr id="6" name="">
            <a:extLst xmlns:a="http://schemas.openxmlformats.org/drawingml/2006/main">
              <a:ext uri="{FF2B5EF4-FFF2-40B4-BE49-F238E27FC236}">
                <a16:creationId xmlns:a16="http://schemas.microsoft.com/office/drawing/2014/main" id="{F232EE3E-1E0F-4BA7-B96C-6CD011857B9D}"/>
              </a:ext>
            </a:extLst>
          </p:cNvPr>
          <p:cNvSpPr>
            <a:spLocks xmlns:a="http://schemas.openxmlformats.org/drawingml/2006/main" noGrp="1"/>
          </p:cNvSpPr>
          <p:nvPr/>
        </p:nvSpPr>
        <p:spPr>
          <a:xfrm xmlns:a="http://schemas.openxmlformats.org/drawingml/2006/main">
            <a:off x="819150" y="3000375"/>
            <a:ext cx="2857500" cy="1676400"/>
          </a:xfrm>
          <a:prstGeom xmlns:a="http://schemas.openxmlformats.org/drawingml/2006/main" prst="roundRect">
            <a:avLst>
              <a:gd name="adj" fmla="val 7955"/>
            </a:avLst>
          </a:prstGeom>
          <a:solidFill xmlns:a="http://schemas.openxmlformats.org/drawingml/2006/main">
            <a:srgbClr val="F4F7FB"/>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1BE06A82-A487-421D-A50D-AAF76020E3F9}"/>
              </a:ext>
            </a:extLst>
          </p:cNvPr>
          <p:cNvSpPr>
            <a:spLocks xmlns:a="http://schemas.openxmlformats.org/drawingml/2006/main" noGrp="1"/>
          </p:cNvSpPr>
          <p:nvPr/>
        </p:nvSpPr>
        <p:spPr>
          <a:xfrm xmlns:a="http://schemas.openxmlformats.org/drawingml/2006/main">
            <a:off x="1000125" y="3181350"/>
            <a:ext cx="400050"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a:t>
            </a:r>
          </a:p>
        </p:txBody>
      </p:sp>
      <p:sp>
        <p:nvSpPr>
          <p:cNvPr id="8" name="">
            <a:extLst xmlns:a="http://schemas.openxmlformats.org/drawingml/2006/main">
              <a:ext uri="{FF2B5EF4-FFF2-40B4-BE49-F238E27FC236}">
                <a16:creationId xmlns:a16="http://schemas.microsoft.com/office/drawing/2014/main" id="{C278ADC2-DA07-45B1-BDD6-802CBB88C2D7}"/>
              </a:ext>
            </a:extLst>
          </p:cNvPr>
          <p:cNvSpPr>
            <a:spLocks xmlns:a="http://schemas.openxmlformats.org/drawingml/2006/main" noGrp="1"/>
          </p:cNvSpPr>
          <p:nvPr/>
        </p:nvSpPr>
        <p:spPr>
          <a:xfrm xmlns:a="http://schemas.openxmlformats.org/drawingml/2006/main">
            <a:off x="15621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음성 인식</a:t>
            </a:r>
          </a:p>
        </p:txBody>
      </p:sp>
      <p:sp>
        <p:nvSpPr>
          <p:cNvPr id="9" name="">
            <a:extLst xmlns:a="http://schemas.openxmlformats.org/drawingml/2006/main">
              <a:ext uri="{FF2B5EF4-FFF2-40B4-BE49-F238E27FC236}">
                <a16:creationId xmlns:a16="http://schemas.microsoft.com/office/drawing/2014/main" id="{42CC106B-AFAD-4A9C-AEFF-603F44BE6DF1}"/>
              </a:ext>
            </a:extLst>
          </p:cNvPr>
          <p:cNvSpPr>
            <a:spLocks xmlns:a="http://schemas.openxmlformats.org/drawingml/2006/main" noGrp="1"/>
          </p:cNvSpPr>
          <p:nvPr/>
        </p:nvSpPr>
        <p:spPr>
          <a:xfrm xmlns:a="http://schemas.openxmlformats.org/drawingml/2006/main">
            <a:off x="10477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무슨 말을 했는가</a:t>
            </a:r>
          </a:p>
        </p:txBody>
      </p:sp>
      <p:sp>
        <p:nvSpPr>
          <p:cNvPr id="10" name="">
            <a:extLst xmlns:a="http://schemas.openxmlformats.org/drawingml/2006/main">
              <a:ext uri="{FF2B5EF4-FFF2-40B4-BE49-F238E27FC236}">
                <a16:creationId xmlns:a16="http://schemas.microsoft.com/office/drawing/2014/main" id="{F0E8988B-F05E-4F16-8E9F-84DDD1D3963B}"/>
              </a:ext>
            </a:extLst>
          </p:cNvPr>
          <p:cNvSpPr>
            <a:spLocks xmlns:a="http://schemas.openxmlformats.org/drawingml/2006/main" noGrp="1"/>
          </p:cNvSpPr>
          <p:nvPr/>
        </p:nvSpPr>
        <p:spPr>
          <a:xfrm xmlns:a="http://schemas.openxmlformats.org/drawingml/2006/main">
            <a:off x="4667250" y="3000375"/>
            <a:ext cx="2857500" cy="1676400"/>
          </a:xfrm>
          <a:prstGeom xmlns:a="http://schemas.openxmlformats.org/drawingml/2006/main" prst="roundRect">
            <a:avLst>
              <a:gd name="adj" fmla="val 7955"/>
            </a:avLst>
          </a:prstGeom>
          <a:solidFill xmlns:a="http://schemas.openxmlformats.org/drawingml/2006/main">
            <a:srgbClr val="FFF8EA"/>
          </a:solidFill>
          <a:ln xmlns:a="http://schemas.openxmlformats.org/drawingml/2006/main" w="9525">
            <a:solidFill>
              <a:srgbClr val="F0D293"/>
            </a:solidFill>
            <a:prstDash val="solid"/>
          </a:ln>
        </p:spPr>
      </p:sp>
      <p:sp>
        <p:nvSpPr>
          <p:cNvPr id="11" name="">
            <a:extLst xmlns:a="http://schemas.openxmlformats.org/drawingml/2006/main">
              <a:ext uri="{FF2B5EF4-FFF2-40B4-BE49-F238E27FC236}">
                <a16:creationId xmlns:a16="http://schemas.microsoft.com/office/drawing/2014/main" id="{F9AAD998-C22E-4D23-BF0F-45F9F617214C}"/>
              </a:ext>
            </a:extLst>
          </p:cNvPr>
          <p:cNvSpPr>
            <a:spLocks xmlns:a="http://schemas.openxmlformats.org/drawingml/2006/main" noGrp="1"/>
          </p:cNvSpPr>
          <p:nvPr/>
        </p:nvSpPr>
        <p:spPr>
          <a:xfrm xmlns:a="http://schemas.openxmlformats.org/drawingml/2006/main">
            <a:off x="4848225" y="3181350"/>
            <a:ext cx="40005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2</a:t>
            </a:r>
          </a:p>
        </p:txBody>
      </p:sp>
      <p:sp>
        <p:nvSpPr>
          <p:cNvPr id="12" name="">
            <a:extLst xmlns:a="http://schemas.openxmlformats.org/drawingml/2006/main">
              <a:ext uri="{FF2B5EF4-FFF2-40B4-BE49-F238E27FC236}">
                <a16:creationId xmlns:a16="http://schemas.microsoft.com/office/drawing/2014/main" id="{AF59DCF1-946E-4487-B7CB-F1D0AF061F6F}"/>
              </a:ext>
            </a:extLst>
          </p:cNvPr>
          <p:cNvSpPr>
            <a:spLocks xmlns:a="http://schemas.openxmlformats.org/drawingml/2006/main" noGrp="1"/>
          </p:cNvSpPr>
          <p:nvPr/>
        </p:nvSpPr>
        <p:spPr>
          <a:xfrm xmlns:a="http://schemas.openxmlformats.org/drawingml/2006/main">
            <a:off x="54102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발화 의도</a:t>
            </a:r>
          </a:p>
        </p:txBody>
      </p:sp>
      <p:sp>
        <p:nvSpPr>
          <p:cNvPr id="13" name="">
            <a:extLst xmlns:a="http://schemas.openxmlformats.org/drawingml/2006/main">
              <a:ext uri="{FF2B5EF4-FFF2-40B4-BE49-F238E27FC236}">
                <a16:creationId xmlns:a16="http://schemas.microsoft.com/office/drawing/2014/main" id="{B707009D-E81C-4A4C-B739-63C14616E728}"/>
              </a:ext>
            </a:extLst>
          </p:cNvPr>
          <p:cNvSpPr>
            <a:spLocks xmlns:a="http://schemas.openxmlformats.org/drawingml/2006/main" noGrp="1"/>
          </p:cNvSpPr>
          <p:nvPr/>
        </p:nvSpPr>
        <p:spPr>
          <a:xfrm xmlns:a="http://schemas.openxmlformats.org/drawingml/2006/main">
            <a:off x="48958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명령인가, 대화인가</a:t>
            </a:r>
          </a:p>
        </p:txBody>
      </p:sp>
      <p:sp>
        <p:nvSpPr>
          <p:cNvPr id="14" name="">
            <a:extLst xmlns:a="http://schemas.openxmlformats.org/drawingml/2006/main">
              <a:ext uri="{FF2B5EF4-FFF2-40B4-BE49-F238E27FC236}">
                <a16:creationId xmlns:a16="http://schemas.microsoft.com/office/drawing/2014/main" id="{C90F7ED9-3D19-4B94-9ED4-0E85FFDA5BF1}"/>
              </a:ext>
            </a:extLst>
          </p:cNvPr>
          <p:cNvSpPr>
            <a:spLocks xmlns:a="http://schemas.openxmlformats.org/drawingml/2006/main" noGrp="1"/>
          </p:cNvSpPr>
          <p:nvPr/>
        </p:nvSpPr>
        <p:spPr>
          <a:xfrm xmlns:a="http://schemas.openxmlformats.org/drawingml/2006/main">
            <a:off x="8515350" y="3000375"/>
            <a:ext cx="2857500" cy="1676400"/>
          </a:xfrm>
          <a:prstGeom xmlns:a="http://schemas.openxmlformats.org/drawingml/2006/main" prst="roundRect">
            <a:avLst>
              <a:gd name="adj" fmla="val 7955"/>
            </a:avLst>
          </a:prstGeom>
          <a:solidFill xmlns:a="http://schemas.openxmlformats.org/drawingml/2006/main">
            <a:srgbClr val="FFF0F0"/>
          </a:solidFill>
          <a:ln xmlns:a="http://schemas.openxmlformats.org/drawingml/2006/main" w="9525">
            <a:solidFill>
              <a:srgbClr val="F1B8B8"/>
            </a:solidFill>
            <a:prstDash val="solid"/>
          </a:ln>
        </p:spPr>
      </p:sp>
      <p:sp>
        <p:nvSpPr>
          <p:cNvPr id="15" name="">
            <a:extLst xmlns:a="http://schemas.openxmlformats.org/drawingml/2006/main">
              <a:ext uri="{FF2B5EF4-FFF2-40B4-BE49-F238E27FC236}">
                <a16:creationId xmlns:a16="http://schemas.microsoft.com/office/drawing/2014/main" id="{E41C3480-9EDE-4714-9B86-AA7186E82D7B}"/>
              </a:ext>
            </a:extLst>
          </p:cNvPr>
          <p:cNvSpPr>
            <a:spLocks xmlns:a="http://schemas.openxmlformats.org/drawingml/2006/main" noGrp="1"/>
          </p:cNvSpPr>
          <p:nvPr/>
        </p:nvSpPr>
        <p:spPr>
          <a:xfrm xmlns:a="http://schemas.openxmlformats.org/drawingml/2006/main">
            <a:off x="8696325" y="3181350"/>
            <a:ext cx="40005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3</a:t>
            </a:r>
          </a:p>
        </p:txBody>
      </p:sp>
      <p:sp>
        <p:nvSpPr>
          <p:cNvPr id="16" name="">
            <a:extLst xmlns:a="http://schemas.openxmlformats.org/drawingml/2006/main">
              <a:ext uri="{FF2B5EF4-FFF2-40B4-BE49-F238E27FC236}">
                <a16:creationId xmlns:a16="http://schemas.microsoft.com/office/drawing/2014/main" id="{AB266EAB-4A38-454D-95E1-7FECF91C4C5C}"/>
              </a:ext>
            </a:extLst>
          </p:cNvPr>
          <p:cNvSpPr>
            <a:spLocks xmlns:a="http://schemas.openxmlformats.org/drawingml/2006/main" noGrp="1"/>
          </p:cNvSpPr>
          <p:nvPr/>
        </p:nvSpPr>
        <p:spPr>
          <a:xfrm xmlns:a="http://schemas.openxmlformats.org/drawingml/2006/main">
            <a:off x="92583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실행 위험</a:t>
            </a:r>
          </a:p>
        </p:txBody>
      </p:sp>
      <p:sp>
        <p:nvSpPr>
          <p:cNvPr id="17" name="">
            <a:extLst xmlns:a="http://schemas.openxmlformats.org/drawingml/2006/main">
              <a:ext uri="{FF2B5EF4-FFF2-40B4-BE49-F238E27FC236}">
                <a16:creationId xmlns:a16="http://schemas.microsoft.com/office/drawing/2014/main" id="{33C7FB49-7589-4C68-B332-645B213A588F}"/>
              </a:ext>
            </a:extLst>
          </p:cNvPr>
          <p:cNvSpPr>
            <a:spLocks xmlns:a="http://schemas.openxmlformats.org/drawingml/2006/main" noGrp="1"/>
          </p:cNvSpPr>
          <p:nvPr/>
        </p:nvSpPr>
        <p:spPr>
          <a:xfrm xmlns:a="http://schemas.openxmlformats.org/drawingml/2006/main">
            <a:off x="87439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자동 실행해도 되는가</a:t>
            </a:r>
          </a:p>
        </p:txBody>
      </p:sp>
      <p:sp>
        <p:nvSpPr>
          <p:cNvPr id="18" name="">
            <a:extLst xmlns:a="http://schemas.openxmlformats.org/drawingml/2006/main">
              <a:ext uri="{FF2B5EF4-FFF2-40B4-BE49-F238E27FC236}">
                <a16:creationId xmlns:a16="http://schemas.microsoft.com/office/drawing/2014/main" id="{2F8CB8BA-EA45-4602-A1EB-A8F9DCD3FDD4}"/>
              </a:ext>
            </a:extLst>
          </p:cNvPr>
          <p:cNvSpPr>
            <a:spLocks xmlns:a="http://schemas.openxmlformats.org/drawingml/2006/main" noGrp="1"/>
          </p:cNvSpPr>
          <p:nvPr/>
        </p:nvSpPr>
        <p:spPr>
          <a:xfrm xmlns:a="http://schemas.openxmlformats.org/drawingml/2006/main">
            <a:off x="80010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100" b="1">
                <a:solidFill>
                  <a:srgbClr val="243B64"/>
                </a:solidFill>
                <a:latin typeface="NanumGothic"/>
                <a:ea typeface="NanumGothic"/>
                <a:cs typeface="NanumGothic"/>
              </a:defRPr>
            </a:pPr>
            <a:r>
              <a:rPr sz="2100" b="1">
                <a:solidFill>
                  <a:srgbClr val="243B64"/>
                </a:solidFill>
                <a:latin typeface="NanumGothic"/>
                <a:ea typeface="NanumGothic"/>
                <a:cs typeface="NanumGothic"/>
              </a:rPr>
              <a:t>핵심 문제: 인식 정확도와 안전한 실행 판단은 서로 다른 문제다.</a:t>
            </a:r>
          </a:p>
        </p:txBody>
      </p:sp>
    </p:spTree>
    <p:extLst>
      <p:ext uri="{BB962C8B-B14F-4D97-AF65-F5344CB8AC3E}">
        <p14:creationId xmlns:p14="http://schemas.microsoft.com/office/powerpoint/2010/main" val="953985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1884A-6790-4849-B7B7-8F35C5AA2F9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기존 PC 에이전트와 남아 있는 공백</a:t>
            </a:r>
          </a:p>
        </p:txBody>
      </p:sp>
      <p:sp>
        <p:nvSpPr>
          <p:cNvPr id="2" name="">
            <a:extLst xmlns:a="http://schemas.openxmlformats.org/drawingml/2006/main">
              <a:ext uri="{FF2B5EF4-FFF2-40B4-BE49-F238E27FC236}">
                <a16:creationId xmlns:a16="http://schemas.microsoft.com/office/drawing/2014/main" id="{02071C8C-3B7F-414C-B82C-A52CFCEAD24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03</a:t>
            </a:r>
          </a:p>
        </p:txBody>
      </p:sp>
      <p:sp>
        <p:nvSpPr>
          <p:cNvPr id="3" name="">
            <a:extLst xmlns:a="http://schemas.openxmlformats.org/drawingml/2006/main">
              <a:ext uri="{FF2B5EF4-FFF2-40B4-BE49-F238E27FC236}">
                <a16:creationId xmlns:a16="http://schemas.microsoft.com/office/drawing/2014/main" id="{78737AB3-F3D9-47B2-80EF-1DFD7153BF6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4" name=""/>
          <p:cNvGraphicFramePr/>
          <p:nvPr/>
        </p:nvGraphicFramePr>
        <p:xfrm>
          <a:off xmlns:a="http://schemas.openxmlformats.org/drawingml/2006/main" x="685800" y="1381125"/>
          <a:ext xmlns:a="http://schemas.openxmlformats.org/drawingml/2006/main" cx="10820400" cy="3333750"/>
        </p:xfrm>
        <a:graphic xmlns:a="http://schemas.openxmlformats.org/drawingml/2006/main">
          <a:graphicData uri="http://schemas.openxmlformats.org/drawingml/2006/table">
            <a:tbl>
              <a:tblPr/>
              <a:tblGrid>
                <a:gridCol w="2164080"/>
                <a:gridCol w="2164080"/>
                <a:gridCol w="2164080"/>
                <a:gridCol w="2164080"/>
                <a:gridCol w="2164080"/>
              </a:tblGrid>
              <a:tr h="666750">
                <a:tc>
                  <a:txBody>
                    <a:bodyPr/>
                    <a:lstStyle/>
                    <a:p>
                      <a:r>
                        <a:rPr sz="1275" b="1">
                          <a:solidFill>
                            <a:srgbClr val="FFFFFF"/>
                          </a:solidFill>
                          <a:latin typeface="NanumGothic"/>
                          <a:ea typeface="NanumGothic"/>
                          <a:cs typeface="NanumGothic"/>
                        </a:rPr>
                        <a:t>구분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실제 PC 조작</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다단계 작업</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상시 음성 명령 판별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위험·결과 검증</a:t>
                      </a:r>
                    </a:p>
                  </a:txBody>
                  <a:tcPr marL="91440" marR="91440" marT="45720" marB="45720" anchor="ctr">
                    <a:solidFill>
                      <a:srgbClr val="243B64"/>
                    </a:solidFill>
                  </a:tcPr>
                </a:tc>
              </a:tr>
              <a:tr h="666750">
                <a:tc>
                  <a:txBody>
                    <a:bodyPr/>
                    <a:lstStyle/>
                    <a:p>
                      <a:r>
                        <a:rPr sz="1200">
                          <a:solidFill>
                            <a:srgbClr val="172033"/>
                          </a:solidFill>
                          <a:latin typeface="NanumGothic"/>
                          <a:ea typeface="NanumGothic"/>
                          <a:cs typeface="NanumGothic"/>
                        </a:rPr>
                        <a:t>Claude Computer Use</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서비스 정책 중심</a:t>
                      </a:r>
                    </a:p>
                  </a:txBody>
                  <a:tcPr marL="91440" marR="91440" marT="45720" marB="45720" anchor="ctr"/>
                </a:tc>
              </a:tr>
              <a:tr h="666750">
                <a:tc>
                  <a:txBody>
                    <a:bodyPr/>
                    <a:lstStyle/>
                    <a:p>
                      <a:r>
                        <a:rPr sz="1200">
                          <a:solidFill>
                            <a:srgbClr val="172033"/>
                          </a:solidFill>
                          <a:latin typeface="NanumGothic"/>
                          <a:ea typeface="NanumGothic"/>
                          <a:cs typeface="NanumGothic"/>
                        </a:rPr>
                        <a:t>Open Interpreter</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음성 모드</a:t>
                      </a:r>
                    </a:p>
                  </a:txBody>
                  <a:tcPr marL="91440" marR="91440" marT="45720" marB="45720" anchor="ctr"/>
                </a:tc>
                <a:tc>
                  <a:txBody>
                    <a:bodyPr/>
                    <a:lstStyle/>
                    <a:p>
                      <a:r>
                        <a:rPr sz="1200">
                          <a:solidFill>
                            <a:srgbClr val="172033"/>
                          </a:solidFill>
                          <a:latin typeface="NanumGothic"/>
                          <a:ea typeface="NanumGothic"/>
                          <a:cs typeface="NanumGothic"/>
                        </a:rPr>
                        <a:t>확인·코드 실행 중심</a:t>
                      </a:r>
                    </a:p>
                  </a:txBody>
                  <a:tcPr marL="91440" marR="91440" marT="45720" marB="45720" anchor="ctr"/>
                </a:tc>
              </a:tr>
              <a:tr h="666750">
                <a:tc>
                  <a:txBody>
                    <a:bodyPr/>
                    <a:lstStyle/>
                    <a:p>
                      <a:r>
                        <a:rPr sz="1200">
                          <a:solidFill>
                            <a:srgbClr val="172033"/>
                          </a:solidFill>
                          <a:latin typeface="NanumGothic"/>
                          <a:ea typeface="NanumGothic"/>
                          <a:cs typeface="NanumGothic"/>
                        </a:rPr>
                        <a:t>Microsoft UFO2</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Windows 실행 구조 중심</a:t>
                      </a:r>
                    </a:p>
                  </a:txBody>
                  <a:tcPr marL="91440" marR="91440" marT="45720" marB="45720" anchor="ctr"/>
                </a:tc>
              </a:tr>
              <a:tr h="666750">
                <a:tc>
                  <a:txBody>
                    <a:bodyPr/>
                    <a:lstStyle/>
                    <a:p>
                      <a:r>
                        <a:rPr sz="1275" b="1">
                          <a:solidFill>
                            <a:srgbClr val="243B64"/>
                          </a:solidFill>
                          <a:latin typeface="NanumGothic"/>
                          <a:ea typeface="NanumGothic"/>
                          <a:cs typeface="NanumGothic"/>
                        </a:rPr>
                        <a:t>JARVIS-PC</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제한된 기능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가능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핵심 연구</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정책+독립 검증</a:t>
                      </a:r>
                    </a:p>
                  </a:txBody>
                  <a:tcPr marL="91440" marR="91440" marT="45720" marB="45720" anchor="ctr">
                    <a:solidFill>
                      <a:srgbClr val="EAF2FF"/>
                    </a:solidFill>
                  </a:tcPr>
                </a:tc>
              </a:tr>
            </a:tbl>
          </a:graphicData>
        </a:graphic>
      </p:graphicFrame>
      <p:sp>
        <p:nvSpPr>
          <p:cNvPr id="5" name="">
            <a:extLst xmlns:a="http://schemas.openxmlformats.org/drawingml/2006/main">
              <a:ext uri="{FF2B5EF4-FFF2-40B4-BE49-F238E27FC236}">
                <a16:creationId xmlns:a16="http://schemas.microsoft.com/office/drawing/2014/main" id="{1B4C2BE9-54A2-4C33-8C1B-0DDC6FFA3C9A}"/>
              </a:ext>
            </a:extLst>
          </p:cNvPr>
          <p:cNvSpPr>
            <a:spLocks xmlns:a="http://schemas.openxmlformats.org/drawingml/2006/main" noGrp="1"/>
          </p:cNvSpPr>
          <p:nvPr/>
        </p:nvSpPr>
        <p:spPr>
          <a:xfrm xmlns:a="http://schemas.openxmlformats.org/drawingml/2006/main">
            <a:off x="742950" y="5095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OSWorld 2.0 장시간 작업 완료율</a:t>
            </a:r>
          </a:p>
        </p:txBody>
      </p:sp>
      <p:sp>
        <p:nvSpPr>
          <p:cNvPr id="6" name="">
            <a:extLst xmlns:a="http://schemas.openxmlformats.org/drawingml/2006/main">
              <a:ext uri="{FF2B5EF4-FFF2-40B4-BE49-F238E27FC236}">
                <a16:creationId xmlns:a16="http://schemas.microsoft.com/office/drawing/2014/main" id="{3435F02F-DDA1-452B-BA9A-711422A31E7B}"/>
              </a:ext>
            </a:extLst>
          </p:cNvPr>
          <p:cNvSpPr>
            <a:spLocks xmlns:a="http://schemas.openxmlformats.org/drawingml/2006/main" noGrp="1"/>
          </p:cNvSpPr>
          <p:nvPr/>
        </p:nvSpPr>
        <p:spPr>
          <a:xfrm xmlns:a="http://schemas.openxmlformats.org/drawingml/2006/main">
            <a:off x="4953000" y="48768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300" b="1">
                <a:solidFill>
                  <a:srgbClr val="D95050"/>
                </a:solidFill>
                <a:latin typeface="NanumGothic"/>
                <a:ea typeface="NanumGothic"/>
                <a:cs typeface="NanumGothic"/>
              </a:defRPr>
            </a:pPr>
            <a:r>
              <a:rPr sz="3300" b="1">
                <a:solidFill>
                  <a:srgbClr val="D95050"/>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B26B6086-8BCB-4123-8E6E-6C8673456839}"/>
              </a:ext>
            </a:extLst>
          </p:cNvPr>
          <p:cNvSpPr>
            <a:spLocks xmlns:a="http://schemas.openxmlformats.org/drawingml/2006/main" noGrp="1"/>
          </p:cNvSpPr>
          <p:nvPr/>
        </p:nvSpPr>
        <p:spPr>
          <a:xfrm xmlns:a="http://schemas.openxmlformats.org/drawingml/2006/main">
            <a:off x="7000875" y="492442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최고 성능 모델도 긴 실제 업무에서 제약 기억과 결과 검증을 자주 놓친다.</a:t>
            </a:r>
          </a:p>
        </p:txBody>
      </p:sp>
      <p:sp>
        <p:nvSpPr>
          <p:cNvPr id="8" name="">
            <a:extLst xmlns:a="http://schemas.openxmlformats.org/drawingml/2006/main">
              <a:ext uri="{FF2B5EF4-FFF2-40B4-BE49-F238E27FC236}">
                <a16:creationId xmlns:a16="http://schemas.microsoft.com/office/drawing/2014/main" id="{2E7363AD-BD99-4E96-83C0-EAB777BEEF85}"/>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출처: Anthropic Computer Use; Open Interpreter; Microsoft Research UFO2; OSWorld 2.0 (2026)</a:t>
            </a:r>
          </a:p>
        </p:txBody>
      </p:sp>
    </p:spTree>
    <p:extLst>
      <p:ext uri="{BB962C8B-B14F-4D97-AF65-F5344CB8AC3E}">
        <p14:creationId xmlns:p14="http://schemas.microsoft.com/office/powerpoint/2010/main" val="1813374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BF755E-83B7-4590-BD67-BA06220CF0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연구 목표와 차별점</a:t>
            </a:r>
          </a:p>
        </p:txBody>
      </p:sp>
      <p:sp>
        <p:nvSpPr>
          <p:cNvPr id="2" name="">
            <a:extLst xmlns:a="http://schemas.openxmlformats.org/drawingml/2006/main">
              <a:ext uri="{FF2B5EF4-FFF2-40B4-BE49-F238E27FC236}">
                <a16:creationId xmlns:a16="http://schemas.microsoft.com/office/drawing/2014/main" id="{8C521108-FC16-4709-A6A3-7CACFAB329F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F9C6F8D2-69AC-417E-B83E-6FE108D2E40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F263A43-3F1D-42CE-963E-23C318DBBEB0}"/>
              </a:ext>
            </a:extLst>
          </p:cNvPr>
          <p:cNvSpPr>
            <a:spLocks xmlns:a="http://schemas.openxmlformats.org/drawingml/2006/main" noGrp="1"/>
          </p:cNvSpPr>
          <p:nvPr/>
        </p:nvSpPr>
        <p:spPr>
          <a:xfrm xmlns:a="http://schemas.openxmlformats.org/drawingml/2006/main">
            <a:off x="762000" y="13811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3478F6"/>
                </a:solidFill>
                <a:latin typeface="NanumGothic"/>
                <a:ea typeface="NanumGothic"/>
                <a:cs typeface="NanumGothic"/>
              </a:defRPr>
            </a:pPr>
            <a:r>
              <a:rPr sz="1500" b="1">
                <a:solidFill>
                  <a:srgbClr val="3478F6"/>
                </a:solidFill>
                <a:latin typeface="NanumGothic"/>
                <a:ea typeface="NanumGothic"/>
                <a:cs typeface="NanumGothic"/>
              </a:rPr>
              <a:t>연구 질문</a:t>
            </a:r>
          </a:p>
        </p:txBody>
      </p:sp>
      <p:sp>
        <p:nvSpPr>
          <p:cNvPr id="5" name="">
            <a:extLst xmlns:a="http://schemas.openxmlformats.org/drawingml/2006/main">
              <a:ext uri="{FF2B5EF4-FFF2-40B4-BE49-F238E27FC236}">
                <a16:creationId xmlns:a16="http://schemas.microsoft.com/office/drawing/2014/main" id="{D6DEC6EF-39F2-4E8E-88F8-4C6FB4B0E37D}"/>
              </a:ext>
            </a:extLst>
          </p:cNvPr>
          <p:cNvSpPr>
            <a:spLocks xmlns:a="http://schemas.openxmlformats.org/drawingml/2006/main" noGrp="1"/>
          </p:cNvSpPr>
          <p:nvPr/>
        </p:nvSpPr>
        <p:spPr>
          <a:xfrm xmlns:a="http://schemas.openxmlformats.org/drawingml/2006/main">
            <a:off x="762000" y="18097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어떤 발화를 명령으로 판단하고, 어느 행동을 자동 실행하며,</a:t>
            </a:r>
          </a:p>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언제 사용자에게 다시 확인해야 하는가?</a:t>
            </a:r>
          </a:p>
        </p:txBody>
      </p:sp>
      <p:sp>
        <p:nvSpPr>
          <p:cNvPr id="6" name="">
            <a:extLst xmlns:a="http://schemas.openxmlformats.org/drawingml/2006/main">
              <a:ext uri="{FF2B5EF4-FFF2-40B4-BE49-F238E27FC236}">
                <a16:creationId xmlns:a16="http://schemas.microsoft.com/office/drawing/2014/main" id="{6D218224-212A-461A-B296-E8ED1CDFC4C7}"/>
              </a:ext>
            </a:extLst>
          </p:cNvPr>
          <p:cNvSpPr>
            <a:spLocks xmlns:a="http://schemas.openxmlformats.org/drawingml/2006/main" noGrp="1"/>
          </p:cNvSpPr>
          <p:nvPr/>
        </p:nvSpPr>
        <p:spPr>
          <a:xfrm xmlns:a="http://schemas.openxmlformats.org/drawingml/2006/main">
            <a:off x="781050" y="3048000"/>
            <a:ext cx="1057275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72607318-FD2B-475B-B15B-AA55BB141EA1}"/>
              </a:ext>
            </a:extLst>
          </p:cNvPr>
          <p:cNvSpPr>
            <a:spLocks xmlns:a="http://schemas.openxmlformats.org/drawingml/2006/main" noGrp="1"/>
          </p:cNvSpPr>
          <p:nvPr/>
        </p:nvSpPr>
        <p:spPr>
          <a:xfrm xmlns:a="http://schemas.openxmlformats.org/drawingml/2006/main">
            <a:off x="7810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3478F6"/>
                </a:solidFill>
                <a:latin typeface="NanumGothic"/>
                <a:ea typeface="NanumGothic"/>
                <a:cs typeface="NanumGothic"/>
              </a:defRPr>
            </a:pPr>
            <a:r>
              <a:rPr sz="1950" b="1">
                <a:solidFill>
                  <a:srgbClr val="3478F6"/>
                </a:solidFill>
                <a:latin typeface="NanumGothic"/>
                <a:ea typeface="NanumGothic"/>
                <a:cs typeface="NanumGothic"/>
              </a:rPr>
              <a:t>의도(Intent)</a:t>
            </a:r>
          </a:p>
        </p:txBody>
      </p:sp>
      <p:sp>
        <p:nvSpPr>
          <p:cNvPr id="8" name="">
            <a:extLst xmlns:a="http://schemas.openxmlformats.org/drawingml/2006/main">
              <a:ext uri="{FF2B5EF4-FFF2-40B4-BE49-F238E27FC236}">
                <a16:creationId xmlns:a16="http://schemas.microsoft.com/office/drawing/2014/main" id="{6D99E575-12D1-4E68-9688-D1B24294DB81}"/>
              </a:ext>
            </a:extLst>
          </p:cNvPr>
          <p:cNvSpPr>
            <a:spLocks xmlns:a="http://schemas.openxmlformats.org/drawingml/2006/main" noGrp="1"/>
          </p:cNvSpPr>
          <p:nvPr/>
        </p:nvSpPr>
        <p:spPr>
          <a:xfrm xmlns:a="http://schemas.openxmlformats.org/drawingml/2006/main">
            <a:off x="7810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대화·질문·명령·불확실</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발화 문맥과 호출어 판별</a:t>
            </a:r>
          </a:p>
        </p:txBody>
      </p:sp>
      <p:sp>
        <p:nvSpPr>
          <p:cNvPr id="9" name="">
            <a:extLst xmlns:a="http://schemas.openxmlformats.org/drawingml/2006/main">
              <a:ext uri="{FF2B5EF4-FFF2-40B4-BE49-F238E27FC236}">
                <a16:creationId xmlns:a16="http://schemas.microsoft.com/office/drawing/2014/main" id="{4D4C623D-61D9-4304-B693-30A04E45CFC4}"/>
              </a:ext>
            </a:extLst>
          </p:cNvPr>
          <p:cNvSpPr>
            <a:spLocks xmlns:a="http://schemas.openxmlformats.org/drawingml/2006/main" noGrp="1"/>
          </p:cNvSpPr>
          <p:nvPr/>
        </p:nvSpPr>
        <p:spPr>
          <a:xfrm xmlns:a="http://schemas.openxmlformats.org/drawingml/2006/main">
            <a:off x="411480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F2A93B"/>
                </a:solidFill>
                <a:latin typeface="NanumGothic"/>
                <a:ea typeface="NanumGothic"/>
                <a:cs typeface="NanumGothic"/>
              </a:defRPr>
            </a:pPr>
            <a:r>
              <a:rPr sz="1950" b="1">
                <a:solidFill>
                  <a:srgbClr val="F2A93B"/>
                </a:solidFill>
                <a:latin typeface="NanumGothic"/>
                <a:ea typeface="NanumGothic"/>
                <a:cs typeface="NanumGothic"/>
              </a:rPr>
              <a:t>위험(Risk)</a:t>
            </a:r>
          </a:p>
        </p:txBody>
      </p:sp>
      <p:sp>
        <p:nvSpPr>
          <p:cNvPr id="10" name="">
            <a:extLst xmlns:a="http://schemas.openxmlformats.org/drawingml/2006/main">
              <a:ext uri="{FF2B5EF4-FFF2-40B4-BE49-F238E27FC236}">
                <a16:creationId xmlns:a16="http://schemas.microsoft.com/office/drawing/2014/main" id="{500FB555-BC67-4374-83A9-6777DFBCA57F}"/>
              </a:ext>
            </a:extLst>
          </p:cNvPr>
          <p:cNvSpPr>
            <a:spLocks xmlns:a="http://schemas.openxmlformats.org/drawingml/2006/main" noGrp="1"/>
          </p:cNvSpPr>
          <p:nvPr/>
        </p:nvSpPr>
        <p:spPr>
          <a:xfrm xmlns:a="http://schemas.openxmlformats.org/drawingml/2006/main">
            <a:off x="411480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대상·권한·복구 가능성</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외부 전송 여부 평가</a:t>
            </a:r>
          </a:p>
        </p:txBody>
      </p:sp>
      <p:sp>
        <p:nvSpPr>
          <p:cNvPr id="11" name="">
            <a:extLst xmlns:a="http://schemas.openxmlformats.org/drawingml/2006/main">
              <a:ext uri="{FF2B5EF4-FFF2-40B4-BE49-F238E27FC236}">
                <a16:creationId xmlns:a16="http://schemas.microsoft.com/office/drawing/2014/main" id="{02E11749-35A7-49DC-969E-D7275AA88CB5}"/>
              </a:ext>
            </a:extLst>
          </p:cNvPr>
          <p:cNvSpPr>
            <a:spLocks xmlns:a="http://schemas.openxmlformats.org/drawingml/2006/main" noGrp="1"/>
          </p:cNvSpPr>
          <p:nvPr/>
        </p:nvSpPr>
        <p:spPr>
          <a:xfrm xmlns:a="http://schemas.openxmlformats.org/drawingml/2006/main">
            <a:off x="74485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2FA36B"/>
                </a:solidFill>
                <a:latin typeface="NanumGothic"/>
                <a:ea typeface="NanumGothic"/>
                <a:cs typeface="NanumGothic"/>
              </a:defRPr>
            </a:pPr>
            <a:r>
              <a:rPr sz="1950" b="1">
                <a:solidFill>
                  <a:srgbClr val="2FA36B"/>
                </a:solidFill>
                <a:latin typeface="NanumGothic"/>
                <a:ea typeface="NanumGothic"/>
                <a:cs typeface="NanumGothic"/>
              </a:rPr>
              <a:t>실행·검증</a:t>
            </a:r>
          </a:p>
        </p:txBody>
      </p:sp>
      <p:sp>
        <p:nvSpPr>
          <p:cNvPr id="12" name="">
            <a:extLst xmlns:a="http://schemas.openxmlformats.org/drawingml/2006/main">
              <a:ext uri="{FF2B5EF4-FFF2-40B4-BE49-F238E27FC236}">
                <a16:creationId xmlns:a16="http://schemas.microsoft.com/office/drawing/2014/main" id="{FF114FFD-F33A-4DDE-BA69-3B970A2D1EEE}"/>
              </a:ext>
            </a:extLst>
          </p:cNvPr>
          <p:cNvSpPr>
            <a:spLocks xmlns:a="http://schemas.openxmlformats.org/drawingml/2006/main" noGrp="1"/>
          </p:cNvSpPr>
          <p:nvPr/>
        </p:nvSpPr>
        <p:spPr>
          <a:xfrm xmlns:a="http://schemas.openxmlformats.org/drawingml/2006/main">
            <a:off x="74485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허용된 기능만 실행</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운영체제 상태로 재확인</a:t>
            </a:r>
          </a:p>
        </p:txBody>
      </p:sp>
      <p:sp>
        <p:nvSpPr>
          <p:cNvPr id="13" name="">
            <a:extLst xmlns:a="http://schemas.openxmlformats.org/drawingml/2006/main">
              <a:ext uri="{FF2B5EF4-FFF2-40B4-BE49-F238E27FC236}">
                <a16:creationId xmlns:a16="http://schemas.microsoft.com/office/drawing/2014/main" id="{75660F5A-585D-45F2-8BD2-69BFB22CEA4D}"/>
              </a:ext>
            </a:extLst>
          </p:cNvPr>
          <p:cNvSpPr>
            <a:spLocks xmlns:a="http://schemas.openxmlformats.org/drawingml/2006/main" noGrp="1"/>
          </p:cNvSpPr>
          <p:nvPr/>
        </p:nvSpPr>
        <p:spPr>
          <a:xfrm xmlns:a="http://schemas.openxmlformats.org/drawingml/2006/main">
            <a:off x="80010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025" b="1">
                <a:solidFill>
                  <a:srgbClr val="243B64"/>
                </a:solidFill>
                <a:latin typeface="NanumGothic"/>
                <a:ea typeface="NanumGothic"/>
                <a:cs typeface="NanumGothic"/>
              </a:defRPr>
            </a:pPr>
            <a:r>
              <a:rPr sz="2025" b="1">
                <a:solidFill>
                  <a:srgbClr val="243B64"/>
                </a:solidFill>
                <a:latin typeface="NanumGothic"/>
                <a:ea typeface="NanumGothic"/>
                <a:cs typeface="NanumGothic"/>
              </a:rPr>
              <a:t>작품은 전체 에이전트를 구현하고, 논문은 실행 제어 모듈의 효과를 검증한다.</a:t>
            </a:r>
          </a:p>
        </p:txBody>
      </p:sp>
    </p:spTree>
    <p:extLst>
      <p:ext uri="{BB962C8B-B14F-4D97-AF65-F5344CB8AC3E}">
        <p14:creationId xmlns:p14="http://schemas.microsoft.com/office/powerpoint/2010/main" val="44916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D78F63-709C-4E82-9745-E14C1ABD9DB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전체 시스템 구조</a:t>
            </a:r>
          </a:p>
        </p:txBody>
      </p:sp>
      <p:sp>
        <p:nvSpPr>
          <p:cNvPr id="2" name="">
            <a:extLst xmlns:a="http://schemas.openxmlformats.org/drawingml/2006/main">
              <a:ext uri="{FF2B5EF4-FFF2-40B4-BE49-F238E27FC236}">
                <a16:creationId xmlns:a16="http://schemas.microsoft.com/office/drawing/2014/main" id="{AA27F16C-4CAB-44C4-9C63-D4AA2121DF7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05</a:t>
            </a:r>
          </a:p>
        </p:txBody>
      </p:sp>
      <p:sp>
        <p:nvSpPr>
          <p:cNvPr id="3" name="">
            <a:extLst xmlns:a="http://schemas.openxmlformats.org/drawingml/2006/main">
              <a:ext uri="{FF2B5EF4-FFF2-40B4-BE49-F238E27FC236}">
                <a16:creationId xmlns:a16="http://schemas.microsoft.com/office/drawing/2014/main" id="{4D09AFA6-F7D8-432A-BA10-26A7F91ECC7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7F788F4-2E70-442C-B128-A71BF5D22F44}"/>
              </a:ext>
            </a:extLst>
          </p:cNvPr>
          <p:cNvSpPr>
            <a:spLocks xmlns:a="http://schemas.openxmlformats.org/drawingml/2006/main" noGrp="1"/>
          </p:cNvSpPr>
          <p:nvPr/>
        </p:nvSpPr>
        <p:spPr>
          <a:xfrm xmlns:a="http://schemas.openxmlformats.org/drawingml/2006/main">
            <a:off x="4953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C8150E4-2DFF-4BF6-89D0-820AC75ECA3D}"/>
              </a:ext>
            </a:extLst>
          </p:cNvPr>
          <p:cNvSpPr>
            <a:spLocks xmlns:a="http://schemas.openxmlformats.org/drawingml/2006/main" noGrp="1"/>
          </p:cNvSpPr>
          <p:nvPr/>
        </p:nvSpPr>
        <p:spPr>
          <a:xfrm xmlns:a="http://schemas.openxmlformats.org/drawingml/2006/main">
            <a:off x="5905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상시 음성</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대기</a:t>
            </a:r>
          </a:p>
        </p:txBody>
      </p:sp>
      <p:sp>
        <p:nvSpPr>
          <p:cNvPr id="6" name="">
            <a:extLst xmlns:a="http://schemas.openxmlformats.org/drawingml/2006/main">
              <a:ext uri="{FF2B5EF4-FFF2-40B4-BE49-F238E27FC236}">
                <a16:creationId xmlns:a16="http://schemas.microsoft.com/office/drawing/2014/main" id="{51E9731F-19A7-4594-B859-E99AC43F75CA}"/>
              </a:ext>
            </a:extLst>
          </p:cNvPr>
          <p:cNvSpPr>
            <a:spLocks xmlns:a="http://schemas.openxmlformats.org/drawingml/2006/main" noGrp="1"/>
          </p:cNvSpPr>
          <p:nvPr/>
        </p:nvSpPr>
        <p:spPr>
          <a:xfrm xmlns:a="http://schemas.openxmlformats.org/drawingml/2006/main">
            <a:off x="18954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F5B79941-C413-416A-9301-052CBBB6D90F}"/>
              </a:ext>
            </a:extLst>
          </p:cNvPr>
          <p:cNvSpPr>
            <a:spLocks xmlns:a="http://schemas.openxmlformats.org/drawingml/2006/main" noGrp="1"/>
          </p:cNvSpPr>
          <p:nvPr/>
        </p:nvSpPr>
        <p:spPr>
          <a:xfrm xmlns:a="http://schemas.openxmlformats.org/drawingml/2006/main">
            <a:off x="21526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8" name="">
            <a:extLst xmlns:a="http://schemas.openxmlformats.org/drawingml/2006/main">
              <a:ext uri="{FF2B5EF4-FFF2-40B4-BE49-F238E27FC236}">
                <a16:creationId xmlns:a16="http://schemas.microsoft.com/office/drawing/2014/main" id="{DCA54117-6451-461D-84FE-0A9DF665FFBB}"/>
              </a:ext>
            </a:extLst>
          </p:cNvPr>
          <p:cNvSpPr>
            <a:spLocks xmlns:a="http://schemas.openxmlformats.org/drawingml/2006/main" noGrp="1"/>
          </p:cNvSpPr>
          <p:nvPr/>
        </p:nvSpPr>
        <p:spPr>
          <a:xfrm xmlns:a="http://schemas.openxmlformats.org/drawingml/2006/main">
            <a:off x="22479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호출·의도</a:t>
            </a:r>
          </a:p>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판별</a:t>
            </a:r>
          </a:p>
        </p:txBody>
      </p:sp>
      <p:sp>
        <p:nvSpPr>
          <p:cNvPr id="9" name="">
            <a:extLst xmlns:a="http://schemas.openxmlformats.org/drawingml/2006/main">
              <a:ext uri="{FF2B5EF4-FFF2-40B4-BE49-F238E27FC236}">
                <a16:creationId xmlns:a16="http://schemas.microsoft.com/office/drawing/2014/main" id="{C0007886-95C6-43D9-B083-0BB5285BE0A9}"/>
              </a:ext>
            </a:extLst>
          </p:cNvPr>
          <p:cNvSpPr>
            <a:spLocks xmlns:a="http://schemas.openxmlformats.org/drawingml/2006/main" noGrp="1"/>
          </p:cNvSpPr>
          <p:nvPr/>
        </p:nvSpPr>
        <p:spPr>
          <a:xfrm xmlns:a="http://schemas.openxmlformats.org/drawingml/2006/main">
            <a:off x="35528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0" name="">
            <a:extLst xmlns:a="http://schemas.openxmlformats.org/drawingml/2006/main">
              <a:ext uri="{FF2B5EF4-FFF2-40B4-BE49-F238E27FC236}">
                <a16:creationId xmlns:a16="http://schemas.microsoft.com/office/drawing/2014/main" id="{97CBC4CC-EB6E-42EF-8FC1-A296C9EEC1DE}"/>
              </a:ext>
            </a:extLst>
          </p:cNvPr>
          <p:cNvSpPr>
            <a:spLocks xmlns:a="http://schemas.openxmlformats.org/drawingml/2006/main" noGrp="1"/>
          </p:cNvSpPr>
          <p:nvPr/>
        </p:nvSpPr>
        <p:spPr>
          <a:xfrm xmlns:a="http://schemas.openxmlformats.org/drawingml/2006/main">
            <a:off x="38100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DFB53FF5-DEF0-41DC-8141-C06163974529}"/>
              </a:ext>
            </a:extLst>
          </p:cNvPr>
          <p:cNvSpPr>
            <a:spLocks xmlns:a="http://schemas.openxmlformats.org/drawingml/2006/main" noGrp="1"/>
          </p:cNvSpPr>
          <p:nvPr/>
        </p:nvSpPr>
        <p:spPr>
          <a:xfrm xmlns:a="http://schemas.openxmlformats.org/drawingml/2006/main">
            <a:off x="39052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화면·기억</a:t>
            </a:r>
          </a:p>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문맥</a:t>
            </a:r>
          </a:p>
        </p:txBody>
      </p:sp>
      <p:sp>
        <p:nvSpPr>
          <p:cNvPr id="12" name="">
            <a:extLst xmlns:a="http://schemas.openxmlformats.org/drawingml/2006/main">
              <a:ext uri="{FF2B5EF4-FFF2-40B4-BE49-F238E27FC236}">
                <a16:creationId xmlns:a16="http://schemas.microsoft.com/office/drawing/2014/main" id="{23D9E915-DA6B-466F-A1F5-777932E63085}"/>
              </a:ext>
            </a:extLst>
          </p:cNvPr>
          <p:cNvSpPr>
            <a:spLocks xmlns:a="http://schemas.openxmlformats.org/drawingml/2006/main" noGrp="1"/>
          </p:cNvSpPr>
          <p:nvPr/>
        </p:nvSpPr>
        <p:spPr>
          <a:xfrm xmlns:a="http://schemas.openxmlformats.org/drawingml/2006/main">
            <a:off x="52101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3" name="">
            <a:extLst xmlns:a="http://schemas.openxmlformats.org/drawingml/2006/main">
              <a:ext uri="{FF2B5EF4-FFF2-40B4-BE49-F238E27FC236}">
                <a16:creationId xmlns:a16="http://schemas.microsoft.com/office/drawing/2014/main" id="{F6A20CE0-CD29-4666-93EF-8B04373EF16E}"/>
              </a:ext>
            </a:extLst>
          </p:cNvPr>
          <p:cNvSpPr>
            <a:spLocks xmlns:a="http://schemas.openxmlformats.org/drawingml/2006/main" noGrp="1"/>
          </p:cNvSpPr>
          <p:nvPr/>
        </p:nvSpPr>
        <p:spPr>
          <a:xfrm xmlns:a="http://schemas.openxmlformats.org/drawingml/2006/main">
            <a:off x="54673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4" name="">
            <a:extLst xmlns:a="http://schemas.openxmlformats.org/drawingml/2006/main">
              <a:ext uri="{FF2B5EF4-FFF2-40B4-BE49-F238E27FC236}">
                <a16:creationId xmlns:a16="http://schemas.microsoft.com/office/drawing/2014/main" id="{D8AE4974-51D6-44EF-8FF0-66F6C316A510}"/>
              </a:ext>
            </a:extLst>
          </p:cNvPr>
          <p:cNvSpPr>
            <a:spLocks xmlns:a="http://schemas.openxmlformats.org/drawingml/2006/main" noGrp="1"/>
          </p:cNvSpPr>
          <p:nvPr/>
        </p:nvSpPr>
        <p:spPr>
          <a:xfrm xmlns:a="http://schemas.openxmlformats.org/drawingml/2006/main">
            <a:off x="55626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LLM 계획</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생성</a:t>
            </a:r>
          </a:p>
        </p:txBody>
      </p:sp>
      <p:sp>
        <p:nvSpPr>
          <p:cNvPr id="15" name="">
            <a:extLst xmlns:a="http://schemas.openxmlformats.org/drawingml/2006/main">
              <a:ext uri="{FF2B5EF4-FFF2-40B4-BE49-F238E27FC236}">
                <a16:creationId xmlns:a16="http://schemas.microsoft.com/office/drawing/2014/main" id="{F07FB679-9CB6-429D-9E3A-752F0409F104}"/>
              </a:ext>
            </a:extLst>
          </p:cNvPr>
          <p:cNvSpPr>
            <a:spLocks xmlns:a="http://schemas.openxmlformats.org/drawingml/2006/main" noGrp="1"/>
          </p:cNvSpPr>
          <p:nvPr/>
        </p:nvSpPr>
        <p:spPr>
          <a:xfrm xmlns:a="http://schemas.openxmlformats.org/drawingml/2006/main">
            <a:off x="68675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2BB351C7-A0FE-42C4-8DC6-16BCD46D7BBF}"/>
              </a:ext>
            </a:extLst>
          </p:cNvPr>
          <p:cNvSpPr>
            <a:spLocks xmlns:a="http://schemas.openxmlformats.org/drawingml/2006/main" noGrp="1"/>
          </p:cNvSpPr>
          <p:nvPr/>
        </p:nvSpPr>
        <p:spPr>
          <a:xfrm xmlns:a="http://schemas.openxmlformats.org/drawingml/2006/main">
            <a:off x="7124700" y="2190750"/>
            <a:ext cx="1381125" cy="1428750"/>
          </a:xfrm>
          <a:prstGeom xmlns:a="http://schemas.openxmlformats.org/drawingml/2006/main" prst="roundRect">
            <a:avLst>
              <a:gd name="adj" fmla="val 9655"/>
            </a:avLst>
          </a:prstGeom>
          <a:solidFill xmlns:a="http://schemas.openxmlformats.org/drawingml/2006/main">
            <a:srgbClr val="FFF7E6"/>
          </a:solidFill>
          <a:ln xmlns:a="http://schemas.openxmlformats.org/drawingml/2006/main" w="9525">
            <a:solidFill>
              <a:srgbClr val="F2A93B"/>
            </a:solidFill>
            <a:prstDash val="solid"/>
          </a:ln>
        </p:spPr>
      </p:sp>
      <p:sp>
        <p:nvSpPr>
          <p:cNvPr id="17" name="">
            <a:extLst xmlns:a="http://schemas.openxmlformats.org/drawingml/2006/main">
              <a:ext uri="{FF2B5EF4-FFF2-40B4-BE49-F238E27FC236}">
                <a16:creationId xmlns:a16="http://schemas.microsoft.com/office/drawing/2014/main" id="{6634C175-7243-4908-A247-D2B16B8C2937}"/>
              </a:ext>
            </a:extLst>
          </p:cNvPr>
          <p:cNvSpPr>
            <a:spLocks xmlns:a="http://schemas.openxmlformats.org/drawingml/2006/main" noGrp="1"/>
          </p:cNvSpPr>
          <p:nvPr/>
        </p:nvSpPr>
        <p:spPr>
          <a:xfrm xmlns:a="http://schemas.openxmlformats.org/drawingml/2006/main">
            <a:off x="72199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정책·위험</a:t>
            </a:r>
          </a:p>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판단</a:t>
            </a:r>
          </a:p>
        </p:txBody>
      </p:sp>
      <p:sp>
        <p:nvSpPr>
          <p:cNvPr id="18" name="">
            <a:extLst xmlns:a="http://schemas.openxmlformats.org/drawingml/2006/main">
              <a:ext uri="{FF2B5EF4-FFF2-40B4-BE49-F238E27FC236}">
                <a16:creationId xmlns:a16="http://schemas.microsoft.com/office/drawing/2014/main" id="{CBC93320-E583-484A-90CF-953C4FC0D472}"/>
              </a:ext>
            </a:extLst>
          </p:cNvPr>
          <p:cNvSpPr>
            <a:spLocks xmlns:a="http://schemas.openxmlformats.org/drawingml/2006/main" noGrp="1"/>
          </p:cNvSpPr>
          <p:nvPr/>
        </p:nvSpPr>
        <p:spPr>
          <a:xfrm xmlns:a="http://schemas.openxmlformats.org/drawingml/2006/main">
            <a:off x="85248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9" name="">
            <a:extLst xmlns:a="http://schemas.openxmlformats.org/drawingml/2006/main">
              <a:ext uri="{FF2B5EF4-FFF2-40B4-BE49-F238E27FC236}">
                <a16:creationId xmlns:a16="http://schemas.microsoft.com/office/drawing/2014/main" id="{45425BB0-B5D5-4F39-B3C4-330DBDCC71ED}"/>
              </a:ext>
            </a:extLst>
          </p:cNvPr>
          <p:cNvSpPr>
            <a:spLocks xmlns:a="http://schemas.openxmlformats.org/drawingml/2006/main" noGrp="1"/>
          </p:cNvSpPr>
          <p:nvPr/>
        </p:nvSpPr>
        <p:spPr>
          <a:xfrm xmlns:a="http://schemas.openxmlformats.org/drawingml/2006/main">
            <a:off x="87820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0" name="">
            <a:extLst xmlns:a="http://schemas.openxmlformats.org/drawingml/2006/main">
              <a:ext uri="{FF2B5EF4-FFF2-40B4-BE49-F238E27FC236}">
                <a16:creationId xmlns:a16="http://schemas.microsoft.com/office/drawing/2014/main" id="{E3A5B3C8-0E9E-4CAC-B959-C5BF97A2E093}"/>
              </a:ext>
            </a:extLst>
          </p:cNvPr>
          <p:cNvSpPr>
            <a:spLocks xmlns:a="http://schemas.openxmlformats.org/drawingml/2006/main" noGrp="1"/>
          </p:cNvSpPr>
          <p:nvPr/>
        </p:nvSpPr>
        <p:spPr>
          <a:xfrm xmlns:a="http://schemas.openxmlformats.org/drawingml/2006/main">
            <a:off x="88773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Windows</a:t>
            </a:r>
          </a:p>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실행</a:t>
            </a:r>
          </a:p>
        </p:txBody>
      </p:sp>
      <p:sp>
        <p:nvSpPr>
          <p:cNvPr id="21" name="">
            <a:extLst xmlns:a="http://schemas.openxmlformats.org/drawingml/2006/main">
              <a:ext uri="{FF2B5EF4-FFF2-40B4-BE49-F238E27FC236}">
                <a16:creationId xmlns:a16="http://schemas.microsoft.com/office/drawing/2014/main" id="{0591E27F-1CAA-45A3-8C64-3B02E7EC57B2}"/>
              </a:ext>
            </a:extLst>
          </p:cNvPr>
          <p:cNvSpPr>
            <a:spLocks xmlns:a="http://schemas.openxmlformats.org/drawingml/2006/main" noGrp="1"/>
          </p:cNvSpPr>
          <p:nvPr/>
        </p:nvSpPr>
        <p:spPr>
          <a:xfrm xmlns:a="http://schemas.openxmlformats.org/drawingml/2006/main">
            <a:off x="101822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22" name="">
            <a:extLst xmlns:a="http://schemas.openxmlformats.org/drawingml/2006/main">
              <a:ext uri="{FF2B5EF4-FFF2-40B4-BE49-F238E27FC236}">
                <a16:creationId xmlns:a16="http://schemas.microsoft.com/office/drawing/2014/main" id="{912289F7-3416-4806-9EC6-2BD3F5441089}"/>
              </a:ext>
            </a:extLst>
          </p:cNvPr>
          <p:cNvSpPr>
            <a:spLocks xmlns:a="http://schemas.openxmlformats.org/drawingml/2006/main" noGrp="1"/>
          </p:cNvSpPr>
          <p:nvPr/>
        </p:nvSpPr>
        <p:spPr>
          <a:xfrm xmlns:a="http://schemas.openxmlformats.org/drawingml/2006/main">
            <a:off x="104394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28B1C3F1-F5F6-4C28-9E0D-AED4A6CE9EB5}"/>
              </a:ext>
            </a:extLst>
          </p:cNvPr>
          <p:cNvSpPr>
            <a:spLocks xmlns:a="http://schemas.openxmlformats.org/drawingml/2006/main" noGrp="1"/>
          </p:cNvSpPr>
          <p:nvPr/>
        </p:nvSpPr>
        <p:spPr>
          <a:xfrm xmlns:a="http://schemas.openxmlformats.org/drawingml/2006/main">
            <a:off x="105346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결과 검증</a:t>
            </a:r>
          </a:p>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재계획</a:t>
            </a:r>
          </a:p>
        </p:txBody>
      </p:sp>
      <p:sp>
        <p:nvSpPr>
          <p:cNvPr id="24" name="">
            <a:extLst xmlns:a="http://schemas.openxmlformats.org/drawingml/2006/main">
              <a:ext uri="{FF2B5EF4-FFF2-40B4-BE49-F238E27FC236}">
                <a16:creationId xmlns:a16="http://schemas.microsoft.com/office/drawing/2014/main" id="{B5E9E42C-A115-4926-8E66-C6942FB681DB}"/>
              </a:ext>
            </a:extLst>
          </p:cNvPr>
          <p:cNvSpPr>
            <a:spLocks xmlns:a="http://schemas.openxmlformats.org/drawingml/2006/main" noGrp="1"/>
          </p:cNvSpPr>
          <p:nvPr/>
        </p:nvSpPr>
        <p:spPr>
          <a:xfrm xmlns:a="http://schemas.openxmlformats.org/drawingml/2006/main">
            <a:off x="809625" y="42386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실행 수단 우선순위</a:t>
            </a:r>
          </a:p>
        </p:txBody>
      </p:sp>
      <p:sp>
        <p:nvSpPr>
          <p:cNvPr id="25" name="">
            <a:extLst xmlns:a="http://schemas.openxmlformats.org/drawingml/2006/main">
              <a:ext uri="{FF2B5EF4-FFF2-40B4-BE49-F238E27FC236}">
                <a16:creationId xmlns:a16="http://schemas.microsoft.com/office/drawing/2014/main" id="{36A78B50-BBE7-40B4-88FB-8DB189A6E616}"/>
              </a:ext>
            </a:extLst>
          </p:cNvPr>
          <p:cNvSpPr>
            <a:spLocks xmlns:a="http://schemas.openxmlformats.org/drawingml/2006/main" noGrp="1"/>
          </p:cNvSpPr>
          <p:nvPr/>
        </p:nvSpPr>
        <p:spPr>
          <a:xfrm xmlns:a="http://schemas.openxmlformats.org/drawingml/2006/main">
            <a:off x="809625" y="46672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172033"/>
                </a:solidFill>
                <a:latin typeface="NanumGothic"/>
                <a:ea typeface="NanumGothic"/>
                <a:cs typeface="NanumGothic"/>
              </a:defRPr>
            </a:pPr>
            <a:r>
              <a:rPr sz="2100" b="1">
                <a:solidFill>
                  <a:srgbClr val="172033"/>
                </a:solidFill>
                <a:latin typeface="NanumGothic"/>
                <a:ea typeface="NanumGothic"/>
                <a:cs typeface="NanumGothic"/>
              </a:rPr>
              <a:t>Windows API · 제한된 PowerShell · UI 자동화 · 화면 인식과 입력</a:t>
            </a:r>
          </a:p>
        </p:txBody>
      </p:sp>
      <p:sp>
        <p:nvSpPr>
          <p:cNvPr id="26" name="">
            <a:extLst xmlns:a="http://schemas.openxmlformats.org/drawingml/2006/main">
              <a:ext uri="{FF2B5EF4-FFF2-40B4-BE49-F238E27FC236}">
                <a16:creationId xmlns:a16="http://schemas.microsoft.com/office/drawing/2014/main" id="{D954B7A6-2E07-4847-BFD0-0A18AE7A63C5}"/>
              </a:ext>
            </a:extLst>
          </p:cNvPr>
          <p:cNvSpPr>
            <a:spLocks xmlns:a="http://schemas.openxmlformats.org/drawingml/2006/main" noGrp="1"/>
          </p:cNvSpPr>
          <p:nvPr/>
        </p:nvSpPr>
        <p:spPr>
          <a:xfrm xmlns:a="http://schemas.openxmlformats.org/drawingml/2006/main">
            <a:off x="809625" y="54292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행동 → 실제 관찰 → 독립 검증 → 제한된 재계획</a:t>
            </a:r>
          </a:p>
        </p:txBody>
      </p:sp>
    </p:spTree>
    <p:extLst>
      <p:ext uri="{BB962C8B-B14F-4D97-AF65-F5344CB8AC3E}">
        <p14:creationId xmlns:p14="http://schemas.microsoft.com/office/powerpoint/2010/main" val="1390525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E14FA3-EF9C-4E52-8FD5-4ACF5A463E0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Intent–Risk–Execution 제어</a:t>
            </a:r>
          </a:p>
        </p:txBody>
      </p:sp>
      <p:sp>
        <p:nvSpPr>
          <p:cNvPr id="2" name="">
            <a:extLst xmlns:a="http://schemas.openxmlformats.org/drawingml/2006/main">
              <a:ext uri="{FF2B5EF4-FFF2-40B4-BE49-F238E27FC236}">
                <a16:creationId xmlns:a16="http://schemas.microsoft.com/office/drawing/2014/main" id="{CA9C17D1-4311-4CB6-A1ED-FF022C67E47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06</a:t>
            </a:r>
          </a:p>
        </p:txBody>
      </p:sp>
      <p:sp>
        <p:nvSpPr>
          <p:cNvPr id="3" name="">
            <a:extLst xmlns:a="http://schemas.openxmlformats.org/drawingml/2006/main">
              <a:ext uri="{FF2B5EF4-FFF2-40B4-BE49-F238E27FC236}">
                <a16:creationId xmlns:a16="http://schemas.microsoft.com/office/drawing/2014/main" id="{55F47831-2ED6-45E7-92BF-C482A2BEBF4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16387968-9215-4A50-912E-2B5D7CED630E}"/>
              </a:ext>
            </a:extLst>
          </p:cNvPr>
          <p:cNvSpPr>
            <a:spLocks xmlns:a="http://schemas.openxmlformats.org/drawingml/2006/main" noGrp="1"/>
          </p:cNvSpPr>
          <p:nvPr/>
        </p:nvSpPr>
        <p:spPr>
          <a:xfrm xmlns:a="http://schemas.openxmlformats.org/drawingml/2006/main">
            <a:off x="685800" y="1524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DEC709B-63AE-4FCA-B862-1469B6A0FA17}"/>
              </a:ext>
            </a:extLst>
          </p:cNvPr>
          <p:cNvSpPr>
            <a:spLocks xmlns:a="http://schemas.openxmlformats.org/drawingml/2006/main" noGrp="1"/>
          </p:cNvSpPr>
          <p:nvPr/>
        </p:nvSpPr>
        <p:spPr>
          <a:xfrm xmlns:a="http://schemas.openxmlformats.org/drawingml/2006/main">
            <a:off x="876300" y="1847850"/>
            <a:ext cx="1066800" cy="323850"/>
          </a:xfrm>
          <a:prstGeom xmlns:a="http://schemas.openxmlformats.org/drawingml/2006/main" prst="roundRect">
            <a:avLst>
              <a:gd name="adj" fmla="val 50000"/>
            </a:avLst>
          </a:prstGeom>
          <a:solidFill xmlns:a="http://schemas.openxmlformats.org/drawingml/2006/main">
            <a:srgbClr val="2FA36B"/>
          </a:solidFill>
          <a:ln xmlns:a="http://schemas.openxmlformats.org/drawingml/2006/main" w="9525">
            <a:solidFill>
              <a:srgbClr val="2FA36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GREEN</a:t>
            </a:r>
          </a:p>
        </p:txBody>
      </p:sp>
      <p:sp>
        <p:nvSpPr>
          <p:cNvPr id="6" name="">
            <a:extLst xmlns:a="http://schemas.openxmlformats.org/drawingml/2006/main">
              <a:ext uri="{FF2B5EF4-FFF2-40B4-BE49-F238E27FC236}">
                <a16:creationId xmlns:a16="http://schemas.microsoft.com/office/drawing/2014/main" id="{2F5E6B91-C9C4-4FED-90B5-ADBE6036F06D}"/>
              </a:ext>
            </a:extLst>
          </p:cNvPr>
          <p:cNvSpPr>
            <a:spLocks xmlns:a="http://schemas.openxmlformats.org/drawingml/2006/main" noGrp="1"/>
          </p:cNvSpPr>
          <p:nvPr/>
        </p:nvSpPr>
        <p:spPr>
          <a:xfrm xmlns:a="http://schemas.openxmlformats.org/drawingml/2006/main">
            <a:off x="2238375" y="1695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낮은 위험</a:t>
            </a:r>
          </a:p>
        </p:txBody>
      </p:sp>
      <p:sp>
        <p:nvSpPr>
          <p:cNvPr id="7" name="">
            <a:extLst xmlns:a="http://schemas.openxmlformats.org/drawingml/2006/main">
              <a:ext uri="{FF2B5EF4-FFF2-40B4-BE49-F238E27FC236}">
                <a16:creationId xmlns:a16="http://schemas.microsoft.com/office/drawing/2014/main" id="{087B7204-1E96-40C4-9879-6FCB2FEDF976}"/>
              </a:ext>
            </a:extLst>
          </p:cNvPr>
          <p:cNvSpPr>
            <a:spLocks xmlns:a="http://schemas.openxmlformats.org/drawingml/2006/main" noGrp="1"/>
          </p:cNvSpPr>
          <p:nvPr/>
        </p:nvSpPr>
        <p:spPr>
          <a:xfrm xmlns:a="http://schemas.openxmlformats.org/drawingml/2006/main">
            <a:off x="2238375"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시스템 정보·파일 목록·로컬 검색</a:t>
            </a:r>
          </a:p>
        </p:txBody>
      </p:sp>
      <p:sp>
        <p:nvSpPr>
          <p:cNvPr id="8" name="">
            <a:extLst xmlns:a="http://schemas.openxmlformats.org/drawingml/2006/main">
              <a:ext uri="{FF2B5EF4-FFF2-40B4-BE49-F238E27FC236}">
                <a16:creationId xmlns:a16="http://schemas.microsoft.com/office/drawing/2014/main" id="{945F735C-3728-483C-A8CF-C39BECC66F61}"/>
              </a:ext>
            </a:extLst>
          </p:cNvPr>
          <p:cNvSpPr>
            <a:spLocks xmlns:a="http://schemas.openxmlformats.org/drawingml/2006/main" noGrp="1"/>
          </p:cNvSpPr>
          <p:nvPr/>
        </p:nvSpPr>
        <p:spPr>
          <a:xfrm xmlns:a="http://schemas.openxmlformats.org/drawingml/2006/main">
            <a:off x="7096125" y="1809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정책 통과 후 실행</a:t>
            </a:r>
          </a:p>
        </p:txBody>
      </p:sp>
      <p:sp>
        <p:nvSpPr>
          <p:cNvPr id="9" name="">
            <a:extLst xmlns:a="http://schemas.openxmlformats.org/drawingml/2006/main">
              <a:ext uri="{FF2B5EF4-FFF2-40B4-BE49-F238E27FC236}">
                <a16:creationId xmlns:a16="http://schemas.microsoft.com/office/drawing/2014/main" id="{51124A25-3908-4D13-B6B8-E75A0D0EE1BB}"/>
              </a:ext>
            </a:extLst>
          </p:cNvPr>
          <p:cNvSpPr>
            <a:spLocks xmlns:a="http://schemas.openxmlformats.org/drawingml/2006/main" noGrp="1"/>
          </p:cNvSpPr>
          <p:nvPr/>
        </p:nvSpPr>
        <p:spPr>
          <a:xfrm xmlns:a="http://schemas.openxmlformats.org/drawingml/2006/main">
            <a:off x="685800" y="28575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1C59216F-D4EF-46D0-B3CC-1B393C7CF50D}"/>
              </a:ext>
            </a:extLst>
          </p:cNvPr>
          <p:cNvSpPr>
            <a:spLocks xmlns:a="http://schemas.openxmlformats.org/drawingml/2006/main" noGrp="1"/>
          </p:cNvSpPr>
          <p:nvPr/>
        </p:nvSpPr>
        <p:spPr>
          <a:xfrm xmlns:a="http://schemas.openxmlformats.org/drawingml/2006/main">
            <a:off x="876300" y="3181350"/>
            <a:ext cx="106680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YELLOW</a:t>
            </a:r>
          </a:p>
        </p:txBody>
      </p:sp>
      <p:sp>
        <p:nvSpPr>
          <p:cNvPr id="11" name="">
            <a:extLst xmlns:a="http://schemas.openxmlformats.org/drawingml/2006/main">
              <a:ext uri="{FF2B5EF4-FFF2-40B4-BE49-F238E27FC236}">
                <a16:creationId xmlns:a16="http://schemas.microsoft.com/office/drawing/2014/main" id="{9D6C513D-7801-498B-9E85-ACAA20BE6575}"/>
              </a:ext>
            </a:extLst>
          </p:cNvPr>
          <p:cNvSpPr>
            <a:spLocks xmlns:a="http://schemas.openxmlformats.org/drawingml/2006/main" noGrp="1"/>
          </p:cNvSpPr>
          <p:nvPr/>
        </p:nvSpPr>
        <p:spPr>
          <a:xfrm xmlns:a="http://schemas.openxmlformats.org/drawingml/2006/main">
            <a:off x="2238375" y="30289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중간 위험</a:t>
            </a:r>
          </a:p>
        </p:txBody>
      </p:sp>
      <p:sp>
        <p:nvSpPr>
          <p:cNvPr id="12" name="">
            <a:extLst xmlns:a="http://schemas.openxmlformats.org/drawingml/2006/main">
              <a:ext uri="{FF2B5EF4-FFF2-40B4-BE49-F238E27FC236}">
                <a16:creationId xmlns:a16="http://schemas.microsoft.com/office/drawing/2014/main" id="{2C9B4493-4BD8-4B04-94F1-048A63F55CDA}"/>
              </a:ext>
            </a:extLst>
          </p:cNvPr>
          <p:cNvSpPr>
            <a:spLocks xmlns:a="http://schemas.openxmlformats.org/drawingml/2006/main" noGrp="1"/>
          </p:cNvSpPr>
          <p:nvPr/>
        </p:nvSpPr>
        <p:spPr>
          <a:xfrm xmlns:a="http://schemas.openxmlformats.org/drawingml/2006/main">
            <a:off x="2238375" y="34290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앱 실행·음량 변경·파일 이동</a:t>
            </a:r>
          </a:p>
        </p:txBody>
      </p:sp>
      <p:sp>
        <p:nvSpPr>
          <p:cNvPr id="13" name="">
            <a:extLst xmlns:a="http://schemas.openxmlformats.org/drawingml/2006/main">
              <a:ext uri="{FF2B5EF4-FFF2-40B4-BE49-F238E27FC236}">
                <a16:creationId xmlns:a16="http://schemas.microsoft.com/office/drawing/2014/main" id="{0A9EF4C7-7DEF-4EC0-B8D0-B9E3855ABE39}"/>
              </a:ext>
            </a:extLst>
          </p:cNvPr>
          <p:cNvSpPr>
            <a:spLocks xmlns:a="http://schemas.openxmlformats.org/drawingml/2006/main" noGrp="1"/>
          </p:cNvSpPr>
          <p:nvPr/>
        </p:nvSpPr>
        <p:spPr>
          <a:xfrm xmlns:a="http://schemas.openxmlformats.org/drawingml/2006/main">
            <a:off x="7096125" y="31432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대상 재확인·필요 시 승인</a:t>
            </a:r>
          </a:p>
        </p:txBody>
      </p:sp>
      <p:sp>
        <p:nvSpPr>
          <p:cNvPr id="14" name="">
            <a:extLst xmlns:a="http://schemas.openxmlformats.org/drawingml/2006/main">
              <a:ext uri="{FF2B5EF4-FFF2-40B4-BE49-F238E27FC236}">
                <a16:creationId xmlns:a16="http://schemas.microsoft.com/office/drawing/2014/main" id="{E8F69A16-29D4-4FEF-9F84-10176ABEC10C}"/>
              </a:ext>
            </a:extLst>
          </p:cNvPr>
          <p:cNvSpPr>
            <a:spLocks xmlns:a="http://schemas.openxmlformats.org/drawingml/2006/main" noGrp="1"/>
          </p:cNvSpPr>
          <p:nvPr/>
        </p:nvSpPr>
        <p:spPr>
          <a:xfrm xmlns:a="http://schemas.openxmlformats.org/drawingml/2006/main">
            <a:off x="685800" y="4191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324E3756-31DF-4246-9339-6C07A2BF3E1B}"/>
              </a:ext>
            </a:extLst>
          </p:cNvPr>
          <p:cNvSpPr>
            <a:spLocks xmlns:a="http://schemas.openxmlformats.org/drawingml/2006/main" noGrp="1"/>
          </p:cNvSpPr>
          <p:nvPr/>
        </p:nvSpPr>
        <p:spPr>
          <a:xfrm xmlns:a="http://schemas.openxmlformats.org/drawingml/2006/main">
            <a:off x="876300" y="4514850"/>
            <a:ext cx="106680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RED</a:t>
            </a:r>
          </a:p>
        </p:txBody>
      </p:sp>
      <p:sp>
        <p:nvSpPr>
          <p:cNvPr id="16" name="">
            <a:extLst xmlns:a="http://schemas.openxmlformats.org/drawingml/2006/main">
              <a:ext uri="{FF2B5EF4-FFF2-40B4-BE49-F238E27FC236}">
                <a16:creationId xmlns:a16="http://schemas.microsoft.com/office/drawing/2014/main" id="{4F2EFD97-5DFC-43ED-8767-4B6169E24CE0}"/>
              </a:ext>
            </a:extLst>
          </p:cNvPr>
          <p:cNvSpPr>
            <a:spLocks xmlns:a="http://schemas.openxmlformats.org/drawingml/2006/main" noGrp="1"/>
          </p:cNvSpPr>
          <p:nvPr/>
        </p:nvSpPr>
        <p:spPr>
          <a:xfrm xmlns:a="http://schemas.openxmlformats.org/drawingml/2006/main">
            <a:off x="2238375" y="4362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높은 위험</a:t>
            </a:r>
          </a:p>
        </p:txBody>
      </p:sp>
      <p:sp>
        <p:nvSpPr>
          <p:cNvPr id="17" name="">
            <a:extLst xmlns:a="http://schemas.openxmlformats.org/drawingml/2006/main">
              <a:ext uri="{FF2B5EF4-FFF2-40B4-BE49-F238E27FC236}">
                <a16:creationId xmlns:a16="http://schemas.microsoft.com/office/drawing/2014/main" id="{C25FC007-884D-41E9-AFB1-9E772BCA0266}"/>
              </a:ext>
            </a:extLst>
          </p:cNvPr>
          <p:cNvSpPr>
            <a:spLocks xmlns:a="http://schemas.openxmlformats.org/drawingml/2006/main" noGrp="1"/>
          </p:cNvSpPr>
          <p:nvPr/>
        </p:nvSpPr>
        <p:spPr>
          <a:xfrm xmlns:a="http://schemas.openxmlformats.org/drawingml/2006/main">
            <a:off x="2238375" y="4762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영구 삭제·외부 전송·설치·초기화</a:t>
            </a:r>
          </a:p>
        </p:txBody>
      </p:sp>
      <p:sp>
        <p:nvSpPr>
          <p:cNvPr id="18" name="">
            <a:extLst xmlns:a="http://schemas.openxmlformats.org/drawingml/2006/main">
              <a:ext uri="{FF2B5EF4-FFF2-40B4-BE49-F238E27FC236}">
                <a16:creationId xmlns:a16="http://schemas.microsoft.com/office/drawing/2014/main" id="{6A0CD2AB-BCB3-45A3-9E2C-A38C01966707}"/>
              </a:ext>
            </a:extLst>
          </p:cNvPr>
          <p:cNvSpPr>
            <a:spLocks xmlns:a="http://schemas.openxmlformats.org/drawingml/2006/main" noGrp="1"/>
          </p:cNvSpPr>
          <p:nvPr/>
        </p:nvSpPr>
        <p:spPr>
          <a:xfrm xmlns:a="http://schemas.openxmlformats.org/drawingml/2006/main">
            <a:off x="7096125" y="4476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정확한 행동 승인 + 강한 인증</a:t>
            </a:r>
          </a:p>
        </p:txBody>
      </p:sp>
      <p:sp>
        <p:nvSpPr>
          <p:cNvPr id="19" name="">
            <a:extLst xmlns:a="http://schemas.openxmlformats.org/drawingml/2006/main">
              <a:ext uri="{FF2B5EF4-FFF2-40B4-BE49-F238E27FC236}">
                <a16:creationId xmlns:a16="http://schemas.microsoft.com/office/drawing/2014/main" id="{9BA6B595-ACD1-4865-B889-1582BAC5F78F}"/>
              </a:ext>
            </a:extLst>
          </p:cNvPr>
          <p:cNvSpPr>
            <a:spLocks xmlns:a="http://schemas.openxmlformats.org/drawingml/2006/main" noGrp="1"/>
          </p:cNvSpPr>
          <p:nvPr/>
        </p:nvSpPr>
        <p:spPr>
          <a:xfrm xmlns:a="http://schemas.openxmlformats.org/drawingml/2006/main">
            <a:off x="71437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950" b="1">
                <a:solidFill>
                  <a:srgbClr val="243B64"/>
                </a:solidFill>
                <a:latin typeface="NanumGothic"/>
                <a:ea typeface="NanumGothic"/>
                <a:cs typeface="NanumGothic"/>
              </a:defRPr>
            </a:pPr>
            <a:r>
              <a:rPr sz="1950" b="1">
                <a:solidFill>
                  <a:srgbClr val="243B64"/>
                </a:solidFill>
                <a:latin typeface="NanumGothic"/>
                <a:ea typeface="NanumGothic"/>
                <a:cs typeface="NanumGothic"/>
              </a:rPr>
              <a:t>위험할수록 LLM의 판단이나 음성 확인만으로 실행하지 않는다.</a:t>
            </a:r>
          </a:p>
        </p:txBody>
      </p:sp>
      <p:sp>
        <p:nvSpPr>
          <p:cNvPr id="20" name="">
            <a:extLst xmlns:a="http://schemas.openxmlformats.org/drawingml/2006/main">
              <a:ext uri="{FF2B5EF4-FFF2-40B4-BE49-F238E27FC236}">
                <a16:creationId xmlns:a16="http://schemas.microsoft.com/office/drawing/2014/main" id="{1657A839-32D2-4058-8A87-C0F393343AE9}"/>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안전 근거: OS-Harm은 사용자 오용·프롬프트 주입·모델 오작동을 별도 위험군으로 평가한다.</a:t>
            </a:r>
          </a:p>
        </p:txBody>
      </p:sp>
    </p:spTree>
    <p:extLst>
      <p:ext uri="{BB962C8B-B14F-4D97-AF65-F5344CB8AC3E}">
        <p14:creationId xmlns:p14="http://schemas.microsoft.com/office/powerpoint/2010/main" val="1361293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AB6878-44B2-4A08-AC5C-48EA7C2BC7C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구현 모듈과 책임</a:t>
            </a:r>
          </a:p>
        </p:txBody>
      </p:sp>
      <p:sp>
        <p:nvSpPr>
          <p:cNvPr id="2" name="">
            <a:extLst xmlns:a="http://schemas.openxmlformats.org/drawingml/2006/main">
              <a:ext uri="{FF2B5EF4-FFF2-40B4-BE49-F238E27FC236}">
                <a16:creationId xmlns:a16="http://schemas.microsoft.com/office/drawing/2014/main" id="{83072CB6-43B0-4DAE-98FB-316ADF52B11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07</a:t>
            </a:r>
          </a:p>
        </p:txBody>
      </p:sp>
      <p:sp>
        <p:nvSpPr>
          <p:cNvPr id="3" name="">
            <a:extLst xmlns:a="http://schemas.openxmlformats.org/drawingml/2006/main">
              <a:ext uri="{FF2B5EF4-FFF2-40B4-BE49-F238E27FC236}">
                <a16:creationId xmlns:a16="http://schemas.microsoft.com/office/drawing/2014/main" id="{458D6E7A-1B1C-4CBE-A810-059C57B7BA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1" name=""/>
          <p:cNvGraphicFramePr/>
          <p:nvPr/>
        </p:nvGraphicFramePr>
        <p:xfrm>
          <a:off xmlns:a="http://schemas.openxmlformats.org/drawingml/2006/main" x="590550" y="1238250"/>
          <a:ext xmlns:a="http://schemas.openxmlformats.org/drawingml/2006/main" cx="11010900" cy="4381500"/>
        </p:xfrm>
        <a:graphic xmlns:a="http://schemas.openxmlformats.org/drawingml/2006/main">
          <a:graphicData uri="http://schemas.openxmlformats.org/drawingml/2006/table">
            <a:tbl>
              <a:tblPr/>
              <a:tblGrid>
                <a:gridCol w="2571750"/>
                <a:gridCol w="2667000"/>
                <a:gridCol w="2857500"/>
                <a:gridCol w="2914650"/>
              </a:tblGrid>
              <a:tr h="547688">
                <a:tc>
                  <a:txBody>
                    <a:bodyPr/>
                    <a:lstStyle/>
                    <a:p>
                      <a:r>
                        <a:rPr sz="1200" b="1">
                          <a:solidFill>
                            <a:srgbClr val="FFFFFF"/>
                          </a:solidFill>
                          <a:latin typeface="NanumGothic"/>
                          <a:ea typeface="NanumGothic"/>
                          <a:cs typeface="NanumGothic"/>
                        </a:rPr>
                        <a:t>모듈</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핵심 역할</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입력</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출력</a:t>
                      </a:r>
                    </a:p>
                  </a:txBody>
                  <a:tcPr marL="91440" marR="91440" marT="45720" marB="45720" anchor="ctr">
                    <a:solidFill>
                      <a:srgbClr val="243B64"/>
                    </a:solidFill>
                  </a:tcPr>
                </a:tc>
              </a:tr>
              <a:tr h="547688">
                <a:tc>
                  <a:txBody>
                    <a:bodyPr/>
                    <a:lstStyle/>
                    <a:p>
                      <a:r>
                        <a:rPr sz="1050">
                          <a:solidFill>
                            <a:srgbClr val="172033"/>
                          </a:solidFill>
                          <a:latin typeface="NanumGothic"/>
                          <a:ea typeface="NanumGothic"/>
                          <a:cs typeface="NanumGothic"/>
                        </a:rPr>
                        <a:t>음성 입력</a:t>
                      </a:r>
                    </a:p>
                  </a:txBody>
                  <a:tcPr marL="91440" marR="91440" marT="45720" marB="45720" anchor="ctr"/>
                </a:tc>
                <a:tc>
                  <a:txBody>
                    <a:bodyPr/>
                    <a:lstStyle/>
                    <a:p>
                      <a:r>
                        <a:rPr sz="1050">
                          <a:solidFill>
                            <a:srgbClr val="172033"/>
                          </a:solidFill>
                          <a:latin typeface="NanumGothic"/>
                          <a:ea typeface="NanumGothic"/>
                          <a:cs typeface="NanumGothic"/>
                        </a:rPr>
                        <a:t>호출어·무음·음성 인식</a:t>
                      </a:r>
                    </a:p>
                  </a:txBody>
                  <a:tcPr marL="91440" marR="91440" marT="45720" marB="45720" anchor="ctr"/>
                </a:tc>
                <a:tc>
                  <a:txBody>
                    <a:bodyPr/>
                    <a:lstStyle/>
                    <a:p>
                      <a:r>
                        <a:rPr sz="1050">
                          <a:solidFill>
                            <a:srgbClr val="172033"/>
                          </a:solidFill>
                          <a:latin typeface="NanumGothic"/>
                          <a:ea typeface="NanumGothic"/>
                          <a:cs typeface="NanumGothic"/>
                        </a:rPr>
                        <a:t>마이크 프레임</a:t>
                      </a:r>
                    </a:p>
                  </a:txBody>
                  <a:tcPr marL="91440" marR="91440" marT="45720" marB="45720" anchor="ctr"/>
                </a:tc>
                <a:tc>
                  <a:txBody>
                    <a:bodyPr/>
                    <a:lstStyle/>
                    <a:p>
                      <a:r>
                        <a:rPr sz="1050">
                          <a:solidFill>
                            <a:srgbClr val="172033"/>
                          </a:solidFill>
                          <a:latin typeface="NanumGothic"/>
                          <a:ea typeface="NanumGothic"/>
                          <a:cs typeface="NanumGothic"/>
                        </a:rPr>
                        <a:t>음성 인식 결과</a:t>
                      </a:r>
                    </a:p>
                  </a:txBody>
                  <a:tcPr marL="91440" marR="91440" marT="45720" marB="45720" anchor="ctr"/>
                </a:tc>
              </a:tr>
              <a:tr h="547688">
                <a:tc>
                  <a:txBody>
                    <a:bodyPr/>
                    <a:lstStyle/>
                    <a:p>
                      <a:r>
                        <a:rPr sz="1050">
                          <a:solidFill>
                            <a:srgbClr val="172033"/>
                          </a:solidFill>
                          <a:latin typeface="NanumGothic"/>
                          <a:ea typeface="NanumGothic"/>
                          <a:cs typeface="NanumGothic"/>
                        </a:rPr>
                        <a:t>의도 판별</a:t>
                      </a:r>
                    </a:p>
                  </a:txBody>
                  <a:tcPr marL="91440" marR="91440" marT="45720" marB="45720" anchor="ctr"/>
                </a:tc>
                <a:tc>
                  <a:txBody>
                    <a:bodyPr/>
                    <a:lstStyle/>
                    <a:p>
                      <a:r>
                        <a:rPr sz="1050">
                          <a:solidFill>
                            <a:srgbClr val="172033"/>
                          </a:solidFill>
                          <a:latin typeface="NanumGothic"/>
                          <a:ea typeface="NanumGothic"/>
                          <a:cs typeface="NanumGothic"/>
                        </a:rPr>
                        <a:t>명령·대화·인용·중단 구분</a:t>
                      </a:r>
                    </a:p>
                  </a:txBody>
                  <a:tcPr marL="91440" marR="91440" marT="45720" marB="45720" anchor="ctr"/>
                </a:tc>
                <a:tc>
                  <a:txBody>
                    <a:bodyPr/>
                    <a:lstStyle/>
                    <a:p>
                      <a:r>
                        <a:rPr sz="1050">
                          <a:solidFill>
                            <a:srgbClr val="172033"/>
                          </a:solidFill>
                          <a:latin typeface="NanumGothic"/>
                          <a:ea typeface="NanumGothic"/>
                          <a:cs typeface="NanumGothic"/>
                        </a:rPr>
                        <a:t>문장·신뢰도</a:t>
                      </a:r>
                    </a:p>
                  </a:txBody>
                  <a:tcPr marL="91440" marR="91440" marT="45720" marB="45720" anchor="ctr"/>
                </a:tc>
                <a:tc>
                  <a:txBody>
                    <a:bodyPr/>
                    <a:lstStyle/>
                    <a:p>
                      <a:r>
                        <a:rPr sz="1050">
                          <a:solidFill>
                            <a:srgbClr val="172033"/>
                          </a:solidFill>
                          <a:latin typeface="NanumGothic"/>
                          <a:ea typeface="NanumGothic"/>
                          <a:cs typeface="NanumGothic"/>
                        </a:rPr>
                        <a:t>의도 결정</a:t>
                      </a:r>
                    </a:p>
                  </a:txBody>
                  <a:tcPr marL="91440" marR="91440" marT="45720" marB="45720" anchor="ctr"/>
                </a:tc>
              </a:tr>
              <a:tr h="547688">
                <a:tc>
                  <a:txBody>
                    <a:bodyPr/>
                    <a:lstStyle/>
                    <a:p>
                      <a:r>
                        <a:rPr sz="1050">
                          <a:solidFill>
                            <a:srgbClr val="172033"/>
                          </a:solidFill>
                          <a:latin typeface="NanumGothic"/>
                          <a:ea typeface="NanumGothic"/>
                          <a:cs typeface="NanumGothic"/>
                        </a:rPr>
                        <a:t>상황·기억</a:t>
                      </a:r>
                    </a:p>
                  </a:txBody>
                  <a:tcPr marL="91440" marR="91440" marT="45720" marB="45720" anchor="ctr"/>
                </a:tc>
                <a:tc>
                  <a:txBody>
                    <a:bodyPr/>
                    <a:lstStyle/>
                    <a:p>
                      <a:r>
                        <a:rPr sz="1050">
                          <a:solidFill>
                            <a:srgbClr val="172033"/>
                          </a:solidFill>
                          <a:latin typeface="NanumGothic"/>
                          <a:ea typeface="NanumGothic"/>
                          <a:cs typeface="NanumGothic"/>
                        </a:rPr>
                        <a:t>검증된 앱과 로컬 기억 최소 제공</a:t>
                      </a:r>
                    </a:p>
                  </a:txBody>
                  <a:tcPr marL="91440" marR="91440" marT="45720" marB="45720" anchor="ctr"/>
                </a:tc>
                <a:tc>
                  <a:txBody>
                    <a:bodyPr/>
                    <a:lstStyle/>
                    <a:p>
                      <a:r>
                        <a:rPr sz="1050">
                          <a:solidFill>
                            <a:srgbClr val="172033"/>
                          </a:solidFill>
                          <a:latin typeface="NanumGothic"/>
                          <a:ea typeface="NanumGothic"/>
                          <a:cs typeface="NanumGothic"/>
                        </a:rPr>
                        <a:t>운영체제 상태</a:t>
                      </a:r>
                    </a:p>
                  </a:txBody>
                  <a:tcPr marL="91440" marR="91440" marT="45720" marB="45720" anchor="ctr"/>
                </a:tc>
                <a:tc>
                  <a:txBody>
                    <a:bodyPr/>
                    <a:lstStyle/>
                    <a:p>
                      <a:r>
                        <a:rPr sz="1050">
                          <a:solidFill>
                            <a:srgbClr val="172033"/>
                          </a:solidFill>
                          <a:latin typeface="NanumGothic"/>
                          <a:ea typeface="NanumGothic"/>
                          <a:cs typeface="NanumGothic"/>
                        </a:rPr>
                        <a:t>최소화된 문맥</a:t>
                      </a:r>
                    </a:p>
                  </a:txBody>
                  <a:tcPr marL="91440" marR="91440" marT="45720" marB="45720" anchor="ctr"/>
                </a:tc>
              </a:tr>
              <a:tr h="547688">
                <a:tc>
                  <a:txBody>
                    <a:bodyPr/>
                    <a:lstStyle/>
                    <a:p>
                      <a:r>
                        <a:rPr sz="1050">
                          <a:solidFill>
                            <a:srgbClr val="172033"/>
                          </a:solidFill>
                          <a:latin typeface="NanumGothic"/>
                          <a:ea typeface="NanumGothic"/>
                          <a:cs typeface="NanumGothic"/>
                        </a:rPr>
                        <a:t>계획 생성</a:t>
                      </a:r>
                    </a:p>
                  </a:txBody>
                  <a:tcPr marL="91440" marR="91440" marT="45720" marB="45720" anchor="ctr"/>
                </a:tc>
                <a:tc>
                  <a:txBody>
                    <a:bodyPr/>
                    <a:lstStyle/>
                    <a:p>
                      <a:r>
                        <a:rPr sz="1050">
                          <a:solidFill>
                            <a:srgbClr val="172033"/>
                          </a:solidFill>
                          <a:latin typeface="NanumGothic"/>
                          <a:ea typeface="NanumGothic"/>
                          <a:cs typeface="NanumGothic"/>
                        </a:rPr>
                        <a:t>NIM이 정해진 JSON 계획 제안</a:t>
                      </a:r>
                    </a:p>
                  </a:txBody>
                  <a:tcPr marL="91440" marR="91440" marT="45720" marB="45720" anchor="ctr"/>
                </a:tc>
                <a:tc>
                  <a:txBody>
                    <a:bodyPr/>
                    <a:lstStyle/>
                    <a:p>
                      <a:r>
                        <a:rPr sz="1050">
                          <a:solidFill>
                            <a:srgbClr val="172033"/>
                          </a:solidFill>
                          <a:latin typeface="NanumGothic"/>
                          <a:ea typeface="NanumGothic"/>
                          <a:cs typeface="NanumGothic"/>
                        </a:rPr>
                        <a:t>목표·허용 기능</a:t>
                      </a:r>
                    </a:p>
                  </a:txBody>
                  <a:tcPr marL="91440" marR="91440" marT="45720" marB="45720" anchor="ctr"/>
                </a:tc>
                <a:tc>
                  <a:txBody>
                    <a:bodyPr/>
                    <a:lstStyle/>
                    <a:p>
                      <a:r>
                        <a:rPr sz="1050">
                          <a:solidFill>
                            <a:srgbClr val="172033"/>
                          </a:solidFill>
                          <a:latin typeface="NanumGothic"/>
                          <a:ea typeface="NanumGothic"/>
                          <a:cs typeface="NanumGothic"/>
                        </a:rPr>
                        <a:t>구조화된 계획</a:t>
                      </a:r>
                    </a:p>
                  </a:txBody>
                  <a:tcPr marL="91440" marR="91440" marT="45720" marB="45720" anchor="ctr"/>
                </a:tc>
              </a:tr>
              <a:tr h="547688">
                <a:tc>
                  <a:txBody>
                    <a:bodyPr/>
                    <a:lstStyle/>
                    <a:p>
                      <a:r>
                        <a:rPr sz="1050">
                          <a:solidFill>
                            <a:srgbClr val="172033"/>
                          </a:solidFill>
                          <a:latin typeface="NanumGothic"/>
                          <a:ea typeface="NanumGothic"/>
                          <a:cs typeface="NanumGothic"/>
                        </a:rPr>
                        <a:t>정책·승인</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위험·대상·권한 재검사</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행동·현재 문맥</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허용·승인·차단</a:t>
                      </a:r>
                    </a:p>
                  </a:txBody>
                  <a:tcPr marL="91440" marR="91440" marT="45720" marB="45720" anchor="ctr">
                    <a:solidFill>
                      <a:srgbClr val="FFF6E6"/>
                    </a:solidFill>
                  </a:tcPr>
                </a:tc>
              </a:tr>
              <a:tr h="547688">
                <a:tc>
                  <a:txBody>
                    <a:bodyPr/>
                    <a:lstStyle/>
                    <a:p>
                      <a:r>
                        <a:rPr sz="1050">
                          <a:solidFill>
                            <a:srgbClr val="172033"/>
                          </a:solidFill>
                          <a:latin typeface="NanumGothic"/>
                          <a:ea typeface="NanumGothic"/>
                          <a:cs typeface="NanumGothic"/>
                        </a:rPr>
                        <a:t>실행·검증</a:t>
                      </a:r>
                    </a:p>
                  </a:txBody>
                  <a:tcPr marL="91440" marR="91440" marT="45720" marB="45720" anchor="ctr"/>
                </a:tc>
                <a:tc>
                  <a:txBody>
                    <a:bodyPr/>
                    <a:lstStyle/>
                    <a:p>
                      <a:r>
                        <a:rPr sz="1050">
                          <a:solidFill>
                            <a:srgbClr val="172033"/>
                          </a:solidFill>
                          <a:latin typeface="NanumGothic"/>
                          <a:ea typeface="NanumGothic"/>
                          <a:cs typeface="NanumGothic"/>
                        </a:rPr>
                        <a:t>Windows 실행 후 독립 재확인</a:t>
                      </a:r>
                    </a:p>
                  </a:txBody>
                  <a:tcPr marL="91440" marR="91440" marT="45720" marB="45720" anchor="ctr"/>
                </a:tc>
                <a:tc>
                  <a:txBody>
                    <a:bodyPr/>
                    <a:lstStyle/>
                    <a:p>
                      <a:r>
                        <a:rPr sz="1050">
                          <a:solidFill>
                            <a:srgbClr val="172033"/>
                          </a:solidFill>
                          <a:latin typeface="NanumGothic"/>
                          <a:ea typeface="NanumGothic"/>
                          <a:cs typeface="NanumGothic"/>
                        </a:rPr>
                        <a:t>승인된 행동</a:t>
                      </a:r>
                    </a:p>
                  </a:txBody>
                  <a:tcPr marL="91440" marR="91440" marT="45720" marB="45720" anchor="ctr"/>
                </a:tc>
                <a:tc>
                  <a:txBody>
                    <a:bodyPr/>
                    <a:lstStyle/>
                    <a:p>
                      <a:r>
                        <a:rPr sz="1050">
                          <a:solidFill>
                            <a:srgbClr val="172033"/>
                          </a:solidFill>
                          <a:latin typeface="NanumGothic"/>
                          <a:ea typeface="NanumGothic"/>
                          <a:cs typeface="NanumGothic"/>
                        </a:rPr>
                        <a:t>검증 결과</a:t>
                      </a:r>
                    </a:p>
                  </a:txBody>
                  <a:tcPr marL="91440" marR="91440" marT="45720" marB="45720" anchor="ctr"/>
                </a:tc>
              </a:tr>
              <a:tr h="547688">
                <a:tc>
                  <a:txBody>
                    <a:bodyPr/>
                    <a:lstStyle/>
                    <a:p>
                      <a:r>
                        <a:rPr sz="1050">
                          <a:solidFill>
                            <a:srgbClr val="172033"/>
                          </a:solidFill>
                          <a:latin typeface="NanumGothic"/>
                          <a:ea typeface="NanumGothic"/>
                          <a:cs typeface="NanumGothic"/>
                        </a:rPr>
                        <a:t>감사·중단</a:t>
                      </a:r>
                    </a:p>
                  </a:txBody>
                  <a:tcPr marL="91440" marR="91440" marT="45720" marB="45720" anchor="ctr"/>
                </a:tc>
                <a:tc>
                  <a:txBody>
                    <a:bodyPr/>
                    <a:lstStyle/>
                    <a:p>
                      <a:r>
                        <a:rPr sz="1050">
                          <a:solidFill>
                            <a:srgbClr val="172033"/>
                          </a:solidFill>
                          <a:latin typeface="NanumGothic"/>
                          <a:ea typeface="NanumGothic"/>
                          <a:cs typeface="NanumGothic"/>
                        </a:rPr>
                        <a:t>비밀 제거 로그와 즉시 STOP</a:t>
                      </a:r>
                    </a:p>
                  </a:txBody>
                  <a:tcPr marL="91440" marR="91440" marT="45720" marB="45720" anchor="ctr"/>
                </a:tc>
                <a:tc>
                  <a:txBody>
                    <a:bodyPr/>
                    <a:lstStyle/>
                    <a:p>
                      <a:r>
                        <a:rPr sz="1050">
                          <a:solidFill>
                            <a:srgbClr val="172033"/>
                          </a:solidFill>
                          <a:latin typeface="NanumGothic"/>
                          <a:ea typeface="NanumGothic"/>
                          <a:cs typeface="NanumGothic"/>
                        </a:rPr>
                        <a:t>실행 사건</a:t>
                      </a:r>
                    </a:p>
                  </a:txBody>
                  <a:tcPr marL="91440" marR="91440" marT="45720" marB="45720" anchor="ctr"/>
                </a:tc>
                <a:tc>
                  <a:txBody>
                    <a:bodyPr/>
                    <a:lstStyle/>
                    <a:p>
                      <a:r>
                        <a:rPr sz="1050">
                          <a:solidFill>
                            <a:srgbClr val="172033"/>
                          </a:solidFill>
                          <a:latin typeface="NanumGothic"/>
                          <a:ea typeface="NanumGothic"/>
                          <a:cs typeface="NanumGothic"/>
                        </a:rPr>
                        <a:t>상태·감사 기록</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58435970-024C-49D9-9246-2597944D2B42}"/>
              </a:ext>
            </a:extLst>
          </p:cNvPr>
          <p:cNvSpPr>
            <a:spLocks xmlns:a="http://schemas.openxmlformats.org/drawingml/2006/main" noGrp="1"/>
          </p:cNvSpPr>
          <p:nvPr/>
        </p:nvSpPr>
        <p:spPr>
          <a:xfrm xmlns:a="http://schemas.openxmlformats.org/drawingml/2006/main">
            <a:off x="64770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모델은 계획을 제안하고, 권한·실행·완료 판정은 별도 모듈이 담당한다.</a:t>
            </a:r>
          </a:p>
        </p:txBody>
      </p:sp>
    </p:spTree>
    <p:extLst>
      <p:ext uri="{BB962C8B-B14F-4D97-AF65-F5344CB8AC3E}">
        <p14:creationId xmlns:p14="http://schemas.microsoft.com/office/powerpoint/2010/main" val="370693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6B8A49-781D-4445-99A8-6E3D4C6D986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논문 실험 설계</a:t>
            </a:r>
          </a:p>
        </p:txBody>
      </p:sp>
      <p:sp>
        <p:nvSpPr>
          <p:cNvPr id="2" name="">
            <a:extLst xmlns:a="http://schemas.openxmlformats.org/drawingml/2006/main">
              <a:ext uri="{FF2B5EF4-FFF2-40B4-BE49-F238E27FC236}">
                <a16:creationId xmlns:a16="http://schemas.microsoft.com/office/drawing/2014/main" id="{34B1A5F4-F93B-4780-993D-AD64B16AA2E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08</a:t>
            </a:r>
          </a:p>
        </p:txBody>
      </p:sp>
      <p:sp>
        <p:nvSpPr>
          <p:cNvPr id="3" name="">
            <a:extLst xmlns:a="http://schemas.openxmlformats.org/drawingml/2006/main">
              <a:ext uri="{FF2B5EF4-FFF2-40B4-BE49-F238E27FC236}">
                <a16:creationId xmlns:a16="http://schemas.microsoft.com/office/drawing/2014/main" id="{8E8AF8C5-11FA-41A1-9826-6BB07C28C5E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8EC0508-7F6C-4578-A365-6A78D6CE6298}"/>
              </a:ext>
            </a:extLst>
          </p:cNvPr>
          <p:cNvSpPr>
            <a:spLocks xmlns:a="http://schemas.openxmlformats.org/drawingml/2006/main" noGrp="1"/>
          </p:cNvSpPr>
          <p:nvPr/>
        </p:nvSpPr>
        <p:spPr>
          <a:xfrm xmlns:a="http://schemas.openxmlformats.org/drawingml/2006/main">
            <a:off x="685800" y="12954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실험 설계</a:t>
            </a:r>
          </a:p>
        </p:txBody>
      </p:sp>
      <p:graphicFrame>
        <p:nvGraphicFramePr>
          <p:cNvPr id="33" name=""/>
          <p:cNvGraphicFramePr/>
          <p:nvPr/>
        </p:nvGraphicFramePr>
        <p:xfrm>
          <a:off xmlns:a="http://schemas.openxmlformats.org/drawingml/2006/main" x="685800" y="1714500"/>
          <a:ext xmlns:a="http://schemas.openxmlformats.org/drawingml/2006/main" cx="6667500" cy="2571750"/>
        </p:xfrm>
        <a:graphic xmlns:a="http://schemas.openxmlformats.org/drawingml/2006/main">
          <a:graphicData uri="http://schemas.openxmlformats.org/drawingml/2006/table">
            <a:tbl>
              <a:tblPr/>
              <a:tblGrid>
                <a:gridCol w="2222500"/>
                <a:gridCol w="2222500"/>
                <a:gridCol w="2222500"/>
              </a:tblGrid>
              <a:tr h="642938">
                <a:tc>
                  <a:txBody>
                    <a:bodyPr/>
                    <a:lstStyle/>
                    <a:p>
                      <a:r>
                        <a:rPr sz="1200" b="1">
                          <a:solidFill>
                            <a:srgbClr val="FFFFFF"/>
                          </a:solidFill>
                          <a:latin typeface="NanumGothic"/>
                          <a:ea typeface="NanumGothic"/>
                          <a:cs typeface="NanumGothic"/>
                        </a:rPr>
                        <a:t>실험군</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구성</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측정</a:t>
                      </a:r>
                    </a:p>
                  </a:txBody>
                  <a:tcPr marL="91440" marR="91440" marT="45720" marB="45720" anchor="ctr">
                    <a:solidFill>
                      <a:srgbClr val="243B64"/>
                    </a:solidFill>
                  </a:tcPr>
                </a:tc>
              </a:tr>
              <a:tr h="642938">
                <a:tc>
                  <a:txBody>
                    <a:bodyPr/>
                    <a:lstStyle/>
                    <a:p>
                      <a:r>
                        <a:rPr sz="1125">
                          <a:solidFill>
                            <a:srgbClr val="172033"/>
                          </a:solidFill>
                          <a:latin typeface="NanumGothic"/>
                          <a:ea typeface="NanumGothic"/>
                          <a:cs typeface="NanumGothic"/>
                        </a:rPr>
                        <a:t>A</a:t>
                      </a:r>
                    </a:p>
                  </a:txBody>
                  <a:tcPr marL="91440" marR="91440" marT="45720" marB="45720" anchor="ctr"/>
                </a:tc>
                <a:tc>
                  <a:txBody>
                    <a:bodyPr/>
                    <a:lstStyle/>
                    <a:p>
                      <a:r>
                        <a:rPr sz="1125">
                          <a:solidFill>
                            <a:srgbClr val="172033"/>
                          </a:solidFill>
                          <a:latin typeface="NanumGothic"/>
                          <a:ea typeface="NanumGothic"/>
                          <a:cs typeface="NanumGothic"/>
                        </a:rPr>
                        <a:t>STT 후 즉시 실행</a:t>
                      </a:r>
                    </a:p>
                  </a:txBody>
                  <a:tcPr marL="91440" marR="91440" marT="45720" marB="45720" anchor="ctr"/>
                </a:tc>
                <a:tc>
                  <a:txBody>
                    <a:bodyPr/>
                    <a:lstStyle/>
                    <a:p>
                      <a:r>
                        <a:rPr sz="1125">
                          <a:solidFill>
                            <a:srgbClr val="172033"/>
                          </a:solidFill>
                          <a:latin typeface="NanumGothic"/>
                          <a:ea typeface="NanumGothic"/>
                          <a:cs typeface="NanumGothic"/>
                        </a:rPr>
                        <a:t>오실행률</a:t>
                      </a:r>
                    </a:p>
                  </a:txBody>
                  <a:tcPr marL="91440" marR="91440" marT="45720" marB="45720" anchor="ctr"/>
                </a:tc>
              </a:tr>
              <a:tr h="642938">
                <a:tc>
                  <a:txBody>
                    <a:bodyPr/>
                    <a:lstStyle/>
                    <a:p>
                      <a:r>
                        <a:rPr sz="1125">
                          <a:solidFill>
                            <a:srgbClr val="172033"/>
                          </a:solidFill>
                          <a:latin typeface="NanumGothic"/>
                          <a:ea typeface="NanumGothic"/>
                          <a:cs typeface="NanumGothic"/>
                        </a:rPr>
                        <a:t>B</a:t>
                      </a:r>
                    </a:p>
                  </a:txBody>
                  <a:tcPr marL="91440" marR="91440" marT="45720" marB="45720" anchor="ctr"/>
                </a:tc>
                <a:tc>
                  <a:txBody>
                    <a:bodyPr/>
                    <a:lstStyle/>
                    <a:p>
                      <a:r>
                        <a:rPr sz="1125">
                          <a:solidFill>
                            <a:srgbClr val="172033"/>
                          </a:solidFill>
                          <a:latin typeface="NanumGothic"/>
                          <a:ea typeface="NanumGothic"/>
                          <a:cs typeface="NanumGothic"/>
                        </a:rPr>
                        <a:t>Intent 판별 추가</a:t>
                      </a:r>
                    </a:p>
                  </a:txBody>
                  <a:tcPr marL="91440" marR="91440" marT="45720" marB="45720" anchor="ctr"/>
                </a:tc>
                <a:tc>
                  <a:txBody>
                    <a:bodyPr/>
                    <a:lstStyle/>
                    <a:p>
                      <a:r>
                        <a:rPr sz="1125">
                          <a:solidFill>
                            <a:srgbClr val="172033"/>
                          </a:solidFill>
                          <a:latin typeface="NanumGothic"/>
                          <a:ea typeface="NanumGothic"/>
                          <a:cs typeface="NanumGothic"/>
                        </a:rPr>
                        <a:t>명령 판별 F1</a:t>
                      </a:r>
                    </a:p>
                  </a:txBody>
                  <a:tcPr marL="91440" marR="91440" marT="45720" marB="45720" anchor="ctr"/>
                </a:tc>
              </a:tr>
              <a:tr h="642938">
                <a:tc>
                  <a:txBody>
                    <a:bodyPr/>
                    <a:lstStyle/>
                    <a:p>
                      <a:r>
                        <a:rPr sz="1125">
                          <a:solidFill>
                            <a:srgbClr val="172033"/>
                          </a:solidFill>
                          <a:latin typeface="NanumGothic"/>
                          <a:ea typeface="NanumGothic"/>
                          <a:cs typeface="NanumGothic"/>
                        </a:rPr>
                        <a:t>C</a:t>
                      </a:r>
                    </a:p>
                  </a:txBody>
                  <a:tcPr marL="91440" marR="91440" marT="45720" marB="45720" anchor="ctr"/>
                </a:tc>
                <a:tc>
                  <a:txBody>
                    <a:bodyPr/>
                    <a:lstStyle/>
                    <a:p>
                      <a:r>
                        <a:rPr sz="1125">
                          <a:solidFill>
                            <a:srgbClr val="172033"/>
                          </a:solidFill>
                          <a:latin typeface="NanumGothic"/>
                          <a:ea typeface="NanumGothic"/>
                          <a:cs typeface="NanumGothic"/>
                        </a:rPr>
                        <a:t>Intent + Risk + 승인</a:t>
                      </a:r>
                    </a:p>
                  </a:txBody>
                  <a:tcPr marL="91440" marR="91440" marT="45720" marB="45720" anchor="ctr"/>
                </a:tc>
                <a:tc>
                  <a:txBody>
                    <a:bodyPr/>
                    <a:lstStyle/>
                    <a:p>
                      <a:r>
                        <a:rPr sz="1125">
                          <a:solidFill>
                            <a:srgbClr val="172033"/>
                          </a:solidFill>
                          <a:latin typeface="NanumGothic"/>
                          <a:ea typeface="NanumGothic"/>
                          <a:cs typeface="NanumGothic"/>
                        </a:rPr>
                        <a:t>위험 작업 차단률</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C879B6F6-DA54-4984-8DC9-773037D7BA44}"/>
              </a:ext>
            </a:extLst>
          </p:cNvPr>
          <p:cNvSpPr>
            <a:spLocks xmlns:a="http://schemas.openxmlformats.org/drawingml/2006/main" noGrp="1"/>
          </p:cNvSpPr>
          <p:nvPr/>
        </p:nvSpPr>
        <p:spPr>
          <a:xfrm xmlns:a="http://schemas.openxmlformats.org/drawingml/2006/main">
            <a:off x="685800" y="45720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657187"/>
                </a:solidFill>
                <a:latin typeface="NanumGothic"/>
                <a:ea typeface="NanumGothic"/>
                <a:cs typeface="NanumGothic"/>
              </a:defRPr>
            </a:pPr>
            <a:r>
              <a:rPr sz="1500" b="1">
                <a:solidFill>
                  <a:srgbClr val="657187"/>
                </a:solidFill>
                <a:latin typeface="NanumGothic"/>
                <a:ea typeface="NanumGothic"/>
                <a:cs typeface="NanumGothic"/>
              </a:rPr>
              <a:t>추가 지표</a:t>
            </a:r>
          </a:p>
        </p:txBody>
      </p:sp>
      <p:sp>
        <p:nvSpPr>
          <p:cNvPr id="7" name="">
            <a:extLst xmlns:a="http://schemas.openxmlformats.org/drawingml/2006/main">
              <a:ext uri="{FF2B5EF4-FFF2-40B4-BE49-F238E27FC236}">
                <a16:creationId xmlns:a16="http://schemas.microsoft.com/office/drawing/2014/main" id="{5E5A1DA9-396C-4C7D-B15D-D47A1CD12183}"/>
              </a:ext>
            </a:extLst>
          </p:cNvPr>
          <p:cNvSpPr>
            <a:spLocks xmlns:a="http://schemas.openxmlformats.org/drawingml/2006/main" noGrp="1"/>
          </p:cNvSpPr>
          <p:nvPr/>
        </p:nvSpPr>
        <p:spPr>
          <a:xfrm xmlns:a="http://schemas.openxmlformats.org/drawingml/2006/main">
            <a:off x="685800" y="4953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75" b="1">
                <a:solidFill>
                  <a:srgbClr val="172033"/>
                </a:solidFill>
                <a:latin typeface="NanumGothic"/>
                <a:ea typeface="NanumGothic"/>
                <a:cs typeface="NanumGothic"/>
              </a:defRPr>
            </a:pPr>
            <a:r>
              <a:rPr sz="1575" b="1">
                <a:solidFill>
                  <a:srgbClr val="172033"/>
                </a:solidFill>
                <a:latin typeface="NanumGothic"/>
                <a:ea typeface="NanumGothic"/>
                <a:cs typeface="NanumGothic"/>
              </a:rPr>
              <a:t>작업 성공률 · 사용자 개입 횟수 · 완료 시간 · 복구 성공률</a:t>
            </a:r>
          </a:p>
        </p:txBody>
      </p:sp>
      <p:sp>
        <p:nvSpPr>
          <p:cNvPr id="8" name="">
            <a:extLst xmlns:a="http://schemas.openxmlformats.org/drawingml/2006/main">
              <a:ext uri="{FF2B5EF4-FFF2-40B4-BE49-F238E27FC236}">
                <a16:creationId xmlns:a16="http://schemas.microsoft.com/office/drawing/2014/main" id="{8F514FBC-D4A1-475C-AEE8-29C7E058E7A4}"/>
              </a:ext>
            </a:extLst>
          </p:cNvPr>
          <p:cNvSpPr>
            <a:spLocks xmlns:a="http://schemas.openxmlformats.org/drawingml/2006/main" noGrp="1"/>
          </p:cNvSpPr>
          <p:nvPr/>
        </p:nvSpPr>
        <p:spPr>
          <a:xfrm xmlns:a="http://schemas.openxmlformats.org/drawingml/2006/main">
            <a:off x="8096250" y="12954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2FA36B"/>
                </a:solidFill>
                <a:latin typeface="NanumGothic"/>
                <a:ea typeface="NanumGothic"/>
                <a:cs typeface="NanumGothic"/>
              </a:defRPr>
            </a:pPr>
            <a:r>
              <a:rPr sz="1650" b="1">
                <a:solidFill>
                  <a:srgbClr val="2FA36B"/>
                </a:solidFill>
                <a:latin typeface="NanumGothic"/>
                <a:ea typeface="NanumGothic"/>
                <a:cs typeface="NanumGothic"/>
              </a:rPr>
              <a:t>16주 구현</a:t>
            </a:r>
          </a:p>
        </p:txBody>
      </p:sp>
      <p:sp>
        <p:nvSpPr>
          <p:cNvPr id="9" name="">
            <a:extLst xmlns:a="http://schemas.openxmlformats.org/drawingml/2006/main">
              <a:ext uri="{FF2B5EF4-FFF2-40B4-BE49-F238E27FC236}">
                <a16:creationId xmlns:a16="http://schemas.microsoft.com/office/drawing/2014/main" id="{080892FF-3743-43D6-AD76-7F0862A4D36F}"/>
              </a:ext>
            </a:extLst>
          </p:cNvPr>
          <p:cNvSpPr>
            <a:spLocks xmlns:a="http://schemas.openxmlformats.org/drawingml/2006/main" noGrp="1"/>
          </p:cNvSpPr>
          <p:nvPr/>
        </p:nvSpPr>
        <p:spPr>
          <a:xfrm xmlns:a="http://schemas.openxmlformats.org/drawingml/2006/main">
            <a:off x="8096250" y="18097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1–3주</a:t>
            </a:r>
          </a:p>
        </p:txBody>
      </p:sp>
      <p:sp>
        <p:nvSpPr>
          <p:cNvPr id="10" name="">
            <a:extLst xmlns:a="http://schemas.openxmlformats.org/drawingml/2006/main">
              <a:ext uri="{FF2B5EF4-FFF2-40B4-BE49-F238E27FC236}">
                <a16:creationId xmlns:a16="http://schemas.microsoft.com/office/drawing/2014/main" id="{C6F3EAAD-D672-4395-AF0B-18FA75A5CD50}"/>
              </a:ext>
            </a:extLst>
          </p:cNvPr>
          <p:cNvSpPr>
            <a:spLocks xmlns:a="http://schemas.openxmlformats.org/drawingml/2006/main" noGrp="1"/>
          </p:cNvSpPr>
          <p:nvPr/>
        </p:nvSpPr>
        <p:spPr>
          <a:xfrm xmlns:a="http://schemas.openxmlformats.org/drawingml/2006/main">
            <a:off x="9334500" y="17907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음성·명령 판별</a:t>
            </a:r>
          </a:p>
        </p:txBody>
      </p:sp>
      <p:sp>
        <p:nvSpPr>
          <p:cNvPr id="11" name="">
            <a:extLst xmlns:a="http://schemas.openxmlformats.org/drawingml/2006/main">
              <a:ext uri="{FF2B5EF4-FFF2-40B4-BE49-F238E27FC236}">
                <a16:creationId xmlns:a16="http://schemas.microsoft.com/office/drawing/2014/main" id="{15522625-88CF-4130-9913-1FFFA751AA67}"/>
              </a:ext>
            </a:extLst>
          </p:cNvPr>
          <p:cNvSpPr>
            <a:spLocks xmlns:a="http://schemas.openxmlformats.org/drawingml/2006/main" noGrp="1"/>
          </p:cNvSpPr>
          <p:nvPr/>
        </p:nvSpPr>
        <p:spPr>
          <a:xfrm xmlns:a="http://schemas.openxmlformats.org/drawingml/2006/main">
            <a:off x="8096250" y="25527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4–7주</a:t>
            </a:r>
          </a:p>
        </p:txBody>
      </p:sp>
      <p:sp>
        <p:nvSpPr>
          <p:cNvPr id="12" name="">
            <a:extLst xmlns:a="http://schemas.openxmlformats.org/drawingml/2006/main">
              <a:ext uri="{FF2B5EF4-FFF2-40B4-BE49-F238E27FC236}">
                <a16:creationId xmlns:a16="http://schemas.microsoft.com/office/drawing/2014/main" id="{45B6DC60-A3EB-4F2C-B7E0-604CEEAA179C}"/>
              </a:ext>
            </a:extLst>
          </p:cNvPr>
          <p:cNvSpPr>
            <a:spLocks xmlns:a="http://schemas.openxmlformats.org/drawingml/2006/main" noGrp="1"/>
          </p:cNvSpPr>
          <p:nvPr/>
        </p:nvSpPr>
        <p:spPr>
          <a:xfrm xmlns:a="http://schemas.openxmlformats.org/drawingml/2006/main">
            <a:off x="9334500" y="25336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실행기·기본 앱</a:t>
            </a:r>
          </a:p>
        </p:txBody>
      </p:sp>
      <p:sp>
        <p:nvSpPr>
          <p:cNvPr id="13" name="">
            <a:extLst xmlns:a="http://schemas.openxmlformats.org/drawingml/2006/main">
              <a:ext uri="{FF2B5EF4-FFF2-40B4-BE49-F238E27FC236}">
                <a16:creationId xmlns:a16="http://schemas.microsoft.com/office/drawing/2014/main" id="{6A685F08-CFB0-4D34-ACC4-CC74992604F9}"/>
              </a:ext>
            </a:extLst>
          </p:cNvPr>
          <p:cNvSpPr>
            <a:spLocks xmlns:a="http://schemas.openxmlformats.org/drawingml/2006/main" noGrp="1"/>
          </p:cNvSpPr>
          <p:nvPr/>
        </p:nvSpPr>
        <p:spPr>
          <a:xfrm xmlns:a="http://schemas.openxmlformats.org/drawingml/2006/main">
            <a:off x="8096250" y="32956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8–11주</a:t>
            </a:r>
          </a:p>
        </p:txBody>
      </p:sp>
      <p:sp>
        <p:nvSpPr>
          <p:cNvPr id="14" name="">
            <a:extLst xmlns:a="http://schemas.openxmlformats.org/drawingml/2006/main">
              <a:ext uri="{FF2B5EF4-FFF2-40B4-BE49-F238E27FC236}">
                <a16:creationId xmlns:a16="http://schemas.microsoft.com/office/drawing/2014/main" id="{C22EF5E5-67DA-4A20-B3EA-8BA2CEF308CF}"/>
              </a:ext>
            </a:extLst>
          </p:cNvPr>
          <p:cNvSpPr>
            <a:spLocks xmlns:a="http://schemas.openxmlformats.org/drawingml/2006/main" noGrp="1"/>
          </p:cNvSpPr>
          <p:nvPr/>
        </p:nvSpPr>
        <p:spPr>
          <a:xfrm xmlns:a="http://schemas.openxmlformats.org/drawingml/2006/main">
            <a:off x="9334500" y="3276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위험 정책·승인 UI</a:t>
            </a:r>
          </a:p>
        </p:txBody>
      </p:sp>
      <p:sp>
        <p:nvSpPr>
          <p:cNvPr id="15" name="">
            <a:extLst xmlns:a="http://schemas.openxmlformats.org/drawingml/2006/main">
              <a:ext uri="{FF2B5EF4-FFF2-40B4-BE49-F238E27FC236}">
                <a16:creationId xmlns:a16="http://schemas.microsoft.com/office/drawing/2014/main" id="{F44EB899-5C52-45E7-99EC-A9A9FEBFB94C}"/>
              </a:ext>
            </a:extLst>
          </p:cNvPr>
          <p:cNvSpPr>
            <a:spLocks xmlns:a="http://schemas.openxmlformats.org/drawingml/2006/main" noGrp="1"/>
          </p:cNvSpPr>
          <p:nvPr/>
        </p:nvSpPr>
        <p:spPr>
          <a:xfrm xmlns:a="http://schemas.openxmlformats.org/drawingml/2006/main">
            <a:off x="8096250" y="40386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12–14주</a:t>
            </a:r>
          </a:p>
        </p:txBody>
      </p:sp>
      <p:sp>
        <p:nvSpPr>
          <p:cNvPr id="16" name="">
            <a:extLst xmlns:a="http://schemas.openxmlformats.org/drawingml/2006/main">
              <a:ext uri="{FF2B5EF4-FFF2-40B4-BE49-F238E27FC236}">
                <a16:creationId xmlns:a16="http://schemas.microsoft.com/office/drawing/2014/main" id="{11FAB673-2B91-43F6-A388-C06CFA4E20F4}"/>
              </a:ext>
            </a:extLst>
          </p:cNvPr>
          <p:cNvSpPr>
            <a:spLocks xmlns:a="http://schemas.openxmlformats.org/drawingml/2006/main" noGrp="1"/>
          </p:cNvSpPr>
          <p:nvPr/>
        </p:nvSpPr>
        <p:spPr>
          <a:xfrm xmlns:a="http://schemas.openxmlformats.org/drawingml/2006/main">
            <a:off x="9334500" y="4019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검증·재계획</a:t>
            </a:r>
          </a:p>
        </p:txBody>
      </p:sp>
      <p:sp>
        <p:nvSpPr>
          <p:cNvPr id="17" name="">
            <a:extLst xmlns:a="http://schemas.openxmlformats.org/drawingml/2006/main">
              <a:ext uri="{FF2B5EF4-FFF2-40B4-BE49-F238E27FC236}">
                <a16:creationId xmlns:a16="http://schemas.microsoft.com/office/drawing/2014/main" id="{8A736416-6E7D-478D-9C58-E0440BAF2098}"/>
              </a:ext>
            </a:extLst>
          </p:cNvPr>
          <p:cNvSpPr>
            <a:spLocks xmlns:a="http://schemas.openxmlformats.org/drawingml/2006/main" noGrp="1"/>
          </p:cNvSpPr>
          <p:nvPr/>
        </p:nvSpPr>
        <p:spPr>
          <a:xfrm xmlns:a="http://schemas.openxmlformats.org/drawingml/2006/main">
            <a:off x="8096250" y="4781550"/>
            <a:ext cx="1000125"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15–16주</a:t>
            </a:r>
          </a:p>
        </p:txBody>
      </p:sp>
      <p:sp>
        <p:nvSpPr>
          <p:cNvPr id="18" name="">
            <a:extLst xmlns:a="http://schemas.openxmlformats.org/drawingml/2006/main">
              <a:ext uri="{FF2B5EF4-FFF2-40B4-BE49-F238E27FC236}">
                <a16:creationId xmlns:a16="http://schemas.microsoft.com/office/drawing/2014/main" id="{1747B93A-0C15-45B8-B5F1-383CD56F14F6}"/>
              </a:ext>
            </a:extLst>
          </p:cNvPr>
          <p:cNvSpPr>
            <a:spLocks xmlns:a="http://schemas.openxmlformats.org/drawingml/2006/main" noGrp="1"/>
          </p:cNvSpPr>
          <p:nvPr/>
        </p:nvSpPr>
        <p:spPr>
          <a:xfrm xmlns:a="http://schemas.openxmlformats.org/drawingml/2006/main">
            <a:off x="9334500" y="47625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실험·발표</a:t>
            </a:r>
          </a:p>
        </p:txBody>
      </p:sp>
      <p:sp>
        <p:nvSpPr>
          <p:cNvPr id="19" name="">
            <a:extLst xmlns:a="http://schemas.openxmlformats.org/drawingml/2006/main">
              <a:ext uri="{FF2B5EF4-FFF2-40B4-BE49-F238E27FC236}">
                <a16:creationId xmlns:a16="http://schemas.microsoft.com/office/drawing/2014/main" id="{9EF6F402-4461-40E0-8162-1148E4D7A9AE}"/>
              </a:ext>
            </a:extLst>
          </p:cNvPr>
          <p:cNvSpPr>
            <a:spLocks xmlns:a="http://schemas.openxmlformats.org/drawingml/2006/main" noGrp="1"/>
          </p:cNvSpPr>
          <p:nvPr/>
        </p:nvSpPr>
        <p:spPr>
          <a:xfrm xmlns:a="http://schemas.openxmlformats.org/drawingml/2006/main">
            <a:off x="7048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425" b="1">
                <a:solidFill>
                  <a:srgbClr val="D95050"/>
                </a:solidFill>
                <a:latin typeface="NanumGothic"/>
                <a:ea typeface="NanumGothic"/>
                <a:cs typeface="NanumGothic"/>
              </a:defRPr>
            </a:pPr>
            <a:r>
              <a:rPr sz="1425" b="1">
                <a:solidFill>
                  <a:srgbClr val="D95050"/>
                </a:solidFill>
                <a:latin typeface="NanumGothic"/>
                <a:ea typeface="NanumGothic"/>
                <a:cs typeface="NanumGothic"/>
              </a:rPr>
              <a:t>v1 범위: 앱 실행·파일 탐색/이동·브라우저·메모장·설정·종료, 위험 작업은 모의 실행</a:t>
            </a:r>
          </a:p>
        </p:txBody>
      </p:sp>
      <p:sp>
        <p:nvSpPr>
          <p:cNvPr id="22" name="">
            <a:extLst xmlns:a="http://schemas.openxmlformats.org/drawingml/2006/main">
              <a:ext uri="{FF2B5EF4-FFF2-40B4-BE49-F238E27FC236}">
                <a16:creationId xmlns:a16="http://schemas.microsoft.com/office/drawing/2014/main" id="{BD8D08CD-FD28-4249-A08A-ECCDFF338F3A}"/>
              </a:ext>
            </a:extLst>
          </p:cNvPr>
          <p:cNvSpPr>
            <a:spLocks xmlns:a="http://schemas.openxmlformats.org/drawingml/2006/main" noGrp="1"/>
          </p:cNvSpPr>
          <p:nvPr/>
        </p:nvSpPr>
        <p:spPr>
          <a:xfrm xmlns:a="http://schemas.openxmlformats.org/drawingml/2006/main">
            <a:off x="476250" y="1066800"/>
            <a:ext cx="11239500" cy="523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57A95DF-24DD-474A-9837-67F89AC62C8B}"/>
              </a:ext>
            </a:extLst>
          </p:cNvPr>
          <p:cNvSpPr>
            <a:spLocks xmlns:a="http://schemas.openxmlformats.org/drawingml/2006/main" noGrp="1"/>
          </p:cNvSpPr>
          <p:nvPr/>
        </p:nvSpPr>
        <p:spPr>
          <a:xfrm xmlns:a="http://schemas.openxmlformats.org/drawingml/2006/main">
            <a:off x="685800" y="1257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같은 NIM 모델과 같은 작업에서 실행 하네스만 바꿔 비교한다</a:t>
            </a:r>
          </a:p>
        </p:txBody>
      </p:sp>
      <p:graphicFrame>
        <p:nvGraphicFramePr>
          <p:cNvPr id="5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143000"/>
                <a:gridCol w="3048000"/>
                <a:gridCol w="3619500"/>
                <a:gridCol w="3009900"/>
              </a:tblGrid>
              <a:tr h="571500">
                <a:tc>
                  <a:txBody>
                    <a:bodyPr>
                      <a:normAutofit/>
                    </a:bodyPr>
                    <a:lstStyle/>
                    <a:p>
                      <a:r>
                        <a:rPr sz="1125" b="1">
                          <a:solidFill>
                            <a:srgbClr val="FFFFFF"/>
                          </a:solidFill>
                          <a:latin typeface="NanumGothic"/>
                          <a:ea typeface="NanumGothic"/>
                          <a:cs typeface="NanumGothic"/>
                        </a:rPr>
                        <a:t>조건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들어 있는 제어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확인하려는 효과</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예상되는 비용</a:t>
                      </a:r>
                    </a:p>
                  </a:txBody>
                  <a:tcPr marL="91440" marR="91440" marT="45720" marB="45720">
                    <a:solidFill>
                      <a:srgbClr val="173A68"/>
                    </a:solidFill>
                  </a:tcPr>
                </a:tc>
              </a:tr>
              <a:tr h="571500">
                <a:tc>
                  <a:txBody>
                    <a:bodyPr>
                      <a:normAutofit/>
                    </a:bodyPr>
                    <a:lstStyle/>
                    <a:p>
                      <a:r>
                        <a:rPr sz="1050" b="0">
                          <a:solidFill>
                            <a:srgbClr val="172033"/>
                          </a:solidFill>
                          <a:latin typeface="NanumGothic"/>
                          <a:ea typeface="NanumGothic"/>
                          <a:cs typeface="NanumGothic"/>
                        </a:rPr>
                        <a:t>B0</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직접 1회 실행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기본 성공률과 위험 기준선</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빠르지만 오실행 위험</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B1</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모든 부작용을 확인</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사용자 확인만으로 얻는 안전</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확인 부담이 큼</a:t>
                      </a:r>
                    </a:p>
                  </a:txBody>
                  <a:tcPr marL="91440" marR="91440" marT="45720" marB="45720">
                    <a:solidFill>
                      <a:srgbClr val="F7F9FC"/>
                    </a:solidFill>
                  </a:tcPr>
                </a:tc>
              </a:tr>
              <a:tr h="571500">
                <a:tc>
                  <a:txBody>
                    <a:bodyPr>
                      <a:normAutofit/>
                    </a:bodyPr>
                    <a:lstStyle/>
                    <a:p>
                      <a:r>
                        <a:rPr sz="1050" b="0">
                          <a:solidFill>
                            <a:srgbClr val="172033"/>
                          </a:solidFill>
                          <a:latin typeface="NanumGothic"/>
                          <a:ea typeface="NanumGothic"/>
                          <a:cs typeface="NanumGothic"/>
                        </a:rPr>
                        <a:t>P1</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의도 판별 + 위험 정책</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오실행과 불필요한 확인 감소</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정책 판단 시간</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P2</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P1 + 독립 검증 + 제한적 복구</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거짓 성공 감소와 복구율</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추가 관찰·호출 시간</a:t>
                      </a:r>
                    </a:p>
                  </a:txBody>
                  <a:tcPr marL="91440" marR="91440" marT="45720" marB="45720">
                    <a:solidFill>
                      <a:srgbClr val="F7F9FC"/>
                    </a:solidFill>
                  </a:tcPr>
                </a:tc>
              </a:tr>
            </a:tbl>
          </a:graphicData>
        </a:graphic>
      </p:graphicFrame>
      <p:sp>
        <p:nvSpPr>
          <p:cNvPr id="25" name="">
            <a:extLst xmlns:a="http://schemas.openxmlformats.org/drawingml/2006/main">
              <a:ext uri="{FF2B5EF4-FFF2-40B4-BE49-F238E27FC236}">
                <a16:creationId xmlns:a16="http://schemas.microsoft.com/office/drawing/2014/main" id="{910F157B-83B3-4A41-BAF4-9CBD9DDD63C1}"/>
              </a:ext>
            </a:extLst>
          </p:cNvPr>
          <p:cNvSpPr>
            <a:spLocks xmlns:a="http://schemas.openxmlformats.org/drawingml/2006/main" noGrp="1"/>
          </p:cNvSpPr>
          <p:nvPr/>
        </p:nvSpPr>
        <p:spPr>
          <a:xfrm xmlns:a="http://schemas.openxmlformats.org/drawingml/2006/main">
            <a:off x="685800" y="49530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주 지표</a:t>
            </a:r>
          </a:p>
        </p:txBody>
      </p:sp>
      <p:sp>
        <p:nvSpPr>
          <p:cNvPr id="26" name="">
            <a:extLst xmlns:a="http://schemas.openxmlformats.org/drawingml/2006/main">
              <a:ext uri="{FF2B5EF4-FFF2-40B4-BE49-F238E27FC236}">
                <a16:creationId xmlns:a16="http://schemas.microsoft.com/office/drawing/2014/main" id="{C0113615-33F3-4569-A887-A65C01E51D0A}"/>
              </a:ext>
            </a:extLst>
          </p:cNvPr>
          <p:cNvSpPr>
            <a:spLocks xmlns:a="http://schemas.openxmlformats.org/drawingml/2006/main" noGrp="1"/>
          </p:cNvSpPr>
          <p:nvPr/>
        </p:nvSpPr>
        <p:spPr>
          <a:xfrm xmlns:a="http://schemas.openxmlformats.org/drawingml/2006/main">
            <a:off x="1809750" y="49053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작업 성공률 · 의도하지 않은 실행률 · 위험 실행률 · 사용자 확인 횟수</a:t>
            </a:r>
          </a:p>
        </p:txBody>
      </p:sp>
      <p:sp>
        <p:nvSpPr>
          <p:cNvPr id="27" name="">
            <a:extLst xmlns:a="http://schemas.openxmlformats.org/drawingml/2006/main">
              <a:ext uri="{FF2B5EF4-FFF2-40B4-BE49-F238E27FC236}">
                <a16:creationId xmlns:a16="http://schemas.microsoft.com/office/drawing/2014/main" id="{75D7E2D5-D999-457B-BAFF-877AAEB05F73}"/>
              </a:ext>
            </a:extLst>
          </p:cNvPr>
          <p:cNvSpPr>
            <a:spLocks xmlns:a="http://schemas.openxmlformats.org/drawingml/2006/main" noGrp="1"/>
          </p:cNvSpPr>
          <p:nvPr/>
        </p:nvSpPr>
        <p:spPr>
          <a:xfrm xmlns:a="http://schemas.openxmlformats.org/drawingml/2006/main">
            <a:off x="685800" y="5476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보조 지표</a:t>
            </a:r>
          </a:p>
        </p:txBody>
      </p:sp>
      <p:sp>
        <p:nvSpPr>
          <p:cNvPr id="28" name="">
            <a:extLst xmlns:a="http://schemas.openxmlformats.org/drawingml/2006/main">
              <a:ext uri="{FF2B5EF4-FFF2-40B4-BE49-F238E27FC236}">
                <a16:creationId xmlns:a16="http://schemas.microsoft.com/office/drawing/2014/main" id="{1A96A908-A6AD-4F6F-A296-002F1B2F6F4E}"/>
              </a:ext>
            </a:extLst>
          </p:cNvPr>
          <p:cNvSpPr>
            <a:spLocks xmlns:a="http://schemas.openxmlformats.org/drawingml/2006/main" noGrp="1"/>
          </p:cNvSpPr>
          <p:nvPr/>
        </p:nvSpPr>
        <p:spPr>
          <a:xfrm xmlns:a="http://schemas.openxmlformats.org/drawingml/2006/main">
            <a:off x="1809750" y="54292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복구율 · 검증 정확도 · 단계별 지연시간 · 모델 호출 수와 토큰</a:t>
            </a:r>
          </a:p>
        </p:txBody>
      </p:sp>
    </p:spTree>
    <p:extLst>
      <p:ext uri="{BB962C8B-B14F-4D97-AF65-F5344CB8AC3E}">
        <p14:creationId xmlns:p14="http://schemas.microsoft.com/office/powerpoint/2010/main" val="1822610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D4B09C8-9B95-4BB2-A403-92CE55EBEC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904F71-BC34-402A-A78A-F7E389C0089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하네스와 스킬의 역할</a:t>
            </a:r>
          </a:p>
        </p:txBody>
      </p:sp>
      <p:sp>
        <p:nvSpPr>
          <p:cNvPr id="3" name="">
            <a:extLst xmlns:a="http://schemas.openxmlformats.org/drawingml/2006/main">
              <a:ext uri="{FF2B5EF4-FFF2-40B4-BE49-F238E27FC236}">
                <a16:creationId xmlns:a16="http://schemas.microsoft.com/office/drawing/2014/main" id="{51C868CE-909C-48ED-8D04-00E76CAA1294}"/>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09</a:t>
            </a:r>
          </a:p>
        </p:txBody>
      </p:sp>
      <p:sp>
        <p:nvSpPr>
          <p:cNvPr id="4" name="">
            <a:extLst xmlns:a="http://schemas.openxmlformats.org/drawingml/2006/main">
              <a:ext uri="{FF2B5EF4-FFF2-40B4-BE49-F238E27FC236}">
                <a16:creationId xmlns:a16="http://schemas.microsoft.com/office/drawing/2014/main" id="{32A623EF-0B1B-44A6-9E7D-5681EFEC0417}"/>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DD403A62-C65C-4227-A03B-4FFBB67DE364}"/>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6" name="">
            <a:extLst xmlns:a="http://schemas.openxmlformats.org/drawingml/2006/main">
              <a:ext uri="{FF2B5EF4-FFF2-40B4-BE49-F238E27FC236}">
                <a16:creationId xmlns:a16="http://schemas.microsoft.com/office/drawing/2014/main" id="{8BAE1FFF-F8AD-4B5D-8EEE-999DB2133F68}"/>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7" name="">
            <a:extLst xmlns:a="http://schemas.openxmlformats.org/drawingml/2006/main">
              <a:ext uri="{FF2B5EF4-FFF2-40B4-BE49-F238E27FC236}">
                <a16:creationId xmlns:a16="http://schemas.microsoft.com/office/drawing/2014/main" id="{22501FDE-62B4-4C98-BA0D-9B047F771B61}"/>
              </a:ext>
            </a:extLst>
          </p:cNvPr>
          <p:cNvSpPr>
            <a:spLocks xmlns:a="http://schemas.openxmlformats.org/drawingml/2006/main" noGrp="1"/>
          </p:cNvSpPr>
          <p:nvPr/>
        </p:nvSpPr>
        <p:spPr>
          <a:xfrm xmlns:a="http://schemas.openxmlformats.org/drawingml/2006/main">
            <a:off x="590550" y="1285875"/>
            <a:ext cx="2762250" cy="1809750"/>
          </a:xfrm>
          <a:prstGeom xmlns:a="http://schemas.openxmlformats.org/drawingml/2006/main" prst="roundRect">
            <a:avLst>
              <a:gd name="adj" fmla="val 7368"/>
            </a:avLst>
          </a:prstGeom>
          <a:solidFill xmlns:a="http://schemas.openxmlformats.org/drawingml/2006/main">
            <a:srgbClr val="F2F7FC"/>
          </a:solidFill>
          <a:ln xmlns:a="http://schemas.openxmlformats.org/drawingml/2006/main" w="9525">
            <a:solidFill>
              <a:srgbClr val="C9D8EA"/>
            </a:solidFill>
            <a:prstDash val="solid"/>
          </a:ln>
        </p:spPr>
      </p:sp>
      <p:sp>
        <p:nvSpPr>
          <p:cNvPr id="8" name="">
            <a:extLst xmlns:a="http://schemas.openxmlformats.org/drawingml/2006/main">
              <a:ext uri="{FF2B5EF4-FFF2-40B4-BE49-F238E27FC236}">
                <a16:creationId xmlns:a16="http://schemas.microsoft.com/office/drawing/2014/main" id="{F80B6C8F-D7A7-4231-AF6F-9538ACB03A76}"/>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9" name="">
            <a:extLst xmlns:a="http://schemas.openxmlformats.org/drawingml/2006/main">
              <a:ext uri="{FF2B5EF4-FFF2-40B4-BE49-F238E27FC236}">
                <a16:creationId xmlns:a16="http://schemas.microsoft.com/office/drawing/2014/main" id="{985BD8DD-BD01-4D48-831C-3C127579F493}"/>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0" name="">
            <a:extLst xmlns:a="http://schemas.openxmlformats.org/drawingml/2006/main">
              <a:ext uri="{FF2B5EF4-FFF2-40B4-BE49-F238E27FC236}">
                <a16:creationId xmlns:a16="http://schemas.microsoft.com/office/drawing/2014/main" id="{2E97DF4E-E748-4B35-85B5-FF475105D793}"/>
              </a:ext>
            </a:extLst>
          </p:cNvPr>
          <p:cNvSpPr>
            <a:spLocks xmlns:a="http://schemas.openxmlformats.org/drawingml/2006/main" noGrp="1"/>
          </p:cNvSpPr>
          <p:nvPr/>
        </p:nvSpPr>
        <p:spPr>
          <a:xfrm xmlns:a="http://schemas.openxmlformats.org/drawingml/2006/main">
            <a:off x="4048125" y="1285875"/>
            <a:ext cx="3905250" cy="1809750"/>
          </a:xfrm>
          <a:prstGeom xmlns:a="http://schemas.openxmlformats.org/drawingml/2006/main" prst="roundRect">
            <a:avLst>
              <a:gd name="adj" fmla="val 7368"/>
            </a:avLst>
          </a:prstGeom>
          <a:solidFill xmlns:a="http://schemas.openxmlformats.org/drawingml/2006/main">
            <a:srgbClr val="EFFAFC"/>
          </a:solidFill>
          <a:ln xmlns:a="http://schemas.openxmlformats.org/drawingml/2006/main" w="9525">
            <a:solidFill>
              <a:srgbClr val="BEE8EF"/>
            </a:solidFill>
            <a:prstDash val="solid"/>
          </a:ln>
        </p:spPr>
      </p:sp>
      <p:sp>
        <p:nvSpPr>
          <p:cNvPr id="11" name="">
            <a:extLst xmlns:a="http://schemas.openxmlformats.org/drawingml/2006/main">
              <a:ext uri="{FF2B5EF4-FFF2-40B4-BE49-F238E27FC236}">
                <a16:creationId xmlns:a16="http://schemas.microsoft.com/office/drawing/2014/main" id="{E37C7537-7412-4CE4-99AA-89CF34118936}"/>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2" name="">
            <a:extLst xmlns:a="http://schemas.openxmlformats.org/drawingml/2006/main">
              <a:ext uri="{FF2B5EF4-FFF2-40B4-BE49-F238E27FC236}">
                <a16:creationId xmlns:a16="http://schemas.microsoft.com/office/drawing/2014/main" id="{A71C1823-8CBC-4FF9-A70E-59BFE41521C3}"/>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13" name="">
            <a:extLst xmlns:a="http://schemas.openxmlformats.org/drawingml/2006/main">
              <a:ext uri="{FF2B5EF4-FFF2-40B4-BE49-F238E27FC236}">
                <a16:creationId xmlns:a16="http://schemas.microsoft.com/office/drawing/2014/main" id="{32B200A4-14BE-409F-BDE7-E6CC913867F7}"/>
              </a:ext>
            </a:extLst>
          </p:cNvPr>
          <p:cNvSpPr>
            <a:spLocks xmlns:a="http://schemas.openxmlformats.org/drawingml/2006/main" noGrp="1"/>
          </p:cNvSpPr>
          <p:nvPr/>
        </p:nvSpPr>
        <p:spPr>
          <a:xfrm xmlns:a="http://schemas.openxmlformats.org/drawingml/2006/main">
            <a:off x="8715375" y="1285875"/>
            <a:ext cx="2857500" cy="1809750"/>
          </a:xfrm>
          <a:prstGeom xmlns:a="http://schemas.openxmlformats.org/drawingml/2006/main" prst="roundRect">
            <a:avLst>
              <a:gd name="adj" fmla="val 7368"/>
            </a:avLst>
          </a:prstGeom>
          <a:solidFill xmlns:a="http://schemas.openxmlformats.org/drawingml/2006/main">
            <a:srgbClr val="F2FBF6"/>
          </a:solidFill>
          <a:ln xmlns:a="http://schemas.openxmlformats.org/drawingml/2006/main" w="9525">
            <a:solidFill>
              <a:srgbClr val="C7E8D5"/>
            </a:solidFill>
            <a:prstDash val="solid"/>
          </a:ln>
        </p:spPr>
      </p:sp>
      <p:sp>
        <p:nvSpPr>
          <p:cNvPr id="14" name="">
            <a:extLst xmlns:a="http://schemas.openxmlformats.org/drawingml/2006/main">
              <a:ext uri="{FF2B5EF4-FFF2-40B4-BE49-F238E27FC236}">
                <a16:creationId xmlns:a16="http://schemas.microsoft.com/office/drawing/2014/main" id="{9A01B50C-6C40-4061-9618-A8DCAF7CDBBF}"/>
              </a:ext>
            </a:extLst>
          </p:cNvPr>
          <p:cNvSpPr>
            <a:spLocks xmlns:a="http://schemas.openxmlformats.org/drawingml/2006/main" noGrp="1"/>
          </p:cNvSpPr>
          <p:nvPr/>
        </p:nvSpPr>
        <p:spPr>
          <a:xfrm xmlns:a="http://schemas.openxmlformats.org/drawingml/2006/main">
            <a:off x="78105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2A72A"/>
                </a:solidFill>
                <a:latin typeface="NanumGothic"/>
                <a:ea typeface="NanumGothic"/>
                <a:cs typeface="NanumGothic"/>
              </a:defRPr>
            </a:pPr>
            <a:r>
              <a:rPr sz="1575" b="1">
                <a:solidFill>
                  <a:srgbClr val="F2A72A"/>
                </a:solidFill>
                <a:latin typeface="NanumGothic"/>
                <a:ea typeface="NanumGothic"/>
                <a:cs typeface="NanumGothic"/>
              </a:rPr>
              <a:t>스킬(Skill)</a:t>
            </a:r>
          </a:p>
        </p:txBody>
      </p:sp>
      <p:sp>
        <p:nvSpPr>
          <p:cNvPr id="15" name="">
            <a:extLst xmlns:a="http://schemas.openxmlformats.org/drawingml/2006/main">
              <a:ext uri="{FF2B5EF4-FFF2-40B4-BE49-F238E27FC236}">
                <a16:creationId xmlns:a16="http://schemas.microsoft.com/office/drawing/2014/main" id="{158BEE96-84E6-478C-AB2C-0489B27B245B}"/>
              </a:ext>
            </a:extLst>
          </p:cNvPr>
          <p:cNvSpPr>
            <a:spLocks xmlns:a="http://schemas.openxmlformats.org/drawingml/2006/main" noGrp="1"/>
          </p:cNvSpPr>
          <p:nvPr/>
        </p:nvSpPr>
        <p:spPr>
          <a:xfrm xmlns:a="http://schemas.openxmlformats.org/drawingml/2006/main">
            <a:off x="78105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자주 하는 일을 어떤 순서로 처리할지 적은 재사용 절차</a:t>
            </a:r>
          </a:p>
        </p:txBody>
      </p:sp>
      <p:sp>
        <p:nvSpPr>
          <p:cNvPr id="16" name="">
            <a:extLst xmlns:a="http://schemas.openxmlformats.org/drawingml/2006/main">
              <a:ext uri="{FF2B5EF4-FFF2-40B4-BE49-F238E27FC236}">
                <a16:creationId xmlns:a16="http://schemas.microsoft.com/office/drawing/2014/main" id="{8D16E8EA-561B-4C99-B492-6AFFDF6EDD07}"/>
              </a:ext>
            </a:extLst>
          </p:cNvPr>
          <p:cNvSpPr>
            <a:spLocks xmlns:a="http://schemas.openxmlformats.org/drawingml/2006/main" noGrp="1"/>
          </p:cNvSpPr>
          <p:nvPr/>
        </p:nvSpPr>
        <p:spPr>
          <a:xfrm xmlns:a="http://schemas.openxmlformats.org/drawingml/2006/main">
            <a:off x="647700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도구(Tool)</a:t>
            </a:r>
          </a:p>
        </p:txBody>
      </p:sp>
      <p:sp>
        <p:nvSpPr>
          <p:cNvPr id="17" name="">
            <a:extLst xmlns:a="http://schemas.openxmlformats.org/drawingml/2006/main">
              <a:ext uri="{FF2B5EF4-FFF2-40B4-BE49-F238E27FC236}">
                <a16:creationId xmlns:a16="http://schemas.microsoft.com/office/drawing/2014/main" id="{D3631364-0829-4DF7-9492-0B8E2AAA964A}"/>
              </a:ext>
            </a:extLst>
          </p:cNvPr>
          <p:cNvSpPr>
            <a:spLocks xmlns:a="http://schemas.openxmlformats.org/drawingml/2006/main" noGrp="1"/>
          </p:cNvSpPr>
          <p:nvPr/>
        </p:nvSpPr>
        <p:spPr>
          <a:xfrm xmlns:a="http://schemas.openxmlformats.org/drawingml/2006/main">
            <a:off x="647700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파일 읽기, 음량 변경처럼 실제 상태를 읽거나 바꾸는 한 번의 동작</a:t>
            </a:r>
          </a:p>
        </p:txBody>
      </p:sp>
      <p:sp>
        <p:nvSpPr>
          <p:cNvPr id="18" name="">
            <a:extLst xmlns:a="http://schemas.openxmlformats.org/drawingml/2006/main">
              <a:ext uri="{FF2B5EF4-FFF2-40B4-BE49-F238E27FC236}">
                <a16:creationId xmlns:a16="http://schemas.microsoft.com/office/drawing/2014/main" id="{F985F9CB-E687-41B0-92DF-70B8BD523A86}"/>
              </a:ext>
            </a:extLst>
          </p:cNvPr>
          <p:cNvSpPr>
            <a:spLocks xmlns:a="http://schemas.openxmlformats.org/drawingml/2006/main" noGrp="1"/>
          </p:cNvSpPr>
          <p:nvPr/>
        </p:nvSpPr>
        <p:spPr>
          <a:xfrm xmlns:a="http://schemas.openxmlformats.org/drawingml/2006/main">
            <a:off x="685800" y="523875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9" name="">
            <a:extLst xmlns:a="http://schemas.openxmlformats.org/drawingml/2006/main">
              <a:ext uri="{FF2B5EF4-FFF2-40B4-BE49-F238E27FC236}">
                <a16:creationId xmlns:a16="http://schemas.microsoft.com/office/drawing/2014/main" id="{421E3704-A29C-4F68-9C62-D08CC464DE50}"/>
              </a:ext>
            </a:extLst>
          </p:cNvPr>
          <p:cNvSpPr>
            <a:spLocks xmlns:a="http://schemas.openxmlformats.org/drawingml/2006/main" noGrp="1"/>
          </p:cNvSpPr>
          <p:nvPr/>
        </p:nvSpPr>
        <p:spPr>
          <a:xfrm xmlns:a="http://schemas.openxmlformats.org/drawingml/2006/main">
            <a:off x="800100" y="5476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스킬은 실행 권한이 아니다. 실제 권한은 등록된 기능, 정책, 승인, 검증이 통제한다.</a:t>
            </a:r>
          </a:p>
        </p:txBody>
      </p:sp>
    </p:spTree>
    <p:extLst>
      <p:ext uri="{BB962C8B-B14F-4D97-AF65-F5344CB8AC3E}">
        <p14:creationId xmlns:p14="http://schemas.microsoft.com/office/powerpoint/2010/main" val="21133509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112B917-6CF0-4F6E-97B8-C7FCCA69B3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2DA9C9-7C46-4A95-9EB2-7C108F48CA49}"/>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하네스가 같은 LLM의 성능을 바꾸는 경로</a:t>
            </a:r>
          </a:p>
        </p:txBody>
      </p:sp>
      <p:sp>
        <p:nvSpPr>
          <p:cNvPr id="3" name="">
            <a:extLst xmlns:a="http://schemas.openxmlformats.org/drawingml/2006/main">
              <a:ext uri="{FF2B5EF4-FFF2-40B4-BE49-F238E27FC236}">
                <a16:creationId xmlns:a16="http://schemas.microsoft.com/office/drawing/2014/main" id="{41A99340-A871-44E0-9250-B3C45346EAF4}"/>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10</a:t>
            </a:r>
          </a:p>
        </p:txBody>
      </p:sp>
      <p:sp>
        <p:nvSpPr>
          <p:cNvPr id="4" name="">
            <a:extLst xmlns:a="http://schemas.openxmlformats.org/drawingml/2006/main">
              <a:ext uri="{FF2B5EF4-FFF2-40B4-BE49-F238E27FC236}">
                <a16:creationId xmlns:a16="http://schemas.microsoft.com/office/drawing/2014/main" id="{41C2852A-5218-419C-B650-C1721BD0D3E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93D9E720-5154-4727-A1BE-EC9512315D51}"/>
              </a:ext>
            </a:extLst>
          </p:cNvPr>
          <p:cNvSpPr>
            <a:spLocks xmlns:a="http://schemas.openxmlformats.org/drawingml/2006/main" noGrp="1"/>
          </p:cNvSpPr>
          <p:nvPr/>
        </p:nvSpPr>
        <p:spPr>
          <a:xfrm xmlns:a="http://schemas.openxmlformats.org/drawingml/2006/main">
            <a:off x="704850" y="1495425"/>
            <a:ext cx="1381125"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6" name="">
            <a:extLst xmlns:a="http://schemas.openxmlformats.org/drawingml/2006/main">
              <a:ext uri="{FF2B5EF4-FFF2-40B4-BE49-F238E27FC236}">
                <a16:creationId xmlns:a16="http://schemas.microsoft.com/office/drawing/2014/main" id="{3E9A7EAD-92EB-4D0F-9560-88AE44FA8AD4}"/>
              </a:ext>
            </a:extLst>
          </p:cNvPr>
          <p:cNvSpPr>
            <a:spLocks xmlns:a="http://schemas.openxmlformats.org/drawingml/2006/main" noGrp="1"/>
          </p:cNvSpPr>
          <p:nvPr/>
        </p:nvSpPr>
        <p:spPr>
          <a:xfrm xmlns:a="http://schemas.openxmlformats.org/drawingml/2006/main">
            <a:off x="800100" y="15430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관찰 품질</a:t>
            </a:r>
          </a:p>
        </p:txBody>
      </p:sp>
      <p:sp>
        <p:nvSpPr>
          <p:cNvPr id="7" name="">
            <a:extLst xmlns:a="http://schemas.openxmlformats.org/drawingml/2006/main">
              <a:ext uri="{FF2B5EF4-FFF2-40B4-BE49-F238E27FC236}">
                <a16:creationId xmlns:a16="http://schemas.microsoft.com/office/drawing/2014/main" id="{559453B9-64F1-4075-AD8C-0215A45795EE}"/>
              </a:ext>
            </a:extLst>
          </p:cNvPr>
          <p:cNvSpPr>
            <a:spLocks xmlns:a="http://schemas.openxmlformats.org/drawingml/2006/main" noGrp="1"/>
          </p:cNvSpPr>
          <p:nvPr/>
        </p:nvSpPr>
        <p:spPr>
          <a:xfrm xmlns:a="http://schemas.openxmlformats.org/drawingml/2006/main">
            <a:off x="2381250" y="13811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검증된 앱·파일·현재 상태만 제공</a:t>
            </a:r>
          </a:p>
        </p:txBody>
      </p:sp>
      <p:sp>
        <p:nvSpPr>
          <p:cNvPr id="8" name="">
            <a:extLst xmlns:a="http://schemas.openxmlformats.org/drawingml/2006/main">
              <a:ext uri="{FF2B5EF4-FFF2-40B4-BE49-F238E27FC236}">
                <a16:creationId xmlns:a16="http://schemas.microsoft.com/office/drawing/2014/main" id="{5801CB41-A240-45B6-95A3-2861226BBA1F}"/>
              </a:ext>
            </a:extLst>
          </p:cNvPr>
          <p:cNvSpPr>
            <a:spLocks xmlns:a="http://schemas.openxmlformats.org/drawingml/2006/main" noGrp="1"/>
          </p:cNvSpPr>
          <p:nvPr/>
        </p:nvSpPr>
        <p:spPr>
          <a:xfrm xmlns:a="http://schemas.openxmlformats.org/drawingml/2006/main">
            <a:off x="8096250" y="13811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A8C4"/>
                </a:solidFill>
                <a:latin typeface="NanumGothic"/>
                <a:ea typeface="NanumGothic"/>
                <a:cs typeface="NanumGothic"/>
              </a:defRPr>
            </a:pPr>
            <a:r>
              <a:rPr sz="1500" b="0">
                <a:solidFill>
                  <a:srgbClr val="14A8C4"/>
                </a:solidFill>
                <a:latin typeface="NanumGothic"/>
                <a:ea typeface="NanumGothic"/>
                <a:cs typeface="NanumGothic"/>
              </a:rPr>
              <a:t>계획 오류 감소</a:t>
            </a:r>
          </a:p>
        </p:txBody>
      </p:sp>
      <p:sp>
        <p:nvSpPr>
          <p:cNvPr id="9" name="">
            <a:extLst xmlns:a="http://schemas.openxmlformats.org/drawingml/2006/main">
              <a:ext uri="{FF2B5EF4-FFF2-40B4-BE49-F238E27FC236}">
                <a16:creationId xmlns:a16="http://schemas.microsoft.com/office/drawing/2014/main" id="{2260C8CF-B469-4C85-A7AF-92652C29B10D}"/>
              </a:ext>
            </a:extLst>
          </p:cNvPr>
          <p:cNvSpPr>
            <a:spLocks xmlns:a="http://schemas.openxmlformats.org/drawingml/2006/main" noGrp="1"/>
          </p:cNvSpPr>
          <p:nvPr/>
        </p:nvSpPr>
        <p:spPr>
          <a:xfrm xmlns:a="http://schemas.openxmlformats.org/drawingml/2006/main">
            <a:off x="2381250" y="20478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53E9605B-2313-46DF-BAE6-C8FA6DC3164F}"/>
              </a:ext>
            </a:extLst>
          </p:cNvPr>
          <p:cNvSpPr>
            <a:spLocks xmlns:a="http://schemas.openxmlformats.org/drawingml/2006/main" noGrp="1"/>
          </p:cNvSpPr>
          <p:nvPr/>
        </p:nvSpPr>
        <p:spPr>
          <a:xfrm xmlns:a="http://schemas.openxmlformats.org/drawingml/2006/main">
            <a:off x="704850" y="2390775"/>
            <a:ext cx="1381125" cy="323850"/>
          </a:xfrm>
          <a:prstGeom xmlns:a="http://schemas.openxmlformats.org/drawingml/2006/main" prst="roundRect">
            <a:avLst>
              <a:gd name="adj" fmla="val 50000"/>
            </a:avLst>
          </a:prstGeom>
          <a:solidFill xmlns:a="http://schemas.openxmlformats.org/drawingml/2006/main">
            <a:srgbClr val="173A68"/>
          </a:solidFill>
          <a:ln xmlns:a="http://schemas.openxmlformats.org/drawingml/2006/main" w="9525">
            <a:solidFill>
              <a:srgbClr val="173A68"/>
            </a:solidFill>
            <a:prstDash val="solid"/>
          </a:ln>
        </p:spPr>
      </p:sp>
      <p:sp>
        <p:nvSpPr>
          <p:cNvPr id="11" name="">
            <a:extLst xmlns:a="http://schemas.openxmlformats.org/drawingml/2006/main">
              <a:ext uri="{FF2B5EF4-FFF2-40B4-BE49-F238E27FC236}">
                <a16:creationId xmlns:a16="http://schemas.microsoft.com/office/drawing/2014/main" id="{05A8F015-CEAE-433D-AB1D-567DC01338D8}"/>
              </a:ext>
            </a:extLst>
          </p:cNvPr>
          <p:cNvSpPr>
            <a:spLocks xmlns:a="http://schemas.openxmlformats.org/drawingml/2006/main" noGrp="1"/>
          </p:cNvSpPr>
          <p:nvPr/>
        </p:nvSpPr>
        <p:spPr>
          <a:xfrm xmlns:a="http://schemas.openxmlformats.org/drawingml/2006/main">
            <a:off x="800100" y="2438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행동 형식</a:t>
            </a:r>
          </a:p>
        </p:txBody>
      </p:sp>
      <p:sp>
        <p:nvSpPr>
          <p:cNvPr id="12" name="">
            <a:extLst xmlns:a="http://schemas.openxmlformats.org/drawingml/2006/main">
              <a:ext uri="{FF2B5EF4-FFF2-40B4-BE49-F238E27FC236}">
                <a16:creationId xmlns:a16="http://schemas.microsoft.com/office/drawing/2014/main" id="{6E2A8D1B-32C5-4D2A-B38E-D41E45A0534E}"/>
              </a:ext>
            </a:extLst>
          </p:cNvPr>
          <p:cNvSpPr>
            <a:spLocks xmlns:a="http://schemas.openxmlformats.org/drawingml/2006/main" noGrp="1"/>
          </p:cNvSpPr>
          <p:nvPr/>
        </p:nvSpPr>
        <p:spPr>
          <a:xfrm xmlns:a="http://schemas.openxmlformats.org/drawingml/2006/main">
            <a:off x="2381250" y="22764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자유 명령 대신 구조화된 기능과 인자</a:t>
            </a:r>
          </a:p>
        </p:txBody>
      </p:sp>
      <p:sp>
        <p:nvSpPr>
          <p:cNvPr id="13" name="">
            <a:extLst xmlns:a="http://schemas.openxmlformats.org/drawingml/2006/main">
              <a:ext uri="{FF2B5EF4-FFF2-40B4-BE49-F238E27FC236}">
                <a16:creationId xmlns:a16="http://schemas.microsoft.com/office/drawing/2014/main" id="{6E382899-96FD-427C-B8A6-36EF45F21356}"/>
              </a:ext>
            </a:extLst>
          </p:cNvPr>
          <p:cNvSpPr>
            <a:spLocks xmlns:a="http://schemas.openxmlformats.org/drawingml/2006/main" noGrp="1"/>
          </p:cNvSpPr>
          <p:nvPr/>
        </p:nvSpPr>
        <p:spPr>
          <a:xfrm xmlns:a="http://schemas.openxmlformats.org/drawingml/2006/main">
            <a:off x="8096250" y="22764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3A68"/>
                </a:solidFill>
                <a:latin typeface="NanumGothic"/>
                <a:ea typeface="NanumGothic"/>
                <a:cs typeface="NanumGothic"/>
              </a:defRPr>
            </a:pPr>
            <a:r>
              <a:rPr sz="1500" b="0">
                <a:solidFill>
                  <a:srgbClr val="173A68"/>
                </a:solidFill>
                <a:latin typeface="NanumGothic"/>
                <a:ea typeface="NanumGothic"/>
                <a:cs typeface="NanumGothic"/>
              </a:rPr>
              <a:t>잘못된 도구 호출 감소</a:t>
            </a:r>
          </a:p>
        </p:txBody>
      </p:sp>
      <p:sp>
        <p:nvSpPr>
          <p:cNvPr id="14" name="">
            <a:extLst xmlns:a="http://schemas.openxmlformats.org/drawingml/2006/main">
              <a:ext uri="{FF2B5EF4-FFF2-40B4-BE49-F238E27FC236}">
                <a16:creationId xmlns:a16="http://schemas.microsoft.com/office/drawing/2014/main" id="{1245C102-8A1D-4934-ABC0-08DAD6A601CB}"/>
              </a:ext>
            </a:extLst>
          </p:cNvPr>
          <p:cNvSpPr>
            <a:spLocks xmlns:a="http://schemas.openxmlformats.org/drawingml/2006/main" noGrp="1"/>
          </p:cNvSpPr>
          <p:nvPr/>
        </p:nvSpPr>
        <p:spPr>
          <a:xfrm xmlns:a="http://schemas.openxmlformats.org/drawingml/2006/main">
            <a:off x="2381250" y="29432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A0C32328-9866-4BF8-8007-FA13F0FB0C52}"/>
              </a:ext>
            </a:extLst>
          </p:cNvPr>
          <p:cNvSpPr>
            <a:spLocks xmlns:a="http://schemas.openxmlformats.org/drawingml/2006/main" noGrp="1"/>
          </p:cNvSpPr>
          <p:nvPr/>
        </p:nvSpPr>
        <p:spPr>
          <a:xfrm xmlns:a="http://schemas.openxmlformats.org/drawingml/2006/main">
            <a:off x="704850" y="3286125"/>
            <a:ext cx="1381125"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6" name="">
            <a:extLst xmlns:a="http://schemas.openxmlformats.org/drawingml/2006/main">
              <a:ext uri="{FF2B5EF4-FFF2-40B4-BE49-F238E27FC236}">
                <a16:creationId xmlns:a16="http://schemas.microsoft.com/office/drawing/2014/main" id="{271A8308-D62C-49B2-84F5-5F027B07E3F0}"/>
              </a:ext>
            </a:extLst>
          </p:cNvPr>
          <p:cNvSpPr>
            <a:spLocks xmlns:a="http://schemas.openxmlformats.org/drawingml/2006/main" noGrp="1"/>
          </p:cNvSpPr>
          <p:nvPr/>
        </p:nvSpPr>
        <p:spPr>
          <a:xfrm xmlns:a="http://schemas.openxmlformats.org/drawingml/2006/main">
            <a:off x="800100" y="3333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실행 피드백</a:t>
            </a:r>
          </a:p>
        </p:txBody>
      </p:sp>
      <p:sp>
        <p:nvSpPr>
          <p:cNvPr id="17" name="">
            <a:extLst xmlns:a="http://schemas.openxmlformats.org/drawingml/2006/main">
              <a:ext uri="{FF2B5EF4-FFF2-40B4-BE49-F238E27FC236}">
                <a16:creationId xmlns:a16="http://schemas.microsoft.com/office/drawing/2014/main" id="{83F9E871-0C2F-4F09-A025-70F24FCE4678}"/>
              </a:ext>
            </a:extLst>
          </p:cNvPr>
          <p:cNvSpPr>
            <a:spLocks xmlns:a="http://schemas.openxmlformats.org/drawingml/2006/main" noGrp="1"/>
          </p:cNvSpPr>
          <p:nvPr/>
        </p:nvSpPr>
        <p:spPr>
          <a:xfrm xmlns:a="http://schemas.openxmlformats.org/drawingml/2006/main">
            <a:off x="2381250" y="31718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행동 뒤 실제 운영체제 상태 관찰</a:t>
            </a:r>
          </a:p>
        </p:txBody>
      </p:sp>
      <p:sp>
        <p:nvSpPr>
          <p:cNvPr id="18" name="">
            <a:extLst xmlns:a="http://schemas.openxmlformats.org/drawingml/2006/main">
              <a:ext uri="{FF2B5EF4-FFF2-40B4-BE49-F238E27FC236}">
                <a16:creationId xmlns:a16="http://schemas.microsoft.com/office/drawing/2014/main" id="{52316037-A6A7-4527-84DC-619F3FDAFEDB}"/>
              </a:ext>
            </a:extLst>
          </p:cNvPr>
          <p:cNvSpPr>
            <a:spLocks xmlns:a="http://schemas.openxmlformats.org/drawingml/2006/main" noGrp="1"/>
          </p:cNvSpPr>
          <p:nvPr/>
        </p:nvSpPr>
        <p:spPr>
          <a:xfrm xmlns:a="http://schemas.openxmlformats.org/drawingml/2006/main">
            <a:off x="8096250" y="31718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1A66B"/>
                </a:solidFill>
                <a:latin typeface="NanumGothic"/>
                <a:ea typeface="NanumGothic"/>
                <a:cs typeface="NanumGothic"/>
              </a:defRPr>
            </a:pPr>
            <a:r>
              <a:rPr sz="1500" b="0">
                <a:solidFill>
                  <a:srgbClr val="21A66B"/>
                </a:solidFill>
                <a:latin typeface="NanumGothic"/>
                <a:ea typeface="NanumGothic"/>
                <a:cs typeface="NanumGothic"/>
              </a:rPr>
              <a:t>중간 오류 발견</a:t>
            </a:r>
          </a:p>
        </p:txBody>
      </p:sp>
      <p:sp>
        <p:nvSpPr>
          <p:cNvPr id="19" name="">
            <a:extLst xmlns:a="http://schemas.openxmlformats.org/drawingml/2006/main">
              <a:ext uri="{FF2B5EF4-FFF2-40B4-BE49-F238E27FC236}">
                <a16:creationId xmlns:a16="http://schemas.microsoft.com/office/drawing/2014/main" id="{D24D03F9-DDED-41E3-BFB3-72F22F899291}"/>
              </a:ext>
            </a:extLst>
          </p:cNvPr>
          <p:cNvSpPr>
            <a:spLocks xmlns:a="http://schemas.openxmlformats.org/drawingml/2006/main" noGrp="1"/>
          </p:cNvSpPr>
          <p:nvPr/>
        </p:nvSpPr>
        <p:spPr>
          <a:xfrm xmlns:a="http://schemas.openxmlformats.org/drawingml/2006/main">
            <a:off x="2381250" y="38385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0" name="">
            <a:extLst xmlns:a="http://schemas.openxmlformats.org/drawingml/2006/main">
              <a:ext uri="{FF2B5EF4-FFF2-40B4-BE49-F238E27FC236}">
                <a16:creationId xmlns:a16="http://schemas.microsoft.com/office/drawing/2014/main" id="{2FFEB3AC-90FE-4E0A-B0CB-DD1E2C88A229}"/>
              </a:ext>
            </a:extLst>
          </p:cNvPr>
          <p:cNvSpPr>
            <a:spLocks xmlns:a="http://schemas.openxmlformats.org/drawingml/2006/main" noGrp="1"/>
          </p:cNvSpPr>
          <p:nvPr/>
        </p:nvSpPr>
        <p:spPr>
          <a:xfrm xmlns:a="http://schemas.openxmlformats.org/drawingml/2006/main">
            <a:off x="704850" y="4181475"/>
            <a:ext cx="1381125"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21" name="">
            <a:extLst xmlns:a="http://schemas.openxmlformats.org/drawingml/2006/main">
              <a:ext uri="{FF2B5EF4-FFF2-40B4-BE49-F238E27FC236}">
                <a16:creationId xmlns:a16="http://schemas.microsoft.com/office/drawing/2014/main" id="{B42162FD-5946-4BDF-B321-9CBFBFEC26B1}"/>
              </a:ext>
            </a:extLst>
          </p:cNvPr>
          <p:cNvSpPr>
            <a:spLocks xmlns:a="http://schemas.openxmlformats.org/drawingml/2006/main" noGrp="1"/>
          </p:cNvSpPr>
          <p:nvPr/>
        </p:nvSpPr>
        <p:spPr>
          <a:xfrm xmlns:a="http://schemas.openxmlformats.org/drawingml/2006/main">
            <a:off x="800100" y="42291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독립 검증</a:t>
            </a:r>
          </a:p>
        </p:txBody>
      </p:sp>
      <p:sp>
        <p:nvSpPr>
          <p:cNvPr id="22" name="">
            <a:extLst xmlns:a="http://schemas.openxmlformats.org/drawingml/2006/main">
              <a:ext uri="{FF2B5EF4-FFF2-40B4-BE49-F238E27FC236}">
                <a16:creationId xmlns:a16="http://schemas.microsoft.com/office/drawing/2014/main" id="{E94F04CD-3C0C-4D2E-99CB-F932BDCB9F23}"/>
              </a:ext>
            </a:extLst>
          </p:cNvPr>
          <p:cNvSpPr>
            <a:spLocks xmlns:a="http://schemas.openxmlformats.org/drawingml/2006/main" noGrp="1"/>
          </p:cNvSpPr>
          <p:nvPr/>
        </p:nvSpPr>
        <p:spPr>
          <a:xfrm xmlns:a="http://schemas.openxmlformats.org/drawingml/2006/main">
            <a:off x="2381250" y="40671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실행자의 성공 보고와 별도 판정</a:t>
            </a:r>
          </a:p>
        </p:txBody>
      </p:sp>
      <p:sp>
        <p:nvSpPr>
          <p:cNvPr id="23" name="">
            <a:extLst xmlns:a="http://schemas.openxmlformats.org/drawingml/2006/main">
              <a:ext uri="{FF2B5EF4-FFF2-40B4-BE49-F238E27FC236}">
                <a16:creationId xmlns:a16="http://schemas.microsoft.com/office/drawing/2014/main" id="{9DF5AEF4-7980-4359-9F3C-C9F3F70C1D55}"/>
              </a:ext>
            </a:extLst>
          </p:cNvPr>
          <p:cNvSpPr>
            <a:spLocks xmlns:a="http://schemas.openxmlformats.org/drawingml/2006/main" noGrp="1"/>
          </p:cNvSpPr>
          <p:nvPr/>
        </p:nvSpPr>
        <p:spPr>
          <a:xfrm xmlns:a="http://schemas.openxmlformats.org/drawingml/2006/main">
            <a:off x="8096250" y="40671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A72A"/>
                </a:solidFill>
                <a:latin typeface="NanumGothic"/>
                <a:ea typeface="NanumGothic"/>
                <a:cs typeface="NanumGothic"/>
              </a:defRPr>
            </a:pPr>
            <a:r>
              <a:rPr sz="1500" b="0">
                <a:solidFill>
                  <a:srgbClr val="F2A72A"/>
                </a:solidFill>
                <a:latin typeface="NanumGothic"/>
                <a:ea typeface="NanumGothic"/>
                <a:cs typeface="NanumGothic"/>
              </a:rPr>
              <a:t>거짓 성공 감소</a:t>
            </a:r>
          </a:p>
        </p:txBody>
      </p:sp>
      <p:sp>
        <p:nvSpPr>
          <p:cNvPr id="24" name="">
            <a:extLst xmlns:a="http://schemas.openxmlformats.org/drawingml/2006/main">
              <a:ext uri="{FF2B5EF4-FFF2-40B4-BE49-F238E27FC236}">
                <a16:creationId xmlns:a16="http://schemas.microsoft.com/office/drawing/2014/main" id="{2E48C77C-79A5-4B4A-A673-BF51C7C7CD68}"/>
              </a:ext>
            </a:extLst>
          </p:cNvPr>
          <p:cNvSpPr>
            <a:spLocks xmlns:a="http://schemas.openxmlformats.org/drawingml/2006/main" noGrp="1"/>
          </p:cNvSpPr>
          <p:nvPr/>
        </p:nvSpPr>
        <p:spPr>
          <a:xfrm xmlns:a="http://schemas.openxmlformats.org/drawingml/2006/main">
            <a:off x="2381250" y="47339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CA2A49D8-834A-4C38-8309-B31780A880AF}"/>
              </a:ext>
            </a:extLst>
          </p:cNvPr>
          <p:cNvSpPr>
            <a:spLocks xmlns:a="http://schemas.openxmlformats.org/drawingml/2006/main" noGrp="1"/>
          </p:cNvSpPr>
          <p:nvPr/>
        </p:nvSpPr>
        <p:spPr>
          <a:xfrm xmlns:a="http://schemas.openxmlformats.org/drawingml/2006/main">
            <a:off x="704850" y="5076825"/>
            <a:ext cx="1381125"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6" name="">
            <a:extLst xmlns:a="http://schemas.openxmlformats.org/drawingml/2006/main">
              <a:ext uri="{FF2B5EF4-FFF2-40B4-BE49-F238E27FC236}">
                <a16:creationId xmlns:a16="http://schemas.microsoft.com/office/drawing/2014/main" id="{EEEDF1E5-1FBB-49D9-84D8-7E3DC5782520}"/>
              </a:ext>
            </a:extLst>
          </p:cNvPr>
          <p:cNvSpPr>
            <a:spLocks xmlns:a="http://schemas.openxmlformats.org/drawingml/2006/main" noGrp="1"/>
          </p:cNvSpPr>
          <p:nvPr/>
        </p:nvSpPr>
        <p:spPr>
          <a:xfrm xmlns:a="http://schemas.openxmlformats.org/drawingml/2006/main">
            <a:off x="800100" y="51244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제한된 복구</a:t>
            </a:r>
          </a:p>
        </p:txBody>
      </p:sp>
      <p:sp>
        <p:nvSpPr>
          <p:cNvPr id="27" name="">
            <a:extLst xmlns:a="http://schemas.openxmlformats.org/drawingml/2006/main">
              <a:ext uri="{FF2B5EF4-FFF2-40B4-BE49-F238E27FC236}">
                <a16:creationId xmlns:a16="http://schemas.microsoft.com/office/drawing/2014/main" id="{9C513ADB-8247-48F7-9D65-A35A29BCFAC3}"/>
              </a:ext>
            </a:extLst>
          </p:cNvPr>
          <p:cNvSpPr>
            <a:spLocks xmlns:a="http://schemas.openxmlformats.org/drawingml/2006/main" noGrp="1"/>
          </p:cNvSpPr>
          <p:nvPr/>
        </p:nvSpPr>
        <p:spPr>
          <a:xfrm xmlns:a="http://schemas.openxmlformats.org/drawingml/2006/main">
            <a:off x="2381250" y="49625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오류 종류에 맞춘 재시도와 재계획</a:t>
            </a:r>
          </a:p>
        </p:txBody>
      </p:sp>
      <p:sp>
        <p:nvSpPr>
          <p:cNvPr id="28" name="">
            <a:extLst xmlns:a="http://schemas.openxmlformats.org/drawingml/2006/main">
              <a:ext uri="{FF2B5EF4-FFF2-40B4-BE49-F238E27FC236}">
                <a16:creationId xmlns:a16="http://schemas.microsoft.com/office/drawing/2014/main" id="{B9CA9C93-71EF-4137-9A73-3736A282BFEC}"/>
              </a:ext>
            </a:extLst>
          </p:cNvPr>
          <p:cNvSpPr>
            <a:spLocks xmlns:a="http://schemas.openxmlformats.org/drawingml/2006/main" noGrp="1"/>
          </p:cNvSpPr>
          <p:nvPr/>
        </p:nvSpPr>
        <p:spPr>
          <a:xfrm xmlns:a="http://schemas.openxmlformats.org/drawingml/2006/main">
            <a:off x="8096250" y="49625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45757"/>
                </a:solidFill>
                <a:latin typeface="NanumGothic"/>
                <a:ea typeface="NanumGothic"/>
                <a:cs typeface="NanumGothic"/>
              </a:defRPr>
            </a:pPr>
            <a:r>
              <a:rPr sz="1500" b="0">
                <a:solidFill>
                  <a:srgbClr val="E45757"/>
                </a:solidFill>
                <a:latin typeface="NanumGothic"/>
                <a:ea typeface="NanumGothic"/>
                <a:cs typeface="NanumGothic"/>
              </a:rPr>
              <a:t>복구율 증가, 비용 증가</a:t>
            </a:r>
          </a:p>
        </p:txBody>
      </p:sp>
      <p:sp>
        <p:nvSpPr>
          <p:cNvPr id="29" name="">
            <a:extLst xmlns:a="http://schemas.openxmlformats.org/drawingml/2006/main">
              <a:ext uri="{FF2B5EF4-FFF2-40B4-BE49-F238E27FC236}">
                <a16:creationId xmlns:a16="http://schemas.microsoft.com/office/drawing/2014/main" id="{3624268C-23E8-4FED-BA8F-543F210C7359}"/>
              </a:ext>
            </a:extLst>
          </p:cNvPr>
          <p:cNvSpPr>
            <a:spLocks xmlns:a="http://schemas.openxmlformats.org/drawingml/2006/main" noGrp="1"/>
          </p:cNvSpPr>
          <p:nvPr/>
        </p:nvSpPr>
        <p:spPr>
          <a:xfrm xmlns:a="http://schemas.openxmlformats.org/drawingml/2006/main">
            <a:off x="78105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모델의 가중치는 그대로지만, 관찰·행동·피드백의 품질이 실제 작업 성공률을 바꾼다.</a:t>
            </a:r>
          </a:p>
        </p:txBody>
      </p:sp>
    </p:spTree>
    <p:extLst>
      <p:ext uri="{BB962C8B-B14F-4D97-AF65-F5344CB8AC3E}">
        <p14:creationId xmlns:p14="http://schemas.microsoft.com/office/powerpoint/2010/main" val="101168588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65DAB5-AFD3-4ABE-8B31-9B1C7F2AC8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6616FE-B79D-4114-98CA-84F0721B4DD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선행 연구와 JARVIS-PC의 위치</a:t>
            </a:r>
          </a:p>
        </p:txBody>
      </p:sp>
      <p:sp>
        <p:nvSpPr>
          <p:cNvPr id="3" name="">
            <a:extLst xmlns:a="http://schemas.openxmlformats.org/drawingml/2006/main">
              <a:ext uri="{FF2B5EF4-FFF2-40B4-BE49-F238E27FC236}">
                <a16:creationId xmlns:a16="http://schemas.microsoft.com/office/drawing/2014/main" id="{56289081-7D3F-4237-ABA9-3E3ED2F09F0B}"/>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11</a:t>
            </a:r>
          </a:p>
        </p:txBody>
      </p:sp>
      <p:sp>
        <p:nvSpPr>
          <p:cNvPr id="4" name="">
            <a:extLst xmlns:a="http://schemas.openxmlformats.org/drawingml/2006/main">
              <a:ext uri="{FF2B5EF4-FFF2-40B4-BE49-F238E27FC236}">
                <a16:creationId xmlns:a16="http://schemas.microsoft.com/office/drawing/2014/main" id="{84D291E7-FF8D-4146-8E85-BA27CFEB86F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graphicFrame>
        <p:nvGraphicFramePr>
          <p:cNvPr id="11" name=""/>
          <p:cNvGraphicFramePr/>
          <p:nvPr/>
        </p:nvGraphicFramePr>
        <p:xfrm>
          <a:off xmlns:a="http://schemas.openxmlformats.org/drawingml/2006/main" x="609600" y="1285875"/>
          <a:ext xmlns:a="http://schemas.openxmlformats.org/drawingml/2006/main" cx="10972800" cy="4381500"/>
        </p:xfrm>
        <a:graphic xmlns:a="http://schemas.openxmlformats.org/drawingml/2006/main">
          <a:graphicData uri="http://schemas.openxmlformats.org/drawingml/2006/table">
            <a:tbl>
              <a:tblPr/>
              <a:tblGrid>
                <a:gridCol w="2476500"/>
                <a:gridCol w="4476750"/>
                <a:gridCol w="4019550"/>
              </a:tblGrid>
              <a:tr h="625929">
                <a:tc>
                  <a:txBody>
                    <a:bodyPr>
                      <a:normAutofit/>
                    </a:bodyPr>
                    <a:lstStyle/>
                    <a:p>
                      <a:r>
                        <a:rPr sz="1125" b="1">
                          <a:solidFill>
                            <a:srgbClr val="FFFFFF"/>
                          </a:solidFill>
                          <a:latin typeface="NanumGothic"/>
                          <a:ea typeface="NanumGothic"/>
                          <a:cs typeface="NanumGothic"/>
                        </a:rPr>
                        <a:t>연구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확인된 원리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JARVIS-PC에 적용한 부분</a:t>
                      </a:r>
                    </a:p>
                  </a:txBody>
                  <a:tcPr marL="91440" marR="91440" marT="45720" marB="45720">
                    <a:solidFill>
                      <a:srgbClr val="173A68"/>
                    </a:solidFill>
                  </a:tcPr>
                </a:tc>
              </a:tr>
              <a:tr h="625929">
                <a:tc>
                  <a:txBody>
                    <a:bodyPr>
                      <a:normAutofit/>
                    </a:bodyPr>
                    <a:lstStyle/>
                    <a:p>
                      <a:r>
                        <a:rPr sz="1050" b="0">
                          <a:solidFill>
                            <a:srgbClr val="172033"/>
                          </a:solidFill>
                          <a:latin typeface="NanumGothic"/>
                          <a:ea typeface="NanumGothic"/>
                          <a:cs typeface="NanumGothic"/>
                        </a:rPr>
                        <a:t>ReAct (2023)</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추론과 행동을 번갈아 수행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관찰 후 계획 갱신</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Voyager (2023)</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성공 절차를 스킬로 저장·재사용</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향후 검토된 절차 재사용</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SWE-agent (2024)</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에이전트용 인터페이스가 성능에 영향</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구조화된 기능·도구 경계</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 WAA (2024)</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실제 PC 상태와 초기 환경으로 평가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Windows 작업·snapshot 실험</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OS-Harm (2025)</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오용·주입·모델 오작동을 분리 평가</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위험 정책과 안전 지표</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2.0 (2026)</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긴 작업에서 제약 기억·검증이 어려움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결과 검증과 제한된 복구</a:t>
                      </a:r>
                    </a:p>
                  </a:txBody>
                  <a:tcPr marL="91440" marR="91440" marT="45720" marB="45720">
                    <a:solidFill>
                      <a:srgbClr val="F7F9FC"/>
                    </a:solidFill>
                  </a:tcPr>
                </a:tc>
              </a:tr>
            </a:tbl>
          </a:graphicData>
        </a:graphic>
      </p:graphicFrame>
      <p:sp>
        <p:nvSpPr>
          <p:cNvPr id="6" name="">
            <a:extLst xmlns:a="http://schemas.openxmlformats.org/drawingml/2006/main">
              <a:ext uri="{FF2B5EF4-FFF2-40B4-BE49-F238E27FC236}">
                <a16:creationId xmlns:a16="http://schemas.microsoft.com/office/drawing/2014/main" id="{860EF621-6262-4042-BBF2-58DEA5931AE9}"/>
              </a:ext>
            </a:extLst>
          </p:cNvPr>
          <p:cNvSpPr>
            <a:spLocks xmlns:a="http://schemas.openxmlformats.org/drawingml/2006/main" noGrp="1"/>
          </p:cNvSpPr>
          <p:nvPr/>
        </p:nvSpPr>
        <p:spPr>
          <a:xfrm xmlns:a="http://schemas.openxmlformats.org/drawingml/2006/main">
            <a:off x="714375" y="5905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A68"/>
                </a:solidFill>
                <a:latin typeface="NanumGothic"/>
                <a:ea typeface="NanumGothic"/>
                <a:cs typeface="NanumGothic"/>
              </a:defRPr>
            </a:pPr>
            <a:r>
              <a:rPr sz="1425" b="1">
                <a:solidFill>
                  <a:srgbClr val="173A68"/>
                </a:solidFill>
                <a:latin typeface="NanumGothic"/>
                <a:ea typeface="NanumGothic"/>
                <a:cs typeface="NanumGothic"/>
              </a:rPr>
              <a:t>선행 연구는 각 설계 원리를 뒷받침하지만, JARVIS-PC의 우월성은 자체 실험으로 검증해야 한다.</a:t>
            </a:r>
          </a:p>
        </p:txBody>
      </p:sp>
    </p:spTree>
    <p:extLst>
      <p:ext uri="{BB962C8B-B14F-4D97-AF65-F5344CB8AC3E}">
        <p14:creationId xmlns:p14="http://schemas.microsoft.com/office/powerpoint/2010/main" val="214679052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FB64AE5-077E-4657-BE8E-7124F2B6A3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3310CE-6B6B-41AF-9208-E08CA9343AB3}"/>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효율성은 성공률과 비용을 함께 본다</a:t>
            </a:r>
          </a:p>
        </p:txBody>
      </p:sp>
      <p:sp>
        <p:nvSpPr>
          <p:cNvPr id="3" name="">
            <a:extLst xmlns:a="http://schemas.openxmlformats.org/drawingml/2006/main">
              <a:ext uri="{FF2B5EF4-FFF2-40B4-BE49-F238E27FC236}">
                <a16:creationId xmlns:a16="http://schemas.microsoft.com/office/drawing/2014/main" id="{7AC3CCBB-8713-4983-B968-854CF5C72FCE}"/>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12</a:t>
            </a:r>
          </a:p>
        </p:txBody>
      </p:sp>
      <p:sp>
        <p:nvSpPr>
          <p:cNvPr id="4" name="">
            <a:extLst xmlns:a="http://schemas.openxmlformats.org/drawingml/2006/main">
              <a:ext uri="{FF2B5EF4-FFF2-40B4-BE49-F238E27FC236}">
                <a16:creationId xmlns:a16="http://schemas.microsoft.com/office/drawing/2014/main" id="{8671EA11-ABD0-47CF-9343-8EA7CB78ACD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D8A80F71-1B2C-422A-A49E-4A17D047CF51}"/>
              </a:ext>
            </a:extLst>
          </p:cNvPr>
          <p:cNvSpPr>
            <a:spLocks xmlns:a="http://schemas.openxmlformats.org/drawingml/2006/main" noGrp="1"/>
          </p:cNvSpPr>
          <p:nvPr/>
        </p:nvSpPr>
        <p:spPr>
          <a:xfrm xmlns:a="http://schemas.openxmlformats.org/drawingml/2006/main">
            <a:off x="742950" y="13811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A6475"/>
                </a:solidFill>
                <a:latin typeface="NanumGothic"/>
                <a:ea typeface="NanumGothic"/>
                <a:cs typeface="NanumGothic"/>
              </a:defRPr>
            </a:pPr>
            <a:r>
              <a:rPr sz="1425" b="1">
                <a:solidFill>
                  <a:srgbClr val="5A6475"/>
                </a:solidFill>
                <a:latin typeface="NanumGothic"/>
                <a:ea typeface="NanumGothic"/>
                <a:cs typeface="NanumGothic"/>
              </a:rPr>
              <a:t>현재 수집</a:t>
            </a:r>
          </a:p>
        </p:txBody>
      </p:sp>
      <p:sp>
        <p:nvSpPr>
          <p:cNvPr id="6" name="">
            <a:extLst xmlns:a="http://schemas.openxmlformats.org/drawingml/2006/main">
              <a:ext uri="{FF2B5EF4-FFF2-40B4-BE49-F238E27FC236}">
                <a16:creationId xmlns:a16="http://schemas.microsoft.com/office/drawing/2014/main" id="{EA95142B-D705-4C0E-83C2-BD201DFE4360}"/>
              </a:ext>
            </a:extLst>
          </p:cNvPr>
          <p:cNvSpPr>
            <a:spLocks xmlns:a="http://schemas.openxmlformats.org/drawingml/2006/main" noGrp="1"/>
          </p:cNvSpPr>
          <p:nvPr/>
        </p:nvSpPr>
        <p:spPr>
          <a:xfrm xmlns:a="http://schemas.openxmlformats.org/drawingml/2006/main">
            <a:off x="742950" y="1809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A68"/>
                </a:solidFill>
                <a:latin typeface="NanumGothic"/>
                <a:ea typeface="NanumGothic"/>
                <a:cs typeface="NanumGothic"/>
              </a:defRPr>
            </a:pPr>
            <a:r>
              <a:rPr sz="3150" b="1">
                <a:solidFill>
                  <a:srgbClr val="173A68"/>
                </a:solidFill>
                <a:latin typeface="NanumGothic"/>
                <a:ea typeface="NanumGothic"/>
                <a:cs typeface="NanumGothic"/>
              </a:rPr>
              <a:t>70 / 120 셀</a:t>
            </a:r>
          </a:p>
        </p:txBody>
      </p:sp>
      <p:sp>
        <p:nvSpPr>
          <p:cNvPr id="7" name="">
            <a:extLst xmlns:a="http://schemas.openxmlformats.org/drawingml/2006/main">
              <a:ext uri="{FF2B5EF4-FFF2-40B4-BE49-F238E27FC236}">
                <a16:creationId xmlns:a16="http://schemas.microsoft.com/office/drawing/2014/main" id="{A2E3EB25-F554-444D-91EF-A2BEA0A98A3D}"/>
              </a:ext>
            </a:extLst>
          </p:cNvPr>
          <p:cNvSpPr>
            <a:spLocks xmlns:a="http://schemas.openxmlformats.org/drawingml/2006/main" noGrp="1"/>
          </p:cNvSpPr>
          <p:nvPr/>
        </p:nvSpPr>
        <p:spPr>
          <a:xfrm xmlns:a="http://schemas.openxmlformats.org/drawingml/2006/main">
            <a:off x="742950" y="2524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A8C4"/>
                </a:solidFill>
                <a:latin typeface="NanumGothic"/>
                <a:ea typeface="NanumGothic"/>
                <a:cs typeface="NanumGothic"/>
              </a:defRPr>
            </a:pPr>
            <a:r>
              <a:rPr sz="1500" b="1">
                <a:solidFill>
                  <a:srgbClr val="14A8C4"/>
                </a:solidFill>
                <a:latin typeface="NanumGothic"/>
                <a:ea typeface="NanumGothic"/>
                <a:cs typeface="NanumGothic"/>
              </a:rPr>
              <a:t>58.3% 수집 완료</a:t>
            </a:r>
          </a:p>
        </p:txBody>
      </p:sp>
      <p:sp>
        <p:nvSpPr>
          <p:cNvPr id="8" name="">
            <a:extLst xmlns:a="http://schemas.openxmlformats.org/drawingml/2006/main">
              <a:ext uri="{FF2B5EF4-FFF2-40B4-BE49-F238E27FC236}">
                <a16:creationId xmlns:a16="http://schemas.microsoft.com/office/drawing/2014/main" id="{52491517-9618-44AB-9861-F311A20DBACF}"/>
              </a:ext>
            </a:extLst>
          </p:cNvPr>
          <p:cNvSpPr>
            <a:spLocks xmlns:a="http://schemas.openxmlformats.org/drawingml/2006/main" noGrp="1"/>
          </p:cNvSpPr>
          <p:nvPr/>
        </p:nvSpPr>
        <p:spPr>
          <a:xfrm xmlns:a="http://schemas.openxmlformats.org/drawingml/2006/main">
            <a:off x="742950" y="3095625"/>
            <a:ext cx="4191000" cy="266700"/>
          </a:xfrm>
          <a:prstGeom xmlns:a="http://schemas.openxmlformats.org/drawingml/2006/main" prst="roundRect">
            <a:avLst>
              <a:gd name="adj" fmla="val 50000"/>
            </a:avLst>
          </a:prstGeom>
          <a:solidFill xmlns:a="http://schemas.openxmlformats.org/drawingml/2006/main">
            <a:srgbClr val="E5EAF0"/>
          </a:solidFill>
          <a:ln xmlns:a="http://schemas.openxmlformats.org/drawingml/2006/main" w="9525">
            <a:solidFill>
              <a:srgbClr val="E5EAF0"/>
            </a:solidFill>
            <a:prstDash val="solid"/>
          </a:ln>
        </p:spPr>
      </p:sp>
      <p:sp>
        <p:nvSpPr>
          <p:cNvPr id="9" name="">
            <a:extLst xmlns:a="http://schemas.openxmlformats.org/drawingml/2006/main">
              <a:ext uri="{FF2B5EF4-FFF2-40B4-BE49-F238E27FC236}">
                <a16:creationId xmlns:a16="http://schemas.microsoft.com/office/drawing/2014/main" id="{7065A285-5D43-45DD-9967-1330B83C9A4F}"/>
              </a:ext>
            </a:extLst>
          </p:cNvPr>
          <p:cNvSpPr>
            <a:spLocks xmlns:a="http://schemas.openxmlformats.org/drawingml/2006/main" noGrp="1"/>
          </p:cNvSpPr>
          <p:nvPr/>
        </p:nvSpPr>
        <p:spPr>
          <a:xfrm xmlns:a="http://schemas.openxmlformats.org/drawingml/2006/main">
            <a:off x="742950" y="3095625"/>
            <a:ext cx="2447925" cy="26670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10" name="">
            <a:extLst xmlns:a="http://schemas.openxmlformats.org/drawingml/2006/main">
              <a:ext uri="{FF2B5EF4-FFF2-40B4-BE49-F238E27FC236}">
                <a16:creationId xmlns:a16="http://schemas.microsoft.com/office/drawing/2014/main" id="{2EF683C2-0E06-4DE9-9291-F1BD69824BEA}"/>
              </a:ext>
            </a:extLst>
          </p:cNvPr>
          <p:cNvSpPr>
            <a:spLocks xmlns:a="http://schemas.openxmlformats.org/drawingml/2006/main" noGrp="1"/>
          </p:cNvSpPr>
          <p:nvPr/>
        </p:nvSpPr>
        <p:spPr>
          <a:xfrm xmlns:a="http://schemas.openxmlformats.org/drawingml/2006/main">
            <a:off x="742950" y="35433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현재 PC에서 가능한 70셀 완료</a:t>
            </a:r>
          </a:p>
        </p:txBody>
      </p:sp>
      <p:sp>
        <p:nvSpPr>
          <p:cNvPr id="11" name="">
            <a:extLst xmlns:a="http://schemas.openxmlformats.org/drawingml/2006/main">
              <a:ext uri="{FF2B5EF4-FFF2-40B4-BE49-F238E27FC236}">
                <a16:creationId xmlns:a16="http://schemas.microsoft.com/office/drawing/2014/main" id="{C1D7DECE-441D-4D4D-A35B-8940C289C1F9}"/>
              </a:ext>
            </a:extLst>
          </p:cNvPr>
          <p:cNvSpPr>
            <a:spLocks xmlns:a="http://schemas.openxmlformats.org/drawingml/2006/main" noGrp="1"/>
          </p:cNvSpPr>
          <p:nvPr/>
        </p:nvSpPr>
        <p:spPr>
          <a:xfrm xmlns:a="http://schemas.openxmlformats.org/drawingml/2006/main">
            <a:off x="742950" y="39052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45757"/>
                </a:solidFill>
                <a:latin typeface="NanumGothic"/>
                <a:ea typeface="NanumGothic"/>
                <a:cs typeface="NanumGothic"/>
              </a:defRPr>
            </a:pPr>
            <a:r>
              <a:rPr sz="1350" b="0">
                <a:solidFill>
                  <a:srgbClr val="E45757"/>
                </a:solidFill>
                <a:latin typeface="NanumGothic"/>
                <a:ea typeface="NanumGothic"/>
                <a:cs typeface="NanumGothic"/>
              </a:rPr>
              <a:t>snapshot VM이 필요한 50셀은 남아 있음</a:t>
            </a:r>
          </a:p>
        </p:txBody>
      </p:sp>
      <p:sp>
        <p:nvSpPr>
          <p:cNvPr id="12" name="">
            <a:extLst xmlns:a="http://schemas.openxmlformats.org/drawingml/2006/main">
              <a:ext uri="{FF2B5EF4-FFF2-40B4-BE49-F238E27FC236}">
                <a16:creationId xmlns:a16="http://schemas.microsoft.com/office/drawing/2014/main" id="{C63A5F09-8E91-4776-A39B-24B81139814E}"/>
              </a:ext>
            </a:extLst>
          </p:cNvPr>
          <p:cNvSpPr>
            <a:spLocks xmlns:a="http://schemas.openxmlformats.org/drawingml/2006/main" noGrp="1"/>
          </p:cNvSpPr>
          <p:nvPr/>
        </p:nvSpPr>
        <p:spPr>
          <a:xfrm xmlns:a="http://schemas.openxmlformats.org/drawingml/2006/main">
            <a:off x="5572125" y="1381125"/>
            <a:ext cx="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861333C6-A54F-44D6-8739-30913BBF9292}"/>
              </a:ext>
            </a:extLst>
          </p:cNvPr>
          <p:cNvSpPr>
            <a:spLocks xmlns:a="http://schemas.openxmlformats.org/drawingml/2006/main" noGrp="1"/>
          </p:cNvSpPr>
          <p:nvPr/>
        </p:nvSpPr>
        <p:spPr>
          <a:xfrm xmlns:a="http://schemas.openxmlformats.org/drawingml/2006/main">
            <a:off x="619125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효율성 판단식</a:t>
            </a:r>
          </a:p>
        </p:txBody>
      </p:sp>
      <p:sp>
        <p:nvSpPr>
          <p:cNvPr id="14" name="">
            <a:extLst xmlns:a="http://schemas.openxmlformats.org/drawingml/2006/main">
              <a:ext uri="{FF2B5EF4-FFF2-40B4-BE49-F238E27FC236}">
                <a16:creationId xmlns:a16="http://schemas.microsoft.com/office/drawing/2014/main" id="{BF1338F8-4851-4539-BE3D-C84FB85E1EDB}"/>
              </a:ext>
            </a:extLst>
          </p:cNvPr>
          <p:cNvSpPr>
            <a:spLocks xmlns:a="http://schemas.openxmlformats.org/drawingml/2006/main" noGrp="1"/>
          </p:cNvSpPr>
          <p:nvPr/>
        </p:nvSpPr>
        <p:spPr>
          <a:xfrm xmlns:a="http://schemas.openxmlformats.org/drawingml/2006/main">
            <a:off x="619125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검증된 작업 성공</a:t>
            </a:r>
          </a:p>
        </p:txBody>
      </p:sp>
      <p:sp>
        <p:nvSpPr>
          <p:cNvPr id="15" name="">
            <a:extLst xmlns:a="http://schemas.openxmlformats.org/drawingml/2006/main">
              <a:ext uri="{FF2B5EF4-FFF2-40B4-BE49-F238E27FC236}">
                <a16:creationId xmlns:a16="http://schemas.microsoft.com/office/drawing/2014/main" id="{2CFF2BD4-CF61-48C1-8823-19C167C75B54}"/>
              </a:ext>
            </a:extLst>
          </p:cNvPr>
          <p:cNvSpPr>
            <a:spLocks xmlns:a="http://schemas.openxmlformats.org/drawingml/2006/main" noGrp="1"/>
          </p:cNvSpPr>
          <p:nvPr/>
        </p:nvSpPr>
        <p:spPr>
          <a:xfrm xmlns:a="http://schemas.openxmlformats.org/drawingml/2006/main">
            <a:off x="6191250" y="2457450"/>
            <a:ext cx="3143250" cy="0"/>
          </a:xfrm>
          <a:prstGeom xmlns:a="http://schemas.openxmlformats.org/drawingml/2006/main" prst="line">
            <a:avLst/>
          </a:prstGeom>
          <a:noFill xmlns:a="http://schemas.openxmlformats.org/drawingml/2006/main"/>
          <a:ln xmlns:a="http://schemas.openxmlformats.org/drawingml/2006/main" w="19050">
            <a:solidFill>
              <a:srgbClr val="172033"/>
            </a:solidFill>
            <a:prstDash val="solid"/>
          </a:ln>
        </p:spPr>
      </p:sp>
      <p:sp>
        <p:nvSpPr>
          <p:cNvPr id="16" name="">
            <a:extLst xmlns:a="http://schemas.openxmlformats.org/drawingml/2006/main">
              <a:ext uri="{FF2B5EF4-FFF2-40B4-BE49-F238E27FC236}">
                <a16:creationId xmlns:a16="http://schemas.microsoft.com/office/drawing/2014/main" id="{28E764BD-A76C-4004-AE91-63E9AFD3D25A}"/>
              </a:ext>
            </a:extLst>
          </p:cNvPr>
          <p:cNvSpPr>
            <a:spLocks xmlns:a="http://schemas.openxmlformats.org/drawingml/2006/main" noGrp="1"/>
          </p:cNvSpPr>
          <p:nvPr/>
        </p:nvSpPr>
        <p:spPr>
          <a:xfrm xmlns:a="http://schemas.openxmlformats.org/drawingml/2006/main">
            <a:off x="619125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anumGothic"/>
                <a:ea typeface="NanumGothic"/>
                <a:cs typeface="NanumGothic"/>
              </a:defRPr>
            </a:pPr>
            <a:r>
              <a:rPr sz="1650" b="0">
                <a:solidFill>
                  <a:srgbClr val="172033"/>
                </a:solidFill>
                <a:latin typeface="NanumGothic"/>
                <a:ea typeface="NanumGothic"/>
                <a:cs typeface="NanumGothic"/>
              </a:rPr>
              <a:t>시간 + 모델 호출 + 사용자 확인</a:t>
            </a:r>
          </a:p>
        </p:txBody>
      </p:sp>
      <p:sp>
        <p:nvSpPr>
          <p:cNvPr id="17" name="">
            <a:extLst xmlns:a="http://schemas.openxmlformats.org/drawingml/2006/main">
              <a:ext uri="{FF2B5EF4-FFF2-40B4-BE49-F238E27FC236}">
                <a16:creationId xmlns:a16="http://schemas.microsoft.com/office/drawing/2014/main" id="{720BFCC3-2B29-4DCE-983C-06AA153850F6}"/>
              </a:ext>
            </a:extLst>
          </p:cNvPr>
          <p:cNvSpPr>
            <a:spLocks xmlns:a="http://schemas.openxmlformats.org/drawingml/2006/main" noGrp="1"/>
          </p:cNvSpPr>
          <p:nvPr/>
        </p:nvSpPr>
        <p:spPr>
          <a:xfrm xmlns:a="http://schemas.openxmlformats.org/drawingml/2006/main">
            <a:off x="6191250" y="3524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1A66B"/>
                </a:solidFill>
                <a:latin typeface="NanumGothic"/>
                <a:ea typeface="NanumGothic"/>
                <a:cs typeface="NanumGothic"/>
              </a:defRPr>
            </a:pPr>
            <a:r>
              <a:rPr sz="1500" b="1">
                <a:solidFill>
                  <a:srgbClr val="21A66B"/>
                </a:solidFill>
                <a:latin typeface="NanumGothic"/>
                <a:ea typeface="NanumGothic"/>
                <a:cs typeface="NanumGothic"/>
              </a:rPr>
              <a:t>P2의 예상 효과</a:t>
            </a:r>
          </a:p>
        </p:txBody>
      </p:sp>
      <p:sp>
        <p:nvSpPr>
          <p:cNvPr id="18" name="">
            <a:extLst xmlns:a="http://schemas.openxmlformats.org/drawingml/2006/main">
              <a:ext uri="{FF2B5EF4-FFF2-40B4-BE49-F238E27FC236}">
                <a16:creationId xmlns:a16="http://schemas.microsoft.com/office/drawing/2014/main" id="{B977A83C-45B1-4476-B75E-36A2AA747484}"/>
              </a:ext>
            </a:extLst>
          </p:cNvPr>
          <p:cNvSpPr>
            <a:spLocks xmlns:a="http://schemas.openxmlformats.org/drawingml/2006/main" noGrp="1"/>
          </p:cNvSpPr>
          <p:nvPr/>
        </p:nvSpPr>
        <p:spPr>
          <a:xfrm xmlns:a="http://schemas.openxmlformats.org/drawingml/2006/main">
            <a:off x="6191250" y="3952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오실행·거짓 성공 감소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일부 실패 복구</a:t>
            </a:r>
          </a:p>
        </p:txBody>
      </p:sp>
      <p:sp>
        <p:nvSpPr>
          <p:cNvPr id="19" name="">
            <a:extLst xmlns:a="http://schemas.openxmlformats.org/drawingml/2006/main">
              <a:ext uri="{FF2B5EF4-FFF2-40B4-BE49-F238E27FC236}">
                <a16:creationId xmlns:a16="http://schemas.microsoft.com/office/drawing/2014/main" id="{F60B4A52-C1B2-459E-92A0-A0A51847FFB5}"/>
              </a:ext>
            </a:extLst>
          </p:cNvPr>
          <p:cNvSpPr>
            <a:spLocks xmlns:a="http://schemas.openxmlformats.org/drawingml/2006/main" noGrp="1"/>
          </p:cNvSpPr>
          <p:nvPr/>
        </p:nvSpPr>
        <p:spPr>
          <a:xfrm xmlns:a="http://schemas.openxmlformats.org/drawingml/2006/main">
            <a:off x="9429750" y="3524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2A72A"/>
                </a:solidFill>
                <a:latin typeface="NanumGothic"/>
                <a:ea typeface="NanumGothic"/>
                <a:cs typeface="NanumGothic"/>
              </a:defRPr>
            </a:pPr>
            <a:r>
              <a:rPr sz="1500" b="1">
                <a:solidFill>
                  <a:srgbClr val="F2A72A"/>
                </a:solidFill>
                <a:latin typeface="NanumGothic"/>
                <a:ea typeface="NanumGothic"/>
                <a:cs typeface="NanumGothic"/>
              </a:rPr>
              <a:t>예상 비용</a:t>
            </a:r>
          </a:p>
        </p:txBody>
      </p:sp>
      <p:sp>
        <p:nvSpPr>
          <p:cNvPr id="20" name="">
            <a:extLst xmlns:a="http://schemas.openxmlformats.org/drawingml/2006/main">
              <a:ext uri="{FF2B5EF4-FFF2-40B4-BE49-F238E27FC236}">
                <a16:creationId xmlns:a16="http://schemas.microsoft.com/office/drawing/2014/main" id="{E4BB618E-9FB6-4A14-9074-AB7A8C811E91}"/>
              </a:ext>
            </a:extLst>
          </p:cNvPr>
          <p:cNvSpPr>
            <a:spLocks xmlns:a="http://schemas.openxmlformats.org/drawingml/2006/main" noGrp="1"/>
          </p:cNvSpPr>
          <p:nvPr/>
        </p:nvSpPr>
        <p:spPr>
          <a:xfrm xmlns:a="http://schemas.openxmlformats.org/drawingml/2006/main">
            <a:off x="9429750" y="395287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추가 관찰·검증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지연시간 증가</a:t>
            </a:r>
          </a:p>
        </p:txBody>
      </p:sp>
      <p:sp>
        <p:nvSpPr>
          <p:cNvPr id="21" name="">
            <a:extLst xmlns:a="http://schemas.openxmlformats.org/drawingml/2006/main">
              <a:ext uri="{FF2B5EF4-FFF2-40B4-BE49-F238E27FC236}">
                <a16:creationId xmlns:a16="http://schemas.microsoft.com/office/drawing/2014/main" id="{744E0828-704D-4DC7-B6B2-C55F46695AD1}"/>
              </a:ext>
            </a:extLst>
          </p:cNvPr>
          <p:cNvSpPr>
            <a:spLocks xmlns:a="http://schemas.openxmlformats.org/drawingml/2006/main" noGrp="1"/>
          </p:cNvSpPr>
          <p:nvPr/>
        </p:nvSpPr>
        <p:spPr>
          <a:xfrm xmlns:a="http://schemas.openxmlformats.org/drawingml/2006/main">
            <a:off x="742950" y="56673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57"/>
                </a:solidFill>
                <a:latin typeface="NanumGothic"/>
                <a:ea typeface="NanumGothic"/>
                <a:cs typeface="NanumGothic"/>
              </a:defRPr>
            </a:pPr>
            <a:r>
              <a:rPr sz="1500" b="1">
                <a:solidFill>
                  <a:srgbClr val="E45757"/>
                </a:solidFill>
                <a:latin typeface="NanumGothic"/>
                <a:ea typeface="NanumGothic"/>
                <a:cs typeface="NanumGothic"/>
              </a:rPr>
              <a:t>현재 단계에서는 기존 에이전트보다 몇 % 효율적이라고 주장하지 않는다. 완전한 paired 실험 뒤 계산한다.</a:t>
            </a:r>
          </a:p>
        </p:txBody>
      </p:sp>
    </p:spTree>
    <p:extLst>
      <p:ext uri="{BB962C8B-B14F-4D97-AF65-F5344CB8AC3E}">
        <p14:creationId xmlns:p14="http://schemas.microsoft.com/office/powerpoint/2010/main" val="208877657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3AF8A3-CB95-4A4D-8DC2-3222BA3391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B68C7A-6C3F-4170-8486-6425E15FB069}"/>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구현과 남은 검증</a:t>
            </a:r>
          </a:p>
        </p:txBody>
      </p:sp>
      <p:sp>
        <p:nvSpPr>
          <p:cNvPr id="3" name="">
            <a:extLst xmlns:a="http://schemas.openxmlformats.org/drawingml/2006/main">
              <a:ext uri="{FF2B5EF4-FFF2-40B4-BE49-F238E27FC236}">
                <a16:creationId xmlns:a16="http://schemas.microsoft.com/office/drawing/2014/main" id="{6245210C-36CC-49B2-A4B0-75287E0B6239}"/>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13</a:t>
            </a:r>
          </a:p>
        </p:txBody>
      </p:sp>
      <p:sp>
        <p:nvSpPr>
          <p:cNvPr id="4" name="">
            <a:extLst xmlns:a="http://schemas.openxmlformats.org/drawingml/2006/main">
              <a:ext uri="{FF2B5EF4-FFF2-40B4-BE49-F238E27FC236}">
                <a16:creationId xmlns:a16="http://schemas.microsoft.com/office/drawing/2014/main" id="{4590C231-AEFC-4E77-A183-2A1DC3B6AF6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7A78568B-4818-4419-BCA9-CDD669625138}"/>
              </a:ext>
            </a:extLst>
          </p:cNvPr>
          <p:cNvSpPr>
            <a:spLocks xmlns:a="http://schemas.openxmlformats.org/drawingml/2006/main" noGrp="1"/>
          </p:cNvSpPr>
          <p:nvPr/>
        </p:nvSpPr>
        <p:spPr>
          <a:xfrm xmlns:a="http://schemas.openxmlformats.org/drawingml/2006/main">
            <a:off x="72390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A66B"/>
                </a:solidFill>
                <a:latin typeface="NanumGothic"/>
                <a:ea typeface="NanumGothic"/>
                <a:cs typeface="NanumGothic"/>
              </a:defRPr>
            </a:pPr>
            <a:r>
              <a:rPr sz="1725" b="1">
                <a:solidFill>
                  <a:srgbClr val="21A66B"/>
                </a:solidFill>
                <a:latin typeface="NanumGothic"/>
                <a:ea typeface="NanumGothic"/>
                <a:cs typeface="NanumGothic"/>
              </a:rPr>
              <a:t>구현된 범위</a:t>
            </a:r>
          </a:p>
        </p:txBody>
      </p:sp>
      <p:sp>
        <p:nvSpPr>
          <p:cNvPr id="6" name="">
            <a:extLst xmlns:a="http://schemas.openxmlformats.org/drawingml/2006/main">
              <a:ext uri="{FF2B5EF4-FFF2-40B4-BE49-F238E27FC236}">
                <a16:creationId xmlns:a16="http://schemas.microsoft.com/office/drawing/2014/main" id="{56E4995B-726E-41B0-986C-4E4B789B0725}"/>
              </a:ext>
            </a:extLst>
          </p:cNvPr>
          <p:cNvSpPr>
            <a:spLocks xmlns:a="http://schemas.openxmlformats.org/drawingml/2006/main" noGrp="1"/>
          </p:cNvSpPr>
          <p:nvPr/>
        </p:nvSpPr>
        <p:spPr>
          <a:xfrm xmlns:a="http://schemas.openxmlformats.org/drawingml/2006/main">
            <a:off x="72390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13개 제한된 Windows 기능</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구조화된 계획과 위험 정책</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정확한 행동에 묶인 승인 토큰</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실행 후 독립 검증과 감사 로그</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로컬 중단, 기억 검색, 배포 패키지</a:t>
            </a:r>
          </a:p>
        </p:txBody>
      </p:sp>
      <p:sp>
        <p:nvSpPr>
          <p:cNvPr id="7" name="">
            <a:extLst xmlns:a="http://schemas.openxmlformats.org/drawingml/2006/main">
              <a:ext uri="{FF2B5EF4-FFF2-40B4-BE49-F238E27FC236}">
                <a16:creationId xmlns:a16="http://schemas.microsoft.com/office/drawing/2014/main" id="{60AC7FD2-22AC-463D-8C1E-6145992B7034}"/>
              </a:ext>
            </a:extLst>
          </p:cNvPr>
          <p:cNvSpPr>
            <a:spLocks xmlns:a="http://schemas.openxmlformats.org/drawingml/2006/main" noGrp="1"/>
          </p:cNvSpPr>
          <p:nvPr/>
        </p:nvSpPr>
        <p:spPr>
          <a:xfrm xmlns:a="http://schemas.openxmlformats.org/drawingml/2006/main">
            <a:off x="619125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3A68"/>
                </a:solidFill>
                <a:latin typeface="NanumGothic"/>
                <a:ea typeface="NanumGothic"/>
                <a:cs typeface="NanumGothic"/>
              </a:defRPr>
            </a:pPr>
            <a:r>
              <a:rPr sz="1725" b="1">
                <a:solidFill>
                  <a:srgbClr val="173A68"/>
                </a:solidFill>
                <a:latin typeface="NanumGothic"/>
                <a:ea typeface="NanumGothic"/>
                <a:cs typeface="NanumGothic"/>
              </a:rPr>
              <a:t>확인된 증거</a:t>
            </a:r>
          </a:p>
        </p:txBody>
      </p:sp>
      <p:sp>
        <p:nvSpPr>
          <p:cNvPr id="8" name="">
            <a:extLst xmlns:a="http://schemas.openxmlformats.org/drawingml/2006/main">
              <a:ext uri="{FF2B5EF4-FFF2-40B4-BE49-F238E27FC236}">
                <a16:creationId xmlns:a16="http://schemas.microsoft.com/office/drawing/2014/main" id="{69815C8F-BDC4-43AF-B0A6-2E6FDF4AD7B8}"/>
              </a:ext>
            </a:extLst>
          </p:cNvPr>
          <p:cNvSpPr>
            <a:spLocks xmlns:a="http://schemas.openxmlformats.org/drawingml/2006/main" noGrp="1"/>
          </p:cNvSpPr>
          <p:nvPr/>
        </p:nvSpPr>
        <p:spPr>
          <a:xfrm xmlns:a="http://schemas.openxmlformats.org/drawingml/2006/main">
            <a:off x="619125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전체 회귀 762 통과, 3 건너뜀</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코드 줄 기준 시험 범위 83%</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시스템 점검 15/15 통과</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제품 서비스 13개 기능 조립 성공</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 벤치마크 70/120 셀 수집</a:t>
            </a:r>
          </a:p>
        </p:txBody>
      </p:sp>
      <p:sp>
        <p:nvSpPr>
          <p:cNvPr id="9" name="">
            <a:extLst xmlns:a="http://schemas.openxmlformats.org/drawingml/2006/main">
              <a:ext uri="{FF2B5EF4-FFF2-40B4-BE49-F238E27FC236}">
                <a16:creationId xmlns:a16="http://schemas.microsoft.com/office/drawing/2014/main" id="{486F0E7D-0318-41D3-800D-CD521E817C16}"/>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A9CA64E9-E289-4C16-95E2-09F0C6A16FE1}"/>
              </a:ext>
            </a:extLst>
          </p:cNvPr>
          <p:cNvSpPr>
            <a:spLocks xmlns:a="http://schemas.openxmlformats.org/drawingml/2006/main" noGrp="1"/>
          </p:cNvSpPr>
          <p:nvPr/>
        </p:nvSpPr>
        <p:spPr>
          <a:xfrm xmlns:a="http://schemas.openxmlformats.org/drawingml/2006/main">
            <a:off x="723900" y="5238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남은 외부 증거</a:t>
            </a:r>
          </a:p>
        </p:txBody>
      </p:sp>
      <p:sp>
        <p:nvSpPr>
          <p:cNvPr id="11" name="">
            <a:extLst xmlns:a="http://schemas.openxmlformats.org/drawingml/2006/main">
              <a:ext uri="{FF2B5EF4-FFF2-40B4-BE49-F238E27FC236}">
                <a16:creationId xmlns:a16="http://schemas.microsoft.com/office/drawing/2014/main" id="{C06642E9-8E4B-4E5C-8700-88A61B4D81A5}"/>
              </a:ext>
            </a:extLst>
          </p:cNvPr>
          <p:cNvSpPr>
            <a:spLocks xmlns:a="http://schemas.openxmlformats.org/drawingml/2006/main" noGrp="1"/>
          </p:cNvSpPr>
          <p:nvPr/>
        </p:nvSpPr>
        <p:spPr>
          <a:xfrm xmlns:a="http://schemas.openxmlformats.org/drawingml/2006/main">
            <a:off x="2857500" y="51911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snapshot VM 50셀 · 코드 서명 인증서 · 실제 음성/Windows Hello · 참가자 연구</a:t>
            </a:r>
          </a:p>
        </p:txBody>
      </p:sp>
      <p:sp>
        <p:nvSpPr>
          <p:cNvPr id="12" name="">
            <a:extLst xmlns:a="http://schemas.openxmlformats.org/drawingml/2006/main">
              <a:ext uri="{FF2B5EF4-FFF2-40B4-BE49-F238E27FC236}">
                <a16:creationId xmlns:a16="http://schemas.microsoft.com/office/drawing/2014/main" id="{E96A3FDF-0ADD-4586-A355-5764F35EC45E}"/>
              </a:ext>
            </a:extLst>
          </p:cNvPr>
          <p:cNvSpPr>
            <a:spLocks xmlns:a="http://schemas.openxmlformats.org/drawingml/2006/main" noGrp="1"/>
          </p:cNvSpPr>
          <p:nvPr/>
        </p:nvSpPr>
        <p:spPr>
          <a:xfrm xmlns:a="http://schemas.openxmlformats.org/drawingml/2006/main">
            <a:off x="7239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현재 결과물은 강한 안전 제어 시제품이다. 논문 결론은 남은 실험을 마친 뒤 확정한다.</a:t>
            </a:r>
          </a:p>
        </p:txBody>
      </p:sp>
    </p:spTree>
    <p:extLst>
      <p:ext uri="{BB962C8B-B14F-4D97-AF65-F5344CB8AC3E}">
        <p14:creationId xmlns:p14="http://schemas.microsoft.com/office/powerpoint/2010/main" val="4383002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C9D6F35-A766-4FAC-B12B-27AFE8C16F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967B50-252C-46F6-A004-05BC17FB31DA}"/>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교수님 예상 질문과 답변</a:t>
            </a:r>
          </a:p>
        </p:txBody>
      </p:sp>
      <p:sp>
        <p:nvSpPr>
          <p:cNvPr id="3" name="">
            <a:extLst xmlns:a="http://schemas.openxmlformats.org/drawingml/2006/main">
              <a:ext uri="{FF2B5EF4-FFF2-40B4-BE49-F238E27FC236}">
                <a16:creationId xmlns:a16="http://schemas.microsoft.com/office/drawing/2014/main" id="{600440B8-271B-462F-827C-F10E457A423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14</a:t>
            </a:r>
          </a:p>
        </p:txBody>
      </p:sp>
      <p:sp>
        <p:nvSpPr>
          <p:cNvPr id="4" name="">
            <a:extLst xmlns:a="http://schemas.openxmlformats.org/drawingml/2006/main">
              <a:ext uri="{FF2B5EF4-FFF2-40B4-BE49-F238E27FC236}">
                <a16:creationId xmlns:a16="http://schemas.microsoft.com/office/drawing/2014/main" id="{C27BD247-EB6C-427F-BBEA-C058D0B6C92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38D58BA9-F499-4611-9DB6-B2919018CA23}"/>
              </a:ext>
            </a:extLst>
          </p:cNvPr>
          <p:cNvSpPr>
            <a:spLocks xmlns:a="http://schemas.openxmlformats.org/drawingml/2006/main" noGrp="1"/>
          </p:cNvSpPr>
          <p:nvPr/>
        </p:nvSpPr>
        <p:spPr>
          <a:xfrm xmlns:a="http://schemas.openxmlformats.org/drawingml/2006/main">
            <a:off x="704850" y="1285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Q1</a:t>
            </a:r>
          </a:p>
        </p:txBody>
      </p:sp>
      <p:sp>
        <p:nvSpPr>
          <p:cNvPr id="6" name="">
            <a:extLst xmlns:a="http://schemas.openxmlformats.org/drawingml/2006/main">
              <a:ext uri="{FF2B5EF4-FFF2-40B4-BE49-F238E27FC236}">
                <a16:creationId xmlns:a16="http://schemas.microsoft.com/office/drawing/2014/main" id="{2E151E45-CD52-4C25-812B-D4FC2ABDF68E}"/>
              </a:ext>
            </a:extLst>
          </p:cNvPr>
          <p:cNvSpPr>
            <a:spLocks xmlns:a="http://schemas.openxmlformats.org/drawingml/2006/main" noGrp="1"/>
          </p:cNvSpPr>
          <p:nvPr/>
        </p:nvSpPr>
        <p:spPr>
          <a:xfrm xmlns:a="http://schemas.openxmlformats.org/drawingml/2006/main">
            <a:off x="1238250" y="1238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정확히 무엇을 만들었나?</a:t>
            </a:r>
          </a:p>
        </p:txBody>
      </p:sp>
      <p:sp>
        <p:nvSpPr>
          <p:cNvPr id="7" name="">
            <a:extLst xmlns:a="http://schemas.openxmlformats.org/drawingml/2006/main">
              <a:ext uri="{FF2B5EF4-FFF2-40B4-BE49-F238E27FC236}">
                <a16:creationId xmlns:a16="http://schemas.microsoft.com/office/drawing/2014/main" id="{0632C3C6-A5C2-4F85-9B1A-43860638D5C0}"/>
              </a:ext>
            </a:extLst>
          </p:cNvPr>
          <p:cNvSpPr>
            <a:spLocks xmlns:a="http://schemas.openxmlformats.org/drawingml/2006/main" noGrp="1"/>
          </p:cNvSpPr>
          <p:nvPr/>
        </p:nvSpPr>
        <p:spPr>
          <a:xfrm xmlns:a="http://schemas.openxmlformats.org/drawingml/2006/main">
            <a:off x="4714875" y="1238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LLM이 제안한 Windows 행동을 의도·위험·승인·독립 검증으로 통제하는 음성 작업 에이전트입니다.</a:t>
            </a:r>
          </a:p>
        </p:txBody>
      </p:sp>
      <p:sp>
        <p:nvSpPr>
          <p:cNvPr id="8" name="">
            <a:extLst xmlns:a="http://schemas.openxmlformats.org/drawingml/2006/main">
              <a:ext uri="{FF2B5EF4-FFF2-40B4-BE49-F238E27FC236}">
                <a16:creationId xmlns:a16="http://schemas.microsoft.com/office/drawing/2014/main" id="{E2F03A19-9F91-4FAC-A434-A753B753B73B}"/>
              </a:ext>
            </a:extLst>
          </p:cNvPr>
          <p:cNvSpPr>
            <a:spLocks xmlns:a="http://schemas.openxmlformats.org/drawingml/2006/main" noGrp="1"/>
          </p:cNvSpPr>
          <p:nvPr/>
        </p:nvSpPr>
        <p:spPr>
          <a:xfrm xmlns:a="http://schemas.openxmlformats.org/drawingml/2006/main">
            <a:off x="1238250" y="19050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9" name="">
            <a:extLst xmlns:a="http://schemas.openxmlformats.org/drawingml/2006/main">
              <a:ext uri="{FF2B5EF4-FFF2-40B4-BE49-F238E27FC236}">
                <a16:creationId xmlns:a16="http://schemas.microsoft.com/office/drawing/2014/main" id="{004E6E1C-6301-404C-B493-2ECA299C5B4E}"/>
              </a:ext>
            </a:extLst>
          </p:cNvPr>
          <p:cNvSpPr>
            <a:spLocks xmlns:a="http://schemas.openxmlformats.org/drawingml/2006/main" noGrp="1"/>
          </p:cNvSpPr>
          <p:nvPr/>
        </p:nvSpPr>
        <p:spPr>
          <a:xfrm xmlns:a="http://schemas.openxmlformats.org/drawingml/2006/main">
            <a:off x="704850" y="21240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Q2</a:t>
            </a:r>
          </a:p>
        </p:txBody>
      </p:sp>
      <p:sp>
        <p:nvSpPr>
          <p:cNvPr id="10" name="">
            <a:extLst xmlns:a="http://schemas.openxmlformats.org/drawingml/2006/main">
              <a:ext uri="{FF2B5EF4-FFF2-40B4-BE49-F238E27FC236}">
                <a16:creationId xmlns:a16="http://schemas.microsoft.com/office/drawing/2014/main" id="{7B9A35D5-6CAC-4E45-8D44-C366DB0756E6}"/>
              </a:ext>
            </a:extLst>
          </p:cNvPr>
          <p:cNvSpPr>
            <a:spLocks xmlns:a="http://schemas.openxmlformats.org/drawingml/2006/main" noGrp="1"/>
          </p:cNvSpPr>
          <p:nvPr/>
        </p:nvSpPr>
        <p:spPr>
          <a:xfrm xmlns:a="http://schemas.openxmlformats.org/drawingml/2006/main">
            <a:off x="1238250" y="20764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 PC 에이전트와 차이는?</a:t>
            </a:r>
          </a:p>
        </p:txBody>
      </p:sp>
      <p:sp>
        <p:nvSpPr>
          <p:cNvPr id="11" name="">
            <a:extLst xmlns:a="http://schemas.openxmlformats.org/drawingml/2006/main">
              <a:ext uri="{FF2B5EF4-FFF2-40B4-BE49-F238E27FC236}">
                <a16:creationId xmlns:a16="http://schemas.microsoft.com/office/drawing/2014/main" id="{6B5629EE-BF3A-4280-B6BA-A5F865311CF1}"/>
              </a:ext>
            </a:extLst>
          </p:cNvPr>
          <p:cNvSpPr>
            <a:spLocks xmlns:a="http://schemas.openxmlformats.org/drawingml/2006/main" noGrp="1"/>
          </p:cNvSpPr>
          <p:nvPr/>
        </p:nvSpPr>
        <p:spPr>
          <a:xfrm xmlns:a="http://schemas.openxmlformats.org/drawingml/2006/main">
            <a:off x="4714875" y="20764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PC 조작 범위보다 상시 음성 명령 판별과 제안·권한·완료 판정의 분리에 연구 초점을 둡니다.</a:t>
            </a:r>
          </a:p>
        </p:txBody>
      </p:sp>
      <p:sp>
        <p:nvSpPr>
          <p:cNvPr id="12" name="">
            <a:extLst xmlns:a="http://schemas.openxmlformats.org/drawingml/2006/main">
              <a:ext uri="{FF2B5EF4-FFF2-40B4-BE49-F238E27FC236}">
                <a16:creationId xmlns:a16="http://schemas.microsoft.com/office/drawing/2014/main" id="{9E56C5D4-B9DE-4AE3-AD52-6F9857255747}"/>
              </a:ext>
            </a:extLst>
          </p:cNvPr>
          <p:cNvSpPr>
            <a:spLocks xmlns:a="http://schemas.openxmlformats.org/drawingml/2006/main" noGrp="1"/>
          </p:cNvSpPr>
          <p:nvPr/>
        </p:nvSpPr>
        <p:spPr>
          <a:xfrm xmlns:a="http://schemas.openxmlformats.org/drawingml/2006/main">
            <a:off x="1238250" y="27432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E83CEE06-896B-4619-99AA-30502FC2395F}"/>
              </a:ext>
            </a:extLst>
          </p:cNvPr>
          <p:cNvSpPr>
            <a:spLocks xmlns:a="http://schemas.openxmlformats.org/drawingml/2006/main" noGrp="1"/>
          </p:cNvSpPr>
          <p:nvPr/>
        </p:nvSpPr>
        <p:spPr>
          <a:xfrm xmlns:a="http://schemas.openxmlformats.org/drawingml/2006/main">
            <a:off x="704850" y="29622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Q3</a:t>
            </a:r>
          </a:p>
        </p:txBody>
      </p:sp>
      <p:sp>
        <p:nvSpPr>
          <p:cNvPr id="14" name="">
            <a:extLst xmlns:a="http://schemas.openxmlformats.org/drawingml/2006/main">
              <a:ext uri="{FF2B5EF4-FFF2-40B4-BE49-F238E27FC236}">
                <a16:creationId xmlns:a16="http://schemas.microsoft.com/office/drawing/2014/main" id="{AFAC685F-DE95-40F1-8734-D873AD83296E}"/>
              </a:ext>
            </a:extLst>
          </p:cNvPr>
          <p:cNvSpPr>
            <a:spLocks xmlns:a="http://schemas.openxmlformats.org/drawingml/2006/main" noGrp="1"/>
          </p:cNvSpPr>
          <p:nvPr/>
        </p:nvSpPr>
        <p:spPr>
          <a:xfrm xmlns:a="http://schemas.openxmlformats.org/drawingml/2006/main">
            <a:off x="123825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왜 NIM 모델을 쓰나?</a:t>
            </a:r>
          </a:p>
        </p:txBody>
      </p:sp>
      <p:sp>
        <p:nvSpPr>
          <p:cNvPr id="15" name="">
            <a:extLst xmlns:a="http://schemas.openxmlformats.org/drawingml/2006/main">
              <a:ext uri="{FF2B5EF4-FFF2-40B4-BE49-F238E27FC236}">
                <a16:creationId xmlns:a16="http://schemas.microsoft.com/office/drawing/2014/main" id="{7A319A18-95C2-4CDF-A683-96252BBA5A11}"/>
              </a:ext>
            </a:extLst>
          </p:cNvPr>
          <p:cNvSpPr>
            <a:spLocks xmlns:a="http://schemas.openxmlformats.org/drawingml/2006/main" noGrp="1"/>
          </p:cNvSpPr>
          <p:nvPr/>
        </p:nvSpPr>
        <p:spPr>
          <a:xfrm xmlns:a="http://schemas.openxmlformats.org/drawingml/2006/main">
            <a:off x="4714875" y="29146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언어 이해와 계획 생성 부품으로 사용합니다. 모델은 교체 가능하며 연구 기여는 실행 하네스입니다.</a:t>
            </a:r>
          </a:p>
        </p:txBody>
      </p:sp>
      <p:sp>
        <p:nvSpPr>
          <p:cNvPr id="16" name="">
            <a:extLst xmlns:a="http://schemas.openxmlformats.org/drawingml/2006/main">
              <a:ext uri="{FF2B5EF4-FFF2-40B4-BE49-F238E27FC236}">
                <a16:creationId xmlns:a16="http://schemas.microsoft.com/office/drawing/2014/main" id="{506230E4-9800-4F20-B7B6-838398354FCB}"/>
              </a:ext>
            </a:extLst>
          </p:cNvPr>
          <p:cNvSpPr>
            <a:spLocks xmlns:a="http://schemas.openxmlformats.org/drawingml/2006/main" noGrp="1"/>
          </p:cNvSpPr>
          <p:nvPr/>
        </p:nvSpPr>
        <p:spPr>
          <a:xfrm xmlns:a="http://schemas.openxmlformats.org/drawingml/2006/main">
            <a:off x="1238250" y="35814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7" name="">
            <a:extLst xmlns:a="http://schemas.openxmlformats.org/drawingml/2006/main">
              <a:ext uri="{FF2B5EF4-FFF2-40B4-BE49-F238E27FC236}">
                <a16:creationId xmlns:a16="http://schemas.microsoft.com/office/drawing/2014/main" id="{E2870EB2-63F4-4421-A716-E8C696A3D508}"/>
              </a:ext>
            </a:extLst>
          </p:cNvPr>
          <p:cNvSpPr>
            <a:spLocks xmlns:a="http://schemas.openxmlformats.org/drawingml/2006/main" noGrp="1"/>
          </p:cNvSpPr>
          <p:nvPr/>
        </p:nvSpPr>
        <p:spPr>
          <a:xfrm xmlns:a="http://schemas.openxmlformats.org/drawingml/2006/main">
            <a:off x="704850" y="38004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Q4</a:t>
            </a:r>
          </a:p>
        </p:txBody>
      </p:sp>
      <p:sp>
        <p:nvSpPr>
          <p:cNvPr id="18" name="">
            <a:extLst xmlns:a="http://schemas.openxmlformats.org/drawingml/2006/main">
              <a:ext uri="{FF2B5EF4-FFF2-40B4-BE49-F238E27FC236}">
                <a16:creationId xmlns:a16="http://schemas.microsoft.com/office/drawing/2014/main" id="{36AA351D-82CB-4EE6-9A47-52E5FD0203FE}"/>
              </a:ext>
            </a:extLst>
          </p:cNvPr>
          <p:cNvSpPr>
            <a:spLocks xmlns:a="http://schemas.openxmlformats.org/drawingml/2006/main" noGrp="1"/>
          </p:cNvSpPr>
          <p:nvPr/>
        </p:nvSpPr>
        <p:spPr>
          <a:xfrm xmlns:a="http://schemas.openxmlformats.org/drawingml/2006/main">
            <a:off x="1238250" y="3752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스킬을 쓰면 권한이 늘어나나?</a:t>
            </a:r>
          </a:p>
        </p:txBody>
      </p:sp>
      <p:sp>
        <p:nvSpPr>
          <p:cNvPr id="19" name="">
            <a:extLst xmlns:a="http://schemas.openxmlformats.org/drawingml/2006/main">
              <a:ext uri="{FF2B5EF4-FFF2-40B4-BE49-F238E27FC236}">
                <a16:creationId xmlns:a16="http://schemas.microsoft.com/office/drawing/2014/main" id="{23F21076-655A-4CCE-83C0-A254D50B1249}"/>
              </a:ext>
            </a:extLst>
          </p:cNvPr>
          <p:cNvSpPr>
            <a:spLocks xmlns:a="http://schemas.openxmlformats.org/drawingml/2006/main" noGrp="1"/>
          </p:cNvSpPr>
          <p:nvPr/>
        </p:nvSpPr>
        <p:spPr>
          <a:xfrm xmlns:a="http://schemas.openxmlformats.org/drawingml/2006/main">
            <a:off x="4714875" y="37528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스킬은 작업 절차이고 실제 권한은 등록 기능과 정책·승인이 결정합니다.</a:t>
            </a:r>
          </a:p>
        </p:txBody>
      </p:sp>
      <p:sp>
        <p:nvSpPr>
          <p:cNvPr id="20" name="">
            <a:extLst xmlns:a="http://schemas.openxmlformats.org/drawingml/2006/main">
              <a:ext uri="{FF2B5EF4-FFF2-40B4-BE49-F238E27FC236}">
                <a16:creationId xmlns:a16="http://schemas.microsoft.com/office/drawing/2014/main" id="{DCDF61A3-1EE0-4484-A211-8A4B73F294DB}"/>
              </a:ext>
            </a:extLst>
          </p:cNvPr>
          <p:cNvSpPr>
            <a:spLocks xmlns:a="http://schemas.openxmlformats.org/drawingml/2006/main" noGrp="1"/>
          </p:cNvSpPr>
          <p:nvPr/>
        </p:nvSpPr>
        <p:spPr>
          <a:xfrm xmlns:a="http://schemas.openxmlformats.org/drawingml/2006/main">
            <a:off x="1238250" y="44196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E652678B-8CF0-4E44-A100-15183C80A60C}"/>
              </a:ext>
            </a:extLst>
          </p:cNvPr>
          <p:cNvSpPr>
            <a:spLocks xmlns:a="http://schemas.openxmlformats.org/drawingml/2006/main" noGrp="1"/>
          </p:cNvSpPr>
          <p:nvPr/>
        </p:nvSpPr>
        <p:spPr>
          <a:xfrm xmlns:a="http://schemas.openxmlformats.org/drawingml/2006/main">
            <a:off x="704850" y="46386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Q5</a:t>
            </a:r>
          </a:p>
        </p:txBody>
      </p:sp>
      <p:sp>
        <p:nvSpPr>
          <p:cNvPr id="22" name="">
            <a:extLst xmlns:a="http://schemas.openxmlformats.org/drawingml/2006/main">
              <a:ext uri="{FF2B5EF4-FFF2-40B4-BE49-F238E27FC236}">
                <a16:creationId xmlns:a16="http://schemas.microsoft.com/office/drawing/2014/main" id="{5F01C519-DC99-4291-9A7E-AF8F4B005CD5}"/>
              </a:ext>
            </a:extLst>
          </p:cNvPr>
          <p:cNvSpPr>
            <a:spLocks xmlns:a="http://schemas.openxmlformats.org/drawingml/2006/main" noGrp="1"/>
          </p:cNvSpPr>
          <p:nvPr/>
        </p:nvSpPr>
        <p:spPr>
          <a:xfrm xmlns:a="http://schemas.openxmlformats.org/drawingml/2006/main">
            <a:off x="1238250" y="4591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기존보다 얼마나 효율적인가?</a:t>
            </a:r>
          </a:p>
        </p:txBody>
      </p:sp>
      <p:sp>
        <p:nvSpPr>
          <p:cNvPr id="23" name="">
            <a:extLst xmlns:a="http://schemas.openxmlformats.org/drawingml/2006/main">
              <a:ext uri="{FF2B5EF4-FFF2-40B4-BE49-F238E27FC236}">
                <a16:creationId xmlns:a16="http://schemas.microsoft.com/office/drawing/2014/main" id="{550F5CDB-F8E3-49D7-A90C-C202B2162FA0}"/>
              </a:ext>
            </a:extLst>
          </p:cNvPr>
          <p:cNvSpPr>
            <a:spLocks xmlns:a="http://schemas.openxmlformats.org/drawingml/2006/main" noGrp="1"/>
          </p:cNvSpPr>
          <p:nvPr/>
        </p:nvSpPr>
        <p:spPr>
          <a:xfrm xmlns:a="http://schemas.openxmlformats.org/drawingml/2006/main">
            <a:off x="4714875" y="45910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아직 완전 실험 전이라 수치를 주장하지 않습니다. 성공률·시간·호출·확인 부담을 함께 계산합니다.</a:t>
            </a:r>
          </a:p>
        </p:txBody>
      </p:sp>
      <p:sp>
        <p:nvSpPr>
          <p:cNvPr id="24" name="">
            <a:extLst xmlns:a="http://schemas.openxmlformats.org/drawingml/2006/main">
              <a:ext uri="{FF2B5EF4-FFF2-40B4-BE49-F238E27FC236}">
                <a16:creationId xmlns:a16="http://schemas.microsoft.com/office/drawing/2014/main" id="{1EBBB767-B10C-4759-9F18-8AE78AD42F66}"/>
              </a:ext>
            </a:extLst>
          </p:cNvPr>
          <p:cNvSpPr>
            <a:spLocks xmlns:a="http://schemas.openxmlformats.org/drawingml/2006/main" noGrp="1"/>
          </p:cNvSpPr>
          <p:nvPr/>
        </p:nvSpPr>
        <p:spPr>
          <a:xfrm xmlns:a="http://schemas.openxmlformats.org/drawingml/2006/main">
            <a:off x="1238250" y="52578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5850FDE1-E5C6-4CC1-B29C-29180BE77031}"/>
              </a:ext>
            </a:extLst>
          </p:cNvPr>
          <p:cNvSpPr>
            <a:spLocks xmlns:a="http://schemas.openxmlformats.org/drawingml/2006/main" noGrp="1"/>
          </p:cNvSpPr>
          <p:nvPr/>
        </p:nvSpPr>
        <p:spPr>
          <a:xfrm xmlns:a="http://schemas.openxmlformats.org/drawingml/2006/main">
            <a:off x="704850" y="5476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Q6</a:t>
            </a:r>
          </a:p>
        </p:txBody>
      </p:sp>
      <p:sp>
        <p:nvSpPr>
          <p:cNvPr id="26" name="">
            <a:extLst xmlns:a="http://schemas.openxmlformats.org/drawingml/2006/main">
              <a:ext uri="{FF2B5EF4-FFF2-40B4-BE49-F238E27FC236}">
                <a16:creationId xmlns:a16="http://schemas.microsoft.com/office/drawing/2014/main" id="{B6847092-517A-4B2A-83AA-0A2626CE8EDB}"/>
              </a:ext>
            </a:extLst>
          </p:cNvPr>
          <p:cNvSpPr>
            <a:spLocks xmlns:a="http://schemas.openxmlformats.org/drawingml/2006/main" noGrp="1"/>
          </p:cNvSpPr>
          <p:nvPr/>
        </p:nvSpPr>
        <p:spPr>
          <a:xfrm xmlns:a="http://schemas.openxmlformats.org/drawingml/2006/main">
            <a:off x="1238250" y="5429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완전 자율 시스템인가?</a:t>
            </a:r>
          </a:p>
        </p:txBody>
      </p:sp>
      <p:sp>
        <p:nvSpPr>
          <p:cNvPr id="27" name="">
            <a:extLst xmlns:a="http://schemas.openxmlformats.org/drawingml/2006/main">
              <a:ext uri="{FF2B5EF4-FFF2-40B4-BE49-F238E27FC236}">
                <a16:creationId xmlns:a16="http://schemas.microsoft.com/office/drawing/2014/main" id="{3283D18D-754C-4704-94B1-39843C4ECAA5}"/>
              </a:ext>
            </a:extLst>
          </p:cNvPr>
          <p:cNvSpPr>
            <a:spLocks xmlns:a="http://schemas.openxmlformats.org/drawingml/2006/main" noGrp="1"/>
          </p:cNvSpPr>
          <p:nvPr/>
        </p:nvSpPr>
        <p:spPr>
          <a:xfrm xmlns:a="http://schemas.openxmlformats.org/drawingml/2006/main">
            <a:off x="4714875" y="5429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허용된 기능만 실행하고 위험 행동은 사용자 승인이나 강한 인증을 요구합니다.</a:t>
            </a:r>
          </a:p>
        </p:txBody>
      </p:sp>
    </p:spTree>
    <p:extLst>
      <p:ext uri="{BB962C8B-B14F-4D97-AF65-F5344CB8AC3E}">
        <p14:creationId xmlns:p14="http://schemas.microsoft.com/office/powerpoint/2010/main" val="1783711000"/>
      </p:ext>
    </p:extLst>
  </p:cSld>
</p:sld>
</file>

<file path=ppt/slides/slide15.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4AF31B-2756-41B3-AD79-3446858D6439}"/>
              </a:ext>
            </a:extLst>
          </p:cNvPr>
          <p:cNvSpPr>
            <a:spLocks xmlns:a="http://schemas.openxmlformats.org/drawingml/2006/main" noGrp="1"/>
          </p:cNvSpPr>
          <p:nvPr/>
        </p:nvSpPr>
        <p:spPr>
          <a:xfrm xmlns:a="http://schemas.openxmlformats.org/drawingml/2006/main">
            <a:off x="685800" y="5143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결론</a:t>
            </a:r>
          </a:p>
        </p:txBody>
      </p:sp>
      <p:sp>
        <p:nvSpPr>
          <p:cNvPr id="2" name="">
            <a:extLst xmlns:a="http://schemas.openxmlformats.org/drawingml/2006/main">
              <a:ext uri="{FF2B5EF4-FFF2-40B4-BE49-F238E27FC236}">
                <a16:creationId xmlns:a16="http://schemas.microsoft.com/office/drawing/2014/main" id="{DEC40653-FC5B-4F83-93E2-45917C001931}"/>
              </a:ext>
            </a:extLst>
          </p:cNvPr>
          <p:cNvSpPr>
            <a:spLocks xmlns:a="http://schemas.openxmlformats.org/drawingml/2006/main" noGrp="1"/>
          </p:cNvSpPr>
          <p:nvPr/>
        </p:nvSpPr>
        <p:spPr>
          <a:xfrm xmlns:a="http://schemas.openxmlformats.org/drawingml/2006/main">
            <a:off x="685800" y="12573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모델은 행동을 제안하고,</a:t>
            </a:r>
          </a:p>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권한과 완료 판정은 검증 가능한 하네스가 담당한다.</a:t>
            </a:r>
          </a:p>
        </p:txBody>
      </p:sp>
      <p:sp>
        <p:nvSpPr>
          <p:cNvPr id="3" name="">
            <a:extLst xmlns:a="http://schemas.openxmlformats.org/drawingml/2006/main">
              <a:ext uri="{FF2B5EF4-FFF2-40B4-BE49-F238E27FC236}">
                <a16:creationId xmlns:a16="http://schemas.microsoft.com/office/drawing/2014/main" id="{75EB779D-6FC3-4DD5-A641-C208F4B3B859}"/>
              </a:ext>
            </a:extLst>
          </p:cNvPr>
          <p:cNvSpPr>
            <a:spLocks xmlns:a="http://schemas.openxmlformats.org/drawingml/2006/main" noGrp="1"/>
          </p:cNvSpPr>
          <p:nvPr/>
        </p:nvSpPr>
        <p:spPr>
          <a:xfrm xmlns:a="http://schemas.openxmlformats.org/drawingml/2006/main">
            <a:off x="723900" y="27051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59C3E5"/>
                </a:solidFill>
                <a:latin typeface="NanumGothic"/>
                <a:ea typeface="NanumGothic"/>
                <a:cs typeface="NanumGothic"/>
              </a:defRPr>
            </a:pPr>
            <a:r>
              <a:rPr sz="1425" b="1">
                <a:solidFill>
                  <a:srgbClr val="59C3E5"/>
                </a:solidFill>
                <a:latin typeface="NanumGothic"/>
                <a:ea typeface="NanumGothic"/>
                <a:cs typeface="NanumGothic"/>
              </a:rPr>
              <a:t>졸업작품</a:t>
            </a:r>
          </a:p>
        </p:txBody>
      </p:sp>
      <p:sp>
        <p:nvSpPr>
          <p:cNvPr id="4" name="">
            <a:extLst xmlns:a="http://schemas.openxmlformats.org/drawingml/2006/main">
              <a:ext uri="{FF2B5EF4-FFF2-40B4-BE49-F238E27FC236}">
                <a16:creationId xmlns:a16="http://schemas.microsoft.com/office/drawing/2014/main" id="{46F86BB8-4B72-439C-B19C-D3CE107E7799}"/>
              </a:ext>
            </a:extLst>
          </p:cNvPr>
          <p:cNvSpPr>
            <a:spLocks xmlns:a="http://schemas.openxmlformats.org/drawingml/2006/main" noGrp="1"/>
          </p:cNvSpPr>
          <p:nvPr/>
        </p:nvSpPr>
        <p:spPr>
          <a:xfrm xmlns:a="http://schemas.openxmlformats.org/drawingml/2006/main">
            <a:off x="723900" y="30861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안전한 음성 기반 Windows 작업 에이전트</a:t>
            </a:r>
          </a:p>
        </p:txBody>
      </p:sp>
      <p:sp>
        <p:nvSpPr>
          <p:cNvPr id="5" name="">
            <a:extLst xmlns:a="http://schemas.openxmlformats.org/drawingml/2006/main">
              <a:ext uri="{FF2B5EF4-FFF2-40B4-BE49-F238E27FC236}">
                <a16:creationId xmlns:a16="http://schemas.microsoft.com/office/drawing/2014/main" id="{5CA00A88-DF24-4652-8E0F-2E6488F9408D}"/>
              </a:ext>
            </a:extLst>
          </p:cNvPr>
          <p:cNvSpPr>
            <a:spLocks xmlns:a="http://schemas.openxmlformats.org/drawingml/2006/main" noGrp="1"/>
          </p:cNvSpPr>
          <p:nvPr/>
        </p:nvSpPr>
        <p:spPr>
          <a:xfrm xmlns:a="http://schemas.openxmlformats.org/drawingml/2006/main">
            <a:off x="723900" y="3743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F2A93B"/>
                </a:solidFill>
                <a:latin typeface="NanumGothic"/>
                <a:ea typeface="NanumGothic"/>
                <a:cs typeface="NanumGothic"/>
              </a:defRPr>
            </a:pPr>
            <a:r>
              <a:rPr sz="1425" b="1">
                <a:solidFill>
                  <a:srgbClr val="F2A93B"/>
                </a:solidFill>
                <a:latin typeface="NanumGothic"/>
                <a:ea typeface="NanumGothic"/>
                <a:cs typeface="NanumGothic"/>
              </a:rPr>
              <a:t>졸업논문</a:t>
            </a:r>
          </a:p>
        </p:txBody>
      </p:sp>
      <p:sp>
        <p:nvSpPr>
          <p:cNvPr id="6" name="">
            <a:extLst xmlns:a="http://schemas.openxmlformats.org/drawingml/2006/main">
              <a:ext uri="{FF2B5EF4-FFF2-40B4-BE49-F238E27FC236}">
                <a16:creationId xmlns:a16="http://schemas.microsoft.com/office/drawing/2014/main" id="{D7F34851-88C8-48B0-AD6A-6F173339AC71}"/>
              </a:ext>
            </a:extLst>
          </p:cNvPr>
          <p:cNvSpPr>
            <a:spLocks xmlns:a="http://schemas.openxmlformats.org/drawingml/2006/main" noGrp="1"/>
          </p:cNvSpPr>
          <p:nvPr/>
        </p:nvSpPr>
        <p:spPr>
          <a:xfrm xmlns:a="http://schemas.openxmlformats.org/drawingml/2006/main">
            <a:off x="723900" y="41243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의도·위험·승인·독립 검증 하네스의 효과</a:t>
            </a:r>
          </a:p>
        </p:txBody>
      </p:sp>
      <p:sp>
        <p:nvSpPr>
          <p:cNvPr id="7" name="">
            <a:extLst xmlns:a="http://schemas.openxmlformats.org/drawingml/2006/main">
              <a:ext uri="{FF2B5EF4-FFF2-40B4-BE49-F238E27FC236}">
                <a16:creationId xmlns:a16="http://schemas.microsoft.com/office/drawing/2014/main" id="{B2CDC3CC-8219-4B9F-8C11-01ACE3FC837B}"/>
              </a:ext>
            </a:extLst>
          </p:cNvPr>
          <p:cNvSpPr>
            <a:spLocks xmlns:a="http://schemas.openxmlformats.org/drawingml/2006/main" noGrp="1"/>
          </p:cNvSpPr>
          <p:nvPr/>
        </p:nvSpPr>
        <p:spPr>
          <a:xfrm xmlns:a="http://schemas.openxmlformats.org/drawingml/2006/main">
            <a:off x="7905750" y="2705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A9B9D0"/>
                </a:solidFill>
                <a:latin typeface="NanumGothic"/>
                <a:ea typeface="NanumGothic"/>
                <a:cs typeface="NanumGothic"/>
              </a:defRPr>
            </a:pPr>
            <a:r>
              <a:rPr sz="1350" b="1">
                <a:solidFill>
                  <a:srgbClr val="A9B9D0"/>
                </a:solidFill>
                <a:latin typeface="NanumGothic"/>
                <a:ea typeface="NanumGothic"/>
                <a:cs typeface="NanumGothic"/>
              </a:rPr>
              <a:t>주요 출처</a:t>
            </a:r>
          </a:p>
        </p:txBody>
      </p:sp>
      <p:sp>
        <p:nvSpPr>
          <p:cNvPr id="8" name="">
            <a:extLst xmlns:a="http://schemas.openxmlformats.org/drawingml/2006/main">
              <a:ext uri="{FF2B5EF4-FFF2-40B4-BE49-F238E27FC236}">
                <a16:creationId xmlns:a16="http://schemas.microsoft.com/office/drawing/2014/main" id="{8A3FF74E-D9FA-4911-B069-8A95CA7D92B4}"/>
              </a:ext>
            </a:extLst>
          </p:cNvPr>
          <p:cNvSpPr>
            <a:spLocks xmlns:a="http://schemas.openxmlformats.org/drawingml/2006/main" noGrp="1"/>
          </p:cNvSpPr>
          <p:nvPr/>
        </p:nvSpPr>
        <p:spPr>
          <a:xfrm xmlns:a="http://schemas.openxmlformats.org/drawingml/2006/main">
            <a:off x="7905750" y="3114675"/>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ReAct · 행동과 관찰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Voyager · 스킬 재사용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SWE-agent · 인터페이스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 WAA · 실제 PC 평가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OS-Harm · 안전 평가 (2025)</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2.0 · 긴 작업 평가 (2026)</a:t>
            </a:r>
          </a:p>
        </p:txBody>
      </p:sp>
      <p:sp>
        <p:nvSpPr>
          <p:cNvPr id="9" name="">
            <a:extLst xmlns:a="http://schemas.openxmlformats.org/drawingml/2006/main">
              <a:ext uri="{FF2B5EF4-FFF2-40B4-BE49-F238E27FC236}">
                <a16:creationId xmlns:a16="http://schemas.microsoft.com/office/drawing/2014/main" id="{E96C8F70-A7A7-41DD-856D-6298222736A1}"/>
              </a:ext>
            </a:extLst>
          </p:cNvPr>
          <p:cNvSpPr>
            <a:spLocks xmlns:a="http://schemas.openxmlformats.org/drawingml/2006/main" noGrp="1"/>
          </p:cNvSpPr>
          <p:nvPr/>
        </p:nvSpPr>
        <p:spPr>
          <a:xfrm xmlns:a="http://schemas.openxmlformats.org/drawingml/2006/main">
            <a:off x="704850" y="5619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59C3E5"/>
                </a:solidFill>
                <a:latin typeface="NanumGothic"/>
                <a:ea typeface="NanumGothic"/>
                <a:cs typeface="NanumGothic"/>
              </a:defRPr>
            </a:pPr>
            <a:r>
              <a:rPr sz="2100" b="1">
                <a:solidFill>
                  <a:srgbClr val="59C3E5"/>
                </a:solidFill>
                <a:latin typeface="NanumGothic"/>
                <a:ea typeface="NanumGothic"/>
                <a:cs typeface="NanumGothic"/>
              </a:rPr>
              <a:t>감사합니다</a:t>
            </a:r>
          </a:p>
        </p:txBody>
      </p:sp>
    </p:spTree>
    <p:extLst>
      <p:ext uri="{BB962C8B-B14F-4D97-AF65-F5344CB8AC3E}">
        <p14:creationId xmlns:p14="http://schemas.microsoft.com/office/powerpoint/2010/main" val="903563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2026-10-05T22:04:05.9040000Z</dcterms:created>
  <dcterms:modified xsi:type="dcterms:W3CDTF">2026-10-05T22:04:05.9040000Z</dcterms:modified>
</coreProperties>
</file>