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583477d7a74ec0" /><Relationship Type="http://schemas.openxmlformats.org/officeDocument/2006/relationships/extended-properties" Target="/docProps/app.xml" Id="R98a63ccfcbf7471d" /><Relationship Type="http://schemas.openxmlformats.org/officeDocument/2006/relationships/officeDocument" Target="/ppt/presentation.xml" Id="R470e1c33cbb84975" /></Relationships>
</file>

<file path=ppt/presentation.xml><?xml version="1.0" encoding="utf-8"?>
<p:presentation xmlns:p="http://schemas.openxmlformats.org/presentationml/2006/main">
  <p:sldMasterIdLst>
    <p:sldMasterId xmlns:r="http://schemas.openxmlformats.org/officeDocument/2006/relationships" id="2147483648" r:id="R6927368cc9f64da3"/>
  </p:sldMasterIdLst>
  <p:notesMasterIdLst>
    <p:notesMasterId xmlns:r="http://schemas.openxmlformats.org/officeDocument/2006/relationships" r:id="R140163c7105d4dd8"/>
  </p:notesMasterIdLst>
  <p:sldIdLst>
    <p:sldId xmlns:r="http://schemas.openxmlformats.org/officeDocument/2006/relationships" id="256" r:id="R0cf6db2c2474498c"/>
    <p:sldId xmlns:r="http://schemas.openxmlformats.org/officeDocument/2006/relationships" id="257" r:id="R4612dc7fc6fa4132"/>
    <p:sldId xmlns:r="http://schemas.openxmlformats.org/officeDocument/2006/relationships" id="258" r:id="Rb452c6a517174f46"/>
    <p:sldId xmlns:r="http://schemas.openxmlformats.org/officeDocument/2006/relationships" id="259" r:id="R22471b5d786c4bb2"/>
    <p:sldId xmlns:r="http://schemas.openxmlformats.org/officeDocument/2006/relationships" id="260" r:id="R409f3c7a16864ee2"/>
    <p:sldId xmlns:r="http://schemas.openxmlformats.org/officeDocument/2006/relationships" id="261" r:id="R847738350bae44e7"/>
    <p:sldId xmlns:r="http://schemas.openxmlformats.org/officeDocument/2006/relationships" id="262" r:id="Rbe70ef07a6a84d7f"/>
    <p:sldId xmlns:r="http://schemas.openxmlformats.org/officeDocument/2006/relationships" id="263" r:id="Rd3bd5c636f794a44"/>
    <p:sldId xmlns:r="http://schemas.openxmlformats.org/officeDocument/2006/relationships" id="264" r:id="R86bf3ade8ae24ed4"/>
    <p:sldId xmlns:r="http://schemas.openxmlformats.org/officeDocument/2006/relationships" id="265" r:id="Rcaa49493e4974bc3"/>
    <p:sldId xmlns:r="http://schemas.openxmlformats.org/officeDocument/2006/relationships" id="266" r:id="Rdb6e0d26afdc4d98"/>
    <p:sldId xmlns:r="http://schemas.openxmlformats.org/officeDocument/2006/relationships" id="267" r:id="Ra797d53ca9e146e3"/>
    <p:sldId xmlns:r="http://schemas.openxmlformats.org/officeDocument/2006/relationships" id="268" r:id="Rbb1a6972e055466b"/>
    <p:sldId xmlns:r="http://schemas.openxmlformats.org/officeDocument/2006/relationships" id="269" r:id="R172e817161ca448a"/>
    <p:sldId xmlns:r="http://schemas.openxmlformats.org/officeDocument/2006/relationships" id="270" r:id="R0fdc520e20e54a30"/>
    <p:sldId xmlns:r="http://schemas.openxmlformats.org/officeDocument/2006/relationships" id="271" r:id="R9857a1c976704d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6b231aeff74662" /><Relationship Type="http://schemas.openxmlformats.org/officeDocument/2006/relationships/slideMaster" Target="/ppt/slideMasters/slideMaster1.xml" Id="R6927368cc9f64da3" /><Relationship Type="http://schemas.openxmlformats.org/officeDocument/2006/relationships/notesMaster" Target="/ppt/notesMasters/notesMaster1.xml" Id="R140163c7105d4dd8" /><Relationship Type="http://schemas.openxmlformats.org/officeDocument/2006/relationships/presProps" Target="/ppt/presProps.xml" Id="Rc91e6507d6be43b9" /><Relationship Type="http://schemas.openxmlformats.org/officeDocument/2006/relationships/tableStyles" Target="/ppt/tableStyles.xml" Id="R6eb1581442664799" /><Relationship Type="http://schemas.openxmlformats.org/officeDocument/2006/relationships/slide" Target="/ppt/slides/slide1.xml" Id="R0cf6db2c2474498c" /><Relationship Type="http://schemas.openxmlformats.org/officeDocument/2006/relationships/slide" Target="/ppt/slides/slide2.xml" Id="R4612dc7fc6fa4132" /><Relationship Type="http://schemas.openxmlformats.org/officeDocument/2006/relationships/slide" Target="/ppt/slides/slide3.xml" Id="Rb452c6a517174f46" /><Relationship Type="http://schemas.openxmlformats.org/officeDocument/2006/relationships/slide" Target="/ppt/slides/slide4.xml" Id="R22471b5d786c4bb2" /><Relationship Type="http://schemas.openxmlformats.org/officeDocument/2006/relationships/slide" Target="/ppt/slides/slide5.xml" Id="R409f3c7a16864ee2" /><Relationship Type="http://schemas.openxmlformats.org/officeDocument/2006/relationships/slide" Target="/ppt/slides/slide6.xml" Id="R847738350bae44e7" /><Relationship Type="http://schemas.openxmlformats.org/officeDocument/2006/relationships/slide" Target="/ppt/slides/slide7.xml" Id="Rbe70ef07a6a84d7f" /><Relationship Type="http://schemas.openxmlformats.org/officeDocument/2006/relationships/slide" Target="/ppt/slides/slide8.xml" Id="Rd3bd5c636f794a44" /><Relationship Type="http://schemas.openxmlformats.org/officeDocument/2006/relationships/slide" Target="/ppt/slides/slide9.xml" Id="R86bf3ade8ae24ed4" /><Relationship Type="http://schemas.openxmlformats.org/officeDocument/2006/relationships/slide" Target="/ppt/slides/slide10.xml" Id="Rcaa49493e4974bc3" /><Relationship Type="http://schemas.openxmlformats.org/officeDocument/2006/relationships/slide" Target="/ppt/slides/slide11.xml" Id="Rdb6e0d26afdc4d98" /><Relationship Type="http://schemas.openxmlformats.org/officeDocument/2006/relationships/slide" Target="/ppt/slides/slide12.xml" Id="Ra797d53ca9e146e3" /><Relationship Type="http://schemas.openxmlformats.org/officeDocument/2006/relationships/slide" Target="/ppt/slides/slide13.xml" Id="Rbb1a6972e055466b" /><Relationship Type="http://schemas.openxmlformats.org/officeDocument/2006/relationships/slide" Target="/ppt/slides/slide14.xml" Id="R172e817161ca448a" /><Relationship Type="http://schemas.openxmlformats.org/officeDocument/2006/relationships/slide" Target="/ppt/slides/slide15.xml" Id="R0fdc520e20e54a30" /><Relationship Type="http://schemas.openxmlformats.org/officeDocument/2006/relationships/slide" Target="/ppt/slides/slide16.xml" Id="R9857a1c976704d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e2344e61c54d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b6cee4408d46db" /><Relationship Type="http://schemas.openxmlformats.org/officeDocument/2006/relationships/notesMaster" Target="/ppt/notesMasters/notesMaster1.xml" Id="R4a99c02728544b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ec409678cf4727" /><Relationship Type="http://schemas.openxmlformats.org/officeDocument/2006/relationships/notesMaster" Target="/ppt/notesMasters/notesMaster1.xml" Id="Rad5b6752f5b046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1510de630e4559" /><Relationship Type="http://schemas.openxmlformats.org/officeDocument/2006/relationships/notesMaster" Target="/ppt/notesMasters/notesMaster1.xml" Id="Rb93c34a8b6264b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2fc7d7da7544de" /><Relationship Type="http://schemas.openxmlformats.org/officeDocument/2006/relationships/notesMaster" Target="/ppt/notesMasters/notesMaster1.xml" Id="R00ff80634a0140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8e60033f64459b" /><Relationship Type="http://schemas.openxmlformats.org/officeDocument/2006/relationships/notesMaster" Target="/ppt/notesMasters/notesMaster1.xml" Id="R3fdf10e74e0942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01b2a4db0247a2" /><Relationship Type="http://schemas.openxmlformats.org/officeDocument/2006/relationships/notesMaster" Target="/ppt/notesMasters/notesMaster1.xml" Id="Rb593d5b1cc244c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94675b3a364bcf" /><Relationship Type="http://schemas.openxmlformats.org/officeDocument/2006/relationships/notesMaster" Target="/ppt/notesMasters/notesMaster1.xml" Id="R3ad6e89faa4044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81ceb16f084c5e" /><Relationship Type="http://schemas.openxmlformats.org/officeDocument/2006/relationships/notesMaster" Target="/ppt/notesMasters/notesMaster1.xml" Id="Rd655aee2802b4a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9bc6811b644c2d" /><Relationship Type="http://schemas.openxmlformats.org/officeDocument/2006/relationships/notesMaster" Target="/ppt/notesMasters/notesMaster1.xml" Id="R5bcf01e1b4344f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8ab2ac8e5a42f3" /><Relationship Type="http://schemas.openxmlformats.org/officeDocument/2006/relationships/notesMaster" Target="/ppt/notesMasters/notesMaster1.xml" Id="R4dc01fa850f941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595eaa292d43e3" /><Relationship Type="http://schemas.openxmlformats.org/officeDocument/2006/relationships/notesMaster" Target="/ppt/notesMasters/notesMaster1.xml" Id="R738277c77e8347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75a71ecd114546" /><Relationship Type="http://schemas.openxmlformats.org/officeDocument/2006/relationships/notesMaster" Target="/ppt/notesMasters/notesMaster1.xml" Id="Ra96b6456fd6e4f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de74fcdd6b4f83" /><Relationship Type="http://schemas.openxmlformats.org/officeDocument/2006/relationships/notesMaster" Target="/ppt/notesMasters/notesMaster1.xml" Id="Rb591dc9bd3f44b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832bb01ab543bd" /><Relationship Type="http://schemas.openxmlformats.org/officeDocument/2006/relationships/notesMaster" Target="/ppt/notesMasters/notesMaster1.xml" Id="Rcaa4548be6bd47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64f16aec464f77" /><Relationship Type="http://schemas.openxmlformats.org/officeDocument/2006/relationships/notesMaster" Target="/ppt/notesMasters/notesMaster1.xml" Id="Rbc4dfe765f914c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559e9a2d204013" /><Relationship Type="http://schemas.openxmlformats.org/officeDocument/2006/relationships/notesMaster" Target="/ppt/notesMasters/notesMaster1.xml" Id="R98d646d3f61048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핵심은 음성비서 기능 자체가 아닙니다. 사용자의 말을 명령으로 볼지, 어떤 행동을 허용할지, 실행 결과가 실제로 맞는지를 분리해 통제하는 Windows 작업 에이전트를 만들고 있습니다. 작품은 전체 시스템이고 논문은 이 실행 제어 하네스의 효과를 비교 실험합니다.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상시대기형에서는 오인식보다 더 큰 문제가 있습니다. 문장을 정확히 인식했더라도 사용자가 실제 명령한 것인지, 단순한 대화인지, 그리고 자동 실행해도 되는지를 별도로 판단해야 합니다. 이 구분이 없으면 작은 오류가 파일 삭제나 초기화 같은 큰 사고로 이어집니다.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PC를 클릭하는 기능 자체는 이미 여러 에이전트가 제공합니다. JARVIS-PC의 차이는 상시 음성에서 명령인지 먼저 판별하고, 모델의 계획과 실행 권한을 분리하며, 실행 후 운영체제 상태를 독립적으로 확인한다는 점입니다. OSWorld 2.0에서 Claude Opus 4.8 최대 추론 설정의 완전 완료율은 20.6%였습니다. 이 수치는 기존 시스템이 쓸모없다는 뜻이 아니라 긴 작업에서 제약 유지와 검증이 여전히 어렵다는 뜻입니다.</a:t>
            </a:r>
          </a:p>
          <a:p xmlns:a="http://schemas.openxmlformats.org/drawingml/2006/main">
            <a:r>
              <a:t/>
            </a:r>
          </a:p>
          <a:p xmlns:a="http://schemas.openxmlformats.org/drawingml/2006/main">
            <a:r>
              <a:t>출처</a:t>
            </a:r>
          </a:p>
          <a:p xmlns:a="http://schemas.openxmlformats.org/drawingml/2006/main">
            <a:r>
              <a:t>Yuan et al., OSWorld 2.0, 2026, https://arxiv.org/abs/2606.29537</a:t>
            </a:r>
          </a:p>
          <a:p xmlns:a="http://schemas.openxmlformats.org/drawingml/2006/main">
            <a:r>
              <a:t>Microsoft Research, UFO2, 2026, https://www.microsoft.com/en-us/research/publication/ufo2-the-desktop-agentos/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졸업작품과 논문을 분리해 설명할 수 있습니다. 작품에서는 음성 입력부터 Windows 조작과 결과 검증까지 전체 시스템을 보여줍니다. 논문에서는 Intent, Risk, Execution 세 단계 제어가 오작동을 얼마나 줄이는지 실험합니다.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시스템은 일곱 단계로 구성됩니다. 비용을 줄이기 위해 화면을 계속 촬영하지 않고 창 변경이나 UI 이벤트가 있을 때만 비전 모델을 호출합니다. 실행은 API나 PowerShell을 우선하고, 불가능할 때 UI Automation과 화면 기반 클릭을 사용합니다. 실행 후에는 반드시 결과를 확인하고 실패하면 재계획합니다.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정책은 세 단계입니다. 낮은 위험은 즉시 실행하고, 중간 위험은 작업 계획과 취소 시간을 제공합니다. 삭제나 초기화, 외부 메시지와 결제는 음성 확인만으로 실행하지 않고 화면 승인이나 본인 인증을 요구합니다. OS-Harm 연구도 컴퓨터 사용 에이전트가 오용 요청과 프롬프트 주입에 취약할 수 있음을 보여줍니다.</a:t>
            </a:r>
          </a:p>
          <a:p xmlns:a="http://schemas.openxmlformats.org/drawingml/2006/main">
            <a:r>
              <a:t/>
            </a:r>
          </a:p>
          <a:p xmlns:a="http://schemas.openxmlformats.org/drawingml/2006/main">
            <a:r>
              <a:t>출처</a:t>
            </a:r>
          </a:p>
          <a:p xmlns:a="http://schemas.openxmlformats.org/drawingml/2006/main">
            <a:r>
              <a:t>Kuntz et al., OS-Harm: A Benchmark for Measuring Safety of Computer Use Agents, 2025, https://arxiv.org/abs/2506.14866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구현은 모듈 경계를 명확히 나눕니다. 각 함수는 원시 문자열 대신 구조화된 객체를 주고받습니다. 따라서 STT나 LLM 모델을 바꾸더라도 전체 코드를 다시 만들 필요가 없고, 의도 분류기와 위험 판단기만 독립적으로 정확도를 측정할 수 있습니다.</a:t>
            </a:r>
          </a:p>
          <a:p xmlns:a="http://schemas.openxmlformats.org/drawingml/2006/main">
            <a:r>
              <a:t/>
            </a:r>
          </a:p>
          <a:p xmlns:a="http://schemas.openxmlformats.org/drawingml/2006/main">
            <a:r>
              <a:t>출처</a:t>
            </a:r>
          </a:p>
          <a:p xmlns:a="http://schemas.openxmlformats.org/drawingml/2006/main">
            <a:r>
              <a:t/>
            </a:r>
          </a:p>
          <a:p xmlns:a="http://schemas.openxmlformats.org/drawingml/2006/main">
            <a:r>
              <a:t/>
            </a:r>
          </a:p>
          <a:p xmlns:a="http://schemas.openxmlformats.org/drawingml/2006/main">
            <a:r>
              <a:t>발표 후 참고</a:t>
            </a:r>
          </a:p>
          <a:p xmlns:a="http://schemas.openxmlformats.org/drawingml/2006/main">
            <a:r>
              <a:t>마스터 프롬프트 핵심 규칙:</a:t>
            </a:r>
          </a:p>
          <a:p xmlns:a="http://schemas.openxmlformats.org/drawingml/2006/main">
            <a:r>
              <a:t>1) 사용자의 최종 목표를 TaskPlan의 원자적 단계로 분해한다.</a:t>
            </a:r>
          </a:p>
          <a:p xmlns:a="http://schemas.openxmlformats.org/drawingml/2006/main">
            <a:r>
              <a:t>2) 각 단계에 tool, target, parameters, expected_state, rollback, risk_features를 기록한다.</a:t>
            </a:r>
          </a:p>
          <a:p xmlns:a="http://schemas.openxmlformats.org/drawingml/2006/main">
            <a:r>
              <a:t>3) 시스템 상태를 추측하지 말고 ContextSnapshot에 없는 정보는 관찰 또는 질문으로 해결한다.</a:t>
            </a:r>
          </a:p>
          <a:p xmlns:a="http://schemas.openxmlformats.org/drawingml/2006/main">
            <a:r>
              <a:t>4) 외부 전송·삭제·설치·권한 상승·계정·결제·초기화는 실행하지 말고 SafetyDecision을 요청한다.</a:t>
            </a:r>
          </a:p>
          <a:p xmlns:a="http://schemas.openxmlformats.org/drawingml/2006/main">
            <a:r>
              <a:t>5) 실행 후 expected_state와 실제 상태를 비교하고 불일치하면 최대 2회 재계획한다.</a:t>
            </a:r>
          </a:p>
          <a:p xmlns:a="http://schemas.openxmlformats.org/drawingml/2006/main">
            <a:r>
              <a:t>6) 출력은 설명문 없이 Goal, Assumptions, Plan, RequiredApprovals, CompletionCriteria JSON 스키마를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논문은 모델을 바꾸는 실험이 아닙니다. 동일 모델, 동일 작업, 동일 초기 상태에서 하네스의 제어 수준만 바꿉니다. B0는 직접 실행, B1은 매번 확인, P1은 의도와 위험 정책, P2는 독립 검증과 제한된 복구까지 포함합니다. P2가 더 좋다는 결론은 실험 전에 정하지 않습니다. 성공률, 위험 실행, 확인 부담, 시간과 비용을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실제 컴퓨터에 연결하는 실행 틀입니다. 스킬은 반복 작업의 절차이고 도구는 실제 한 번의 동작입니다. 가장 중요한 구분은 스킬이 권한을 늘리지 않는다는 점입니다. JARVIS-PC에서는 모델이나 스킬이 임의 명령을 실행하지 못하고 등록된 기능만 정책과 승인 뒤에 실행합니다.</a:t>
            </a:r>
          </a:p>
          <a:p xmlns:a="http://schemas.openxmlformats.org/drawingml/2006/main">
            <a:r>
              <a:t/>
            </a:r>
          </a:p>
          <a:p xmlns:a="http://schemas.openxmlformats.org/drawingml/2006/main">
            <a:r>
              <a:t>출처</a:t>
            </a:r>
          </a:p>
          <a:p xmlns:a="http://schemas.openxmlformats.org/drawingml/2006/main">
            <a:r>
              <a:t>OpenAI, Skills, https://developers.openai.com/api/docs/guides/tools-skills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재학습하지 않습니다. 대신 모델이 무엇을 보고, 어떤 행동을 선택하며, 실패했을 때 어떤 피드백을 받는지를 바꿉니다. SWE-agent는 에이전트용 컴퓨터 인터페이스 설계가 실제 코드 수정 성능과 행동에 영향을 준다고 보고했습니다. ReAct는 추론과 행동을 번갈아 수행해 외부 관찰로 계획을 갱신하는 구조를 제시했습니다.</a:t>
            </a:r>
          </a:p>
          <a:p xmlns:a="http://schemas.openxmlformats.org/drawingml/2006/main">
            <a:r>
              <a:t/>
            </a:r>
          </a:p>
          <a:p xmlns:a="http://schemas.openxmlformats.org/drawingml/2006/main">
            <a:r>
              <a:t>출처</a:t>
            </a:r>
          </a:p>
          <a:p xmlns:a="http://schemas.openxmlformats.org/drawingml/2006/main">
            <a:r>
              <a:t>Yao et al., ReAct, 2023, https://arxiv.org/abs/2210.03629</a:t>
            </a:r>
          </a:p>
          <a:p xmlns:a="http://schemas.openxmlformats.org/drawingml/2006/main">
            <a:r>
              <a:t>Yang et al., SWE-agent, 2024, https://arxiv.org/abs/2405.15793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연구들은 JARVIS-PC 전체가 이미 증명됐다는 뜻이 아닙니다. ReAct는 행동과 관찰, Voyager는 스킬 재사용, SWE-agent는 인터페이스, OSWorld와 Windows Agent Arena는 실제 컴퓨터 평가, OS-Harm은 안전 평가의 선례입니다. JARVIS-PC는 이 원리를 상시 음성 명령 판별과 위험·결과 검증에 결합하고 B0/B1/P1/P2로 자체 검증합니다.</a:t>
            </a:r>
          </a:p>
          <a:p xmlns:a="http://schemas.openxmlformats.org/drawingml/2006/main">
            <a:r>
              <a:t/>
            </a:r>
          </a:p>
          <a:p xmlns:a="http://schemas.openxmlformats.org/drawingml/2006/main">
            <a:r>
              <a:t>출처</a:t>
            </a:r>
          </a:p>
          <a:p xmlns:a="http://schemas.openxmlformats.org/drawingml/2006/main">
            <a:r>
              <a:t>Yao et al., ReAct, https://arxiv.org/abs/2210.03629</a:t>
            </a:r>
          </a:p>
          <a:p xmlns:a="http://schemas.openxmlformats.org/drawingml/2006/main">
            <a:r>
              <a:t>Wang et al., Voyager, https://arxiv.org/abs/2305.16291</a:t>
            </a:r>
          </a:p>
          <a:p xmlns:a="http://schemas.openxmlformats.org/drawingml/2006/main">
            <a:r>
              <a:t>Yang et al., SWE-agent, https://arxiv.org/abs/2405.15793</a:t>
            </a:r>
          </a:p>
          <a:p xmlns:a="http://schemas.openxmlformats.org/drawingml/2006/main">
            <a:r>
              <a:t>Xie et al., OSWorld, https://arxiv.org/abs/2404.07972</a:t>
            </a:r>
          </a:p>
          <a:p xmlns:a="http://schemas.openxmlformats.org/drawingml/2006/main">
            <a:r>
              <a:t>Bonatti et al., Windows Agent Arena, https://arxiv.org/abs/2409.08264</a:t>
            </a:r>
          </a:p>
          <a:p xmlns:a="http://schemas.openxmlformats.org/drawingml/2006/main">
            <a:r>
              <a:t>Kuntz et al., OS-Harm, https://arxiv.org/abs/2506.14866</a:t>
            </a:r>
          </a:p>
          <a:p xmlns:a="http://schemas.openxmlformats.org/drawingml/2006/main">
            <a:r>
              <a:t>Yuan et al., OSWorld 2.0, https://arxiv.org/abs/2606.29537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교수님이 기존 에이전트보다 얼마나 효율적인지 물으면 아직 확정 수치가 없다고 답해야 합니다. 현재 120개 정확한 실험 셀 중 70개를 수집했고 50개는 snapshot VM이 필요합니다. 효율성은 단순 속도가 아니라 검증된 성공을 얻는 데 필요한 시간, 모델 호출, 토큰, 사용자 확인으로 계산합니다. P2는 안전성과 복구율을 높일 수 있지만 검증 비용도 늘 수 있습니다. 정확도와 비용을 함께 평가해야 한다는 근거는 AI Agents That Matter에 있습니다.</a:t>
            </a:r>
          </a:p>
          <a:p xmlns:a="http://schemas.openxmlformats.org/drawingml/2006/main">
            <a:r>
              <a:t/>
            </a:r>
          </a:p>
          <a:p xmlns:a="http://schemas.openxmlformats.org/drawingml/2006/main">
            <a:r>
              <a:t>출처</a:t>
            </a:r>
          </a:p>
          <a:p xmlns:a="http://schemas.openxmlformats.org/drawingml/2006/main">
            <a:r>
              <a:t>Kapoor et al., AI Agents That Matter, 2024, https://arxiv.org/abs/2407.01502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프로그램 핵심 경로와 안전 제어는 구현 및 자동 검증을 마쳤습니다. 배포 산출물은 만들어졌지만 Authenticode 서명 인증서가 없습니다. 벤치마크는 70/120이며 현재 PC에서 가능한 70셀은 모두 완료했습니다. 남은 50셀은 snapshot VM이 필요합니다. 실제 음성, Windows Hello, 참가자 연구는 새 동의와 외부 조건이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구현과 실험 결과를 구분해서 말해야 합니다. 프로그램에는 13개 제한 기능, 정책, 승인, 독립 검증, 감사와 STOP이 연결되어 있습니다. 최신 완전 회귀 기준은 762 통과, 3 건너뜀, 코드 줄 기준 83%입니다. 그러나 코드 서명, VM 50셀, 실제 음성·Hello, 참가자 실험은 외부 조건이 필요합니다. 따라서 완성품과 논문 효과를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질문을 받기 전에 빠르게 훑거나 질의응답 때 사용할 수 있습니다. 가장 중요한 답은 세 가지입니다. 첫째, 연구 기여는 특정 LLM이 아니라 실행 제어 하네스입니다. 둘째, 스킬은 권한이 아닙니다. 셋째, 효율 우월성은 아직 확정하지 않았고 완전한 비교 실험으로 검증합니다.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JARVIS-PC는 LLM의 말을 바로 실행하는 비서가 아닙니다. 모델은 계획을 제안하고, 등록 기능과 정책이 권한을 제한하며, 실행 후 독립 검증기가 실제 결과를 확인합니다. 졸업작품은 이 전체 시스템이고, 졸업논문은 같은 모델에서 하네스의 제어 수준을 바꿨을 때 성공률, 위험 실행, 확인 부담, 시간과 비용이 어떻게 달라지는지 검증합니다.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f306b216014e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f26ea42eff421e" /><Relationship Type="http://schemas.openxmlformats.org/officeDocument/2006/relationships/slideLayout" Target="/ppt/slideLayouts/slideLayout1.xml" Id="Re9d90467bf944f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d90467bf944f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c47ffbf95847f8" /><Relationship Type="http://schemas.openxmlformats.org/officeDocument/2006/relationships/notesSlide" Target="/ppt/notesSlides/notesSlide1.xml" Id="R5829342bd6514a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6875eb53b04949" /><Relationship Type="http://schemas.openxmlformats.org/officeDocument/2006/relationships/notesSlide" Target="/ppt/notesSlides/notesSlide2.xml" Id="R8630ca14d29348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ce6109076f4f0e" /><Relationship Type="http://schemas.openxmlformats.org/officeDocument/2006/relationships/notesSlide" Target="/ppt/notesSlides/notesSlide3.xml" Id="Rd5f7cf1ed73e49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396d1def7d43fb" /><Relationship Type="http://schemas.openxmlformats.org/officeDocument/2006/relationships/notesSlide" Target="/ppt/notesSlides/notesSlide4.xml" Id="Rf882c083f03e43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012db30e274c9b" /><Relationship Type="http://schemas.openxmlformats.org/officeDocument/2006/relationships/notesSlide" Target="/ppt/notesSlides/notesSlide5.xml" Id="R060f9f7945ac43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d1f5eff7084b4c" /><Relationship Type="http://schemas.openxmlformats.org/officeDocument/2006/relationships/notesSlide" Target="/ppt/notesSlides/notesSlide6.xml" Id="R9278eae47ac54b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6547fb863d4e61" /><Relationship Type="http://schemas.openxmlformats.org/officeDocument/2006/relationships/notesSlide" Target="/ppt/notesSlides/notesSlide7.xml" Id="R6fea78b7bfe54e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f6a28dc8454241" /><Relationship Type="http://schemas.openxmlformats.org/officeDocument/2006/relationships/notesSlide" Target="/ppt/notesSlides/notesSlide8.xml" Id="R56802455dbc243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aedb2597b04d11" /><Relationship Type="http://schemas.openxmlformats.org/officeDocument/2006/relationships/notesSlide" Target="/ppt/notesSlides/notesSlide9.xml" Id="Rc480237b92b742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6e75e8b9ccd4a40" /><Relationship Type="http://schemas.openxmlformats.org/officeDocument/2006/relationships/notesSlide" Target="/ppt/notesSlides/notesSlide10.xml" Id="R9874928619bf46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805051c37642ef" /><Relationship Type="http://schemas.openxmlformats.org/officeDocument/2006/relationships/notesSlide" Target="/ppt/notesSlides/notesSlide11.xml" Id="R29fe7ba86b2341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7f6c2fcc514ab0" /><Relationship Type="http://schemas.openxmlformats.org/officeDocument/2006/relationships/notesSlide" Target="/ppt/notesSlides/notesSlide12.xml" Id="R711df366a38e48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94ac891f3224fa4" /><Relationship Type="http://schemas.openxmlformats.org/officeDocument/2006/relationships/notesSlide" Target="/ppt/notesSlides/notesSlide13.xml" Id="Ra81e47b9e84146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264c0d5c4bb459a" /><Relationship Type="http://schemas.openxmlformats.org/officeDocument/2006/relationships/notesSlide" Target="/ppt/notesSlides/notesSlide14.xml" Id="R3b0b695cb26549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5e415e728c4564" /><Relationship Type="http://schemas.openxmlformats.org/officeDocument/2006/relationships/notesSlide" Target="/ppt/notesSlides/notesSlide15.xml" Id="R17350488325244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e11cc56ca94fdf" /><Relationship Type="http://schemas.openxmlformats.org/officeDocument/2006/relationships/notesSlide" Target="/ppt/notesSlides/notesSlide16.xml" Id="R51ee4da0e8ae496c" /></Relationships>
</file>

<file path=ppt/slides/slide1.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550880-2832-4DF0-B300-31D9CF78D100}"/>
              </a:ext>
            </a:extLst>
          </p:cNvPr>
          <p:cNvSpPr>
            <a:spLocks xmlns:a="http://schemas.openxmlformats.org/drawingml/2006/main" noGrp="1"/>
          </p:cNvSpPr>
          <p:nvPr/>
        </p:nvSpPr>
        <p:spPr>
          <a:xfrm xmlns:a="http://schemas.openxmlformats.org/drawingml/2006/main">
            <a:off x="685800" y="114300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음성 기반 Windows 작업 에이전트</a:t>
            </a:r>
          </a:p>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JARVIS-PC</a:t>
            </a:r>
          </a:p>
        </p:txBody>
      </p:sp>
      <p:sp>
        <p:nvSpPr>
          <p:cNvPr id="2" name="">
            <a:extLst xmlns:a="http://schemas.openxmlformats.org/drawingml/2006/main">
              <a:ext uri="{FF2B5EF4-FFF2-40B4-BE49-F238E27FC236}">
                <a16:creationId xmlns:a16="http://schemas.microsoft.com/office/drawing/2014/main" id="{CC2CD248-F921-4C99-B261-2F4BAE033511}"/>
              </a:ext>
            </a:extLst>
          </p:cNvPr>
          <p:cNvSpPr>
            <a:spLocks xmlns:a="http://schemas.openxmlformats.org/drawingml/2006/main" noGrp="1"/>
          </p:cNvSpPr>
          <p:nvPr/>
        </p:nvSpPr>
        <p:spPr>
          <a:xfrm xmlns:a="http://schemas.openxmlformats.org/drawingml/2006/main">
            <a:off x="723900" y="30956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00" b="0">
                <a:solidFill>
                  <a:srgbClr val="C8D5E8"/>
                </a:solidFill>
                <a:latin typeface="NanumGothic"/>
                <a:ea typeface="NanumGothic"/>
                <a:cs typeface="NanumGothic"/>
              </a:defRPr>
            </a:pPr>
            <a:r>
              <a:rPr sz="1800" b="0">
                <a:solidFill>
                  <a:srgbClr val="C8D5E8"/>
                </a:solidFill>
                <a:latin typeface="NanumGothic"/>
                <a:ea typeface="NanumGothic"/>
                <a:cs typeface="NanumGothic"/>
              </a:rPr>
              <a:t>명령 의도, 작업 위험, 실제 결과를 분리해 판단하는 실행 제어 구조</a:t>
            </a:r>
          </a:p>
        </p:txBody>
      </p:sp>
      <p:sp>
        <p:nvSpPr>
          <p:cNvPr id="3" name="">
            <a:extLst xmlns:a="http://schemas.openxmlformats.org/drawingml/2006/main">
              <a:ext uri="{FF2B5EF4-FFF2-40B4-BE49-F238E27FC236}">
                <a16:creationId xmlns:a16="http://schemas.microsoft.com/office/drawing/2014/main" id="{13EDAF6C-0E6A-4474-8C83-4A5778AF3C66}"/>
              </a:ext>
            </a:extLst>
          </p:cNvPr>
          <p:cNvSpPr>
            <a:spLocks xmlns:a="http://schemas.openxmlformats.org/drawingml/2006/main" noGrp="1"/>
          </p:cNvSpPr>
          <p:nvPr/>
        </p:nvSpPr>
        <p:spPr>
          <a:xfrm xmlns:a="http://schemas.openxmlformats.org/drawingml/2006/main">
            <a:off x="742950" y="3895725"/>
            <a:ext cx="6762750" cy="0"/>
          </a:xfrm>
          <a:prstGeom xmlns:a="http://schemas.openxmlformats.org/drawingml/2006/main" prst="line">
            <a:avLst/>
          </a:prstGeom>
          <a:noFill xmlns:a="http://schemas.openxmlformats.org/drawingml/2006/main"/>
          <a:ln xmlns:a="http://schemas.openxmlformats.org/drawingml/2006/main" w="38100">
            <a:solidFill>
              <a:srgbClr val="59C3E5"/>
            </a:solidFill>
            <a:prstDash val="solid"/>
          </a:ln>
        </p:spPr>
      </p:sp>
      <p:sp>
        <p:nvSpPr>
          <p:cNvPr id="4" name="">
            <a:extLst xmlns:a="http://schemas.openxmlformats.org/drawingml/2006/main">
              <a:ext uri="{FF2B5EF4-FFF2-40B4-BE49-F238E27FC236}">
                <a16:creationId xmlns:a16="http://schemas.microsoft.com/office/drawing/2014/main" id="{1688986C-E7CD-4957-8A8B-1D9064D4F004}"/>
              </a:ext>
            </a:extLst>
          </p:cNvPr>
          <p:cNvSpPr>
            <a:spLocks xmlns:a="http://schemas.openxmlformats.org/drawingml/2006/main" noGrp="1"/>
          </p:cNvSpPr>
          <p:nvPr/>
        </p:nvSpPr>
        <p:spPr>
          <a:xfrm xmlns:a="http://schemas.openxmlformats.org/drawingml/2006/main">
            <a:off x="742950" y="421957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졸업작품: 안전한 Windows PC 제어 에이전트</a:t>
            </a:r>
          </a:p>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졸업논문: 의도·위험·실행·검증 하네스의 효과</a:t>
            </a:r>
          </a:p>
        </p:txBody>
      </p:sp>
      <p:sp>
        <p:nvSpPr>
          <p:cNvPr id="5" name="">
            <a:extLst xmlns:a="http://schemas.openxmlformats.org/drawingml/2006/main">
              <a:ext uri="{FF2B5EF4-FFF2-40B4-BE49-F238E27FC236}">
                <a16:creationId xmlns:a16="http://schemas.microsoft.com/office/drawing/2014/main" id="{0BF06B70-E8BD-4E07-BD78-653B5746E821}"/>
              </a:ext>
            </a:extLst>
          </p:cNvPr>
          <p:cNvSpPr>
            <a:spLocks xmlns:a="http://schemas.openxmlformats.org/drawingml/2006/main" noGrp="1"/>
          </p:cNvSpPr>
          <p:nvPr/>
        </p:nvSpPr>
        <p:spPr>
          <a:xfrm xmlns:a="http://schemas.openxmlformats.org/drawingml/2006/main">
            <a:off x="8763000" y="1238250"/>
            <a:ext cx="2381250" cy="4095750"/>
          </a:xfrm>
          <a:prstGeom xmlns:a="http://schemas.openxmlformats.org/drawingml/2006/main" prst="roundRect">
            <a:avLst>
              <a:gd name="adj" fmla="val 7200"/>
            </a:avLst>
          </a:prstGeom>
          <a:solidFill xmlns:a="http://schemas.openxmlformats.org/drawingml/2006/main">
            <a:srgbClr val="15233B"/>
          </a:solidFill>
          <a:ln xmlns:a="http://schemas.openxmlformats.org/drawingml/2006/main" w="9525">
            <a:solidFill>
              <a:srgbClr val="314767"/>
            </a:solidFill>
            <a:prstDash val="solid"/>
          </a:ln>
        </p:spPr>
      </p:sp>
      <p:sp>
        <p:nvSpPr>
          <p:cNvPr id="6" name="">
            <a:extLst xmlns:a="http://schemas.openxmlformats.org/drawingml/2006/main">
              <a:ext uri="{FF2B5EF4-FFF2-40B4-BE49-F238E27FC236}">
                <a16:creationId xmlns:a16="http://schemas.microsoft.com/office/drawing/2014/main" id="{2EC5B56B-3F34-430D-B22C-03575D5B94DE}"/>
              </a:ext>
            </a:extLst>
          </p:cNvPr>
          <p:cNvSpPr>
            <a:spLocks xmlns:a="http://schemas.openxmlformats.org/drawingml/2006/main" noGrp="1"/>
          </p:cNvSpPr>
          <p:nvPr/>
        </p:nvSpPr>
        <p:spPr>
          <a:xfrm xmlns:a="http://schemas.openxmlformats.org/drawingml/2006/main">
            <a:off x="9048750" y="15716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59C3E5"/>
                </a:solidFill>
                <a:latin typeface="NanumGothic"/>
                <a:ea typeface="NanumGothic"/>
                <a:cs typeface="NanumGothic"/>
              </a:defRPr>
            </a:pPr>
            <a:r>
              <a:rPr sz="1500" b="1">
                <a:solidFill>
                  <a:srgbClr val="59C3E5"/>
                </a:solidFill>
                <a:latin typeface="NanumGothic"/>
                <a:ea typeface="NanumGothic"/>
                <a:cs typeface="NanumGothic"/>
              </a:rPr>
              <a:t>듣기</a:t>
            </a:r>
          </a:p>
        </p:txBody>
      </p:sp>
      <p:sp>
        <p:nvSpPr>
          <p:cNvPr id="7" name="">
            <a:extLst xmlns:a="http://schemas.openxmlformats.org/drawingml/2006/main">
              <a:ext uri="{FF2B5EF4-FFF2-40B4-BE49-F238E27FC236}">
                <a16:creationId xmlns:a16="http://schemas.microsoft.com/office/drawing/2014/main" id="{19442F4A-0EDF-4E76-A608-64DAEB9613E4}"/>
              </a:ext>
            </a:extLst>
          </p:cNvPr>
          <p:cNvSpPr>
            <a:spLocks xmlns:a="http://schemas.openxmlformats.org/drawingml/2006/main" noGrp="1"/>
          </p:cNvSpPr>
          <p:nvPr/>
        </p:nvSpPr>
        <p:spPr>
          <a:xfrm xmlns:a="http://schemas.openxmlformats.org/drawingml/2006/main">
            <a:off x="9048750" y="22669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이해</a:t>
            </a:r>
          </a:p>
        </p:txBody>
      </p:sp>
      <p:sp>
        <p:nvSpPr>
          <p:cNvPr id="8" name="">
            <a:extLst xmlns:a="http://schemas.openxmlformats.org/drawingml/2006/main">
              <a:ext uri="{FF2B5EF4-FFF2-40B4-BE49-F238E27FC236}">
                <a16:creationId xmlns:a16="http://schemas.microsoft.com/office/drawing/2014/main" id="{4163F3D1-7EBE-4AF1-B234-4BA58131B219}"/>
              </a:ext>
            </a:extLst>
          </p:cNvPr>
          <p:cNvSpPr>
            <a:spLocks xmlns:a="http://schemas.openxmlformats.org/drawingml/2006/main" noGrp="1"/>
          </p:cNvSpPr>
          <p:nvPr/>
        </p:nvSpPr>
        <p:spPr>
          <a:xfrm xmlns:a="http://schemas.openxmlformats.org/drawingml/2006/main">
            <a:off x="904875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2A93B"/>
                </a:solidFill>
                <a:latin typeface="NanumGothic"/>
                <a:ea typeface="NanumGothic"/>
                <a:cs typeface="NanumGothic"/>
              </a:defRPr>
            </a:pPr>
            <a:r>
              <a:rPr sz="1500" b="1">
                <a:solidFill>
                  <a:srgbClr val="F2A93B"/>
                </a:solidFill>
                <a:latin typeface="NanumGothic"/>
                <a:ea typeface="NanumGothic"/>
                <a:cs typeface="NanumGothic"/>
              </a:rPr>
              <a:t>판단</a:t>
            </a:r>
          </a:p>
        </p:txBody>
      </p:sp>
      <p:sp>
        <p:nvSpPr>
          <p:cNvPr id="9" name="">
            <a:extLst xmlns:a="http://schemas.openxmlformats.org/drawingml/2006/main">
              <a:ext uri="{FF2B5EF4-FFF2-40B4-BE49-F238E27FC236}">
                <a16:creationId xmlns:a16="http://schemas.microsoft.com/office/drawing/2014/main" id="{32B6F6AF-E678-4B8A-8583-BC481FEE7BD6}"/>
              </a:ext>
            </a:extLst>
          </p:cNvPr>
          <p:cNvSpPr>
            <a:spLocks xmlns:a="http://schemas.openxmlformats.org/drawingml/2006/main" noGrp="1"/>
          </p:cNvSpPr>
          <p:nvPr/>
        </p:nvSpPr>
        <p:spPr>
          <a:xfrm xmlns:a="http://schemas.openxmlformats.org/drawingml/2006/main">
            <a:off x="9048750" y="36576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2FA36B"/>
                </a:solidFill>
                <a:latin typeface="NanumGothic"/>
                <a:ea typeface="NanumGothic"/>
                <a:cs typeface="NanumGothic"/>
              </a:defRPr>
            </a:pPr>
            <a:r>
              <a:rPr sz="1500" b="1">
                <a:solidFill>
                  <a:srgbClr val="2FA36B"/>
                </a:solidFill>
                <a:latin typeface="NanumGothic"/>
                <a:ea typeface="NanumGothic"/>
                <a:cs typeface="NanumGothic"/>
              </a:rPr>
              <a:t>실행</a:t>
            </a:r>
          </a:p>
        </p:txBody>
      </p:sp>
      <p:sp>
        <p:nvSpPr>
          <p:cNvPr id="10" name="">
            <a:extLst xmlns:a="http://schemas.openxmlformats.org/drawingml/2006/main">
              <a:ext uri="{FF2B5EF4-FFF2-40B4-BE49-F238E27FC236}">
                <a16:creationId xmlns:a16="http://schemas.microsoft.com/office/drawing/2014/main" id="{C11E6BCB-4AD6-40F7-9049-EE07CA33A937}"/>
              </a:ext>
            </a:extLst>
          </p:cNvPr>
          <p:cNvSpPr>
            <a:spLocks xmlns:a="http://schemas.openxmlformats.org/drawingml/2006/main" noGrp="1"/>
          </p:cNvSpPr>
          <p:nvPr/>
        </p:nvSpPr>
        <p:spPr>
          <a:xfrm xmlns:a="http://schemas.openxmlformats.org/drawingml/2006/main">
            <a:off x="9048750" y="43529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확인</a:t>
            </a:r>
          </a:p>
        </p:txBody>
      </p:sp>
    </p:spTree>
    <p:extLst>
      <p:ext uri="{BB962C8B-B14F-4D97-AF65-F5344CB8AC3E}">
        <p14:creationId xmlns:p14="http://schemas.microsoft.com/office/powerpoint/2010/main" val="1552413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0AC1A2-1433-44E2-95B6-1A1B1DF97A7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왜 ‘항상 듣는 PC 에이전트’가 어려운가</a:t>
            </a:r>
          </a:p>
        </p:txBody>
      </p:sp>
      <p:sp>
        <p:nvSpPr>
          <p:cNvPr id="2" name="">
            <a:extLst xmlns:a="http://schemas.openxmlformats.org/drawingml/2006/main">
              <a:ext uri="{FF2B5EF4-FFF2-40B4-BE49-F238E27FC236}">
                <a16:creationId xmlns:a16="http://schemas.microsoft.com/office/drawing/2014/main" id="{FE044968-E2A9-4A8B-9438-BCEC2686493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02</a:t>
            </a:r>
          </a:p>
        </p:txBody>
      </p:sp>
      <p:sp>
        <p:nvSpPr>
          <p:cNvPr id="3" name="">
            <a:extLst xmlns:a="http://schemas.openxmlformats.org/drawingml/2006/main">
              <a:ext uri="{FF2B5EF4-FFF2-40B4-BE49-F238E27FC236}">
                <a16:creationId xmlns:a16="http://schemas.microsoft.com/office/drawing/2014/main" id="{75BB9575-A632-4B69-9173-2FDAC8503D3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43939060-B52A-4718-AF96-9791DDC30E2E}"/>
              </a:ext>
            </a:extLst>
          </p:cNvPr>
          <p:cNvSpPr>
            <a:spLocks xmlns:a="http://schemas.openxmlformats.org/drawingml/2006/main" noGrp="1"/>
          </p:cNvSpPr>
          <p:nvPr/>
        </p:nvSpPr>
        <p:spPr>
          <a:xfrm xmlns:a="http://schemas.openxmlformats.org/drawingml/2006/main">
            <a:off x="762000" y="135255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75" b="1">
                <a:solidFill>
                  <a:srgbClr val="172033"/>
                </a:solidFill>
                <a:latin typeface="NanumGothic"/>
                <a:ea typeface="NanumGothic"/>
                <a:cs typeface="NanumGothic"/>
              </a:defRPr>
            </a:pPr>
            <a:r>
              <a:rPr sz="2775" b="1">
                <a:solidFill>
                  <a:srgbClr val="172033"/>
                </a:solidFill>
                <a:latin typeface="NanumGothic"/>
                <a:ea typeface="NanumGothic"/>
                <a:cs typeface="NanumGothic"/>
              </a:rPr>
              <a:t>“아, 컴퓨터 그냥 초기화해 버릴까?”</a:t>
            </a:r>
          </a:p>
        </p:txBody>
      </p:sp>
      <p:sp>
        <p:nvSpPr>
          <p:cNvPr id="5" name="">
            <a:extLst xmlns:a="http://schemas.openxmlformats.org/drawingml/2006/main">
              <a:ext uri="{FF2B5EF4-FFF2-40B4-BE49-F238E27FC236}">
                <a16:creationId xmlns:a16="http://schemas.microsoft.com/office/drawing/2014/main" id="{89419827-7EE0-453C-B5F5-CACDA748007D}"/>
              </a:ext>
            </a:extLst>
          </p:cNvPr>
          <p:cNvSpPr>
            <a:spLocks xmlns:a="http://schemas.openxmlformats.org/drawingml/2006/main" noGrp="1"/>
          </p:cNvSpPr>
          <p:nvPr/>
        </p:nvSpPr>
        <p:spPr>
          <a:xfrm xmlns:a="http://schemas.openxmlformats.org/drawingml/2006/main">
            <a:off x="781050" y="2095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0">
                <a:solidFill>
                  <a:srgbClr val="657187"/>
                </a:solidFill>
                <a:latin typeface="NanumGothic"/>
                <a:ea typeface="NanumGothic"/>
                <a:cs typeface="NanumGothic"/>
              </a:defRPr>
            </a:pPr>
            <a:r>
              <a:rPr sz="1650" b="0">
                <a:solidFill>
                  <a:srgbClr val="657187"/>
                </a:solidFill>
                <a:latin typeface="NanumGothic"/>
                <a:ea typeface="NanumGothic"/>
                <a:cs typeface="NanumGothic"/>
              </a:rPr>
              <a:t>음성 인식(STT)이 문장을 정확히 받아써도, 실행 명령이라고 단정할 수 없다.</a:t>
            </a:r>
          </a:p>
        </p:txBody>
      </p:sp>
      <p:sp>
        <p:nvSpPr>
          <p:cNvPr id="6" name="">
            <a:extLst xmlns:a="http://schemas.openxmlformats.org/drawingml/2006/main">
              <a:ext uri="{FF2B5EF4-FFF2-40B4-BE49-F238E27FC236}">
                <a16:creationId xmlns:a16="http://schemas.microsoft.com/office/drawing/2014/main" id="{F232EE3E-1E0F-4BA7-B96C-6CD011857B9D}"/>
              </a:ext>
            </a:extLst>
          </p:cNvPr>
          <p:cNvSpPr>
            <a:spLocks xmlns:a="http://schemas.openxmlformats.org/drawingml/2006/main" noGrp="1"/>
          </p:cNvSpPr>
          <p:nvPr/>
        </p:nvSpPr>
        <p:spPr>
          <a:xfrm xmlns:a="http://schemas.openxmlformats.org/drawingml/2006/main">
            <a:off x="819150" y="3000375"/>
            <a:ext cx="2857500" cy="1676400"/>
          </a:xfrm>
          <a:prstGeom xmlns:a="http://schemas.openxmlformats.org/drawingml/2006/main" prst="roundRect">
            <a:avLst>
              <a:gd name="adj" fmla="val 7955"/>
            </a:avLst>
          </a:prstGeom>
          <a:solidFill xmlns:a="http://schemas.openxmlformats.org/drawingml/2006/main">
            <a:srgbClr val="F4F7FB"/>
          </a:solidFill>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1BE06A82-A487-421D-A50D-AAF76020E3F9}"/>
              </a:ext>
            </a:extLst>
          </p:cNvPr>
          <p:cNvSpPr>
            <a:spLocks xmlns:a="http://schemas.openxmlformats.org/drawingml/2006/main" noGrp="1"/>
          </p:cNvSpPr>
          <p:nvPr/>
        </p:nvSpPr>
        <p:spPr>
          <a:xfrm xmlns:a="http://schemas.openxmlformats.org/drawingml/2006/main">
            <a:off x="1000125" y="3181350"/>
            <a:ext cx="400050"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a:t>
            </a:r>
          </a:p>
        </p:txBody>
      </p:sp>
      <p:sp>
        <p:nvSpPr>
          <p:cNvPr id="8" name="">
            <a:extLst xmlns:a="http://schemas.openxmlformats.org/drawingml/2006/main">
              <a:ext uri="{FF2B5EF4-FFF2-40B4-BE49-F238E27FC236}">
                <a16:creationId xmlns:a16="http://schemas.microsoft.com/office/drawing/2014/main" id="{C278ADC2-DA07-45B1-BDD6-802CBB88C2D7}"/>
              </a:ext>
            </a:extLst>
          </p:cNvPr>
          <p:cNvSpPr>
            <a:spLocks xmlns:a="http://schemas.openxmlformats.org/drawingml/2006/main" noGrp="1"/>
          </p:cNvSpPr>
          <p:nvPr/>
        </p:nvSpPr>
        <p:spPr>
          <a:xfrm xmlns:a="http://schemas.openxmlformats.org/drawingml/2006/main">
            <a:off x="15621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음성 인식</a:t>
            </a:r>
          </a:p>
        </p:txBody>
      </p:sp>
      <p:sp>
        <p:nvSpPr>
          <p:cNvPr id="9" name="">
            <a:extLst xmlns:a="http://schemas.openxmlformats.org/drawingml/2006/main">
              <a:ext uri="{FF2B5EF4-FFF2-40B4-BE49-F238E27FC236}">
                <a16:creationId xmlns:a16="http://schemas.microsoft.com/office/drawing/2014/main" id="{42CC106B-AFAD-4A9C-AEFF-603F44BE6DF1}"/>
              </a:ext>
            </a:extLst>
          </p:cNvPr>
          <p:cNvSpPr>
            <a:spLocks xmlns:a="http://schemas.openxmlformats.org/drawingml/2006/main" noGrp="1"/>
          </p:cNvSpPr>
          <p:nvPr/>
        </p:nvSpPr>
        <p:spPr>
          <a:xfrm xmlns:a="http://schemas.openxmlformats.org/drawingml/2006/main">
            <a:off x="10477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무슨 말을 했는가</a:t>
            </a:r>
          </a:p>
        </p:txBody>
      </p:sp>
      <p:sp>
        <p:nvSpPr>
          <p:cNvPr id="10" name="">
            <a:extLst xmlns:a="http://schemas.openxmlformats.org/drawingml/2006/main">
              <a:ext uri="{FF2B5EF4-FFF2-40B4-BE49-F238E27FC236}">
                <a16:creationId xmlns:a16="http://schemas.microsoft.com/office/drawing/2014/main" id="{F0E8988B-F05E-4F16-8E9F-84DDD1D3963B}"/>
              </a:ext>
            </a:extLst>
          </p:cNvPr>
          <p:cNvSpPr>
            <a:spLocks xmlns:a="http://schemas.openxmlformats.org/drawingml/2006/main" noGrp="1"/>
          </p:cNvSpPr>
          <p:nvPr/>
        </p:nvSpPr>
        <p:spPr>
          <a:xfrm xmlns:a="http://schemas.openxmlformats.org/drawingml/2006/main">
            <a:off x="4667250" y="3000375"/>
            <a:ext cx="2857500" cy="1676400"/>
          </a:xfrm>
          <a:prstGeom xmlns:a="http://schemas.openxmlformats.org/drawingml/2006/main" prst="roundRect">
            <a:avLst>
              <a:gd name="adj" fmla="val 7955"/>
            </a:avLst>
          </a:prstGeom>
          <a:solidFill xmlns:a="http://schemas.openxmlformats.org/drawingml/2006/main">
            <a:srgbClr val="FFF8EA"/>
          </a:solidFill>
          <a:ln xmlns:a="http://schemas.openxmlformats.org/drawingml/2006/main" w="9525">
            <a:solidFill>
              <a:srgbClr val="F0D293"/>
            </a:solidFill>
            <a:prstDash val="solid"/>
          </a:ln>
        </p:spPr>
      </p:sp>
      <p:sp>
        <p:nvSpPr>
          <p:cNvPr id="11" name="">
            <a:extLst xmlns:a="http://schemas.openxmlformats.org/drawingml/2006/main">
              <a:ext uri="{FF2B5EF4-FFF2-40B4-BE49-F238E27FC236}">
                <a16:creationId xmlns:a16="http://schemas.microsoft.com/office/drawing/2014/main" id="{F9AAD998-C22E-4D23-BF0F-45F9F617214C}"/>
              </a:ext>
            </a:extLst>
          </p:cNvPr>
          <p:cNvSpPr>
            <a:spLocks xmlns:a="http://schemas.openxmlformats.org/drawingml/2006/main" noGrp="1"/>
          </p:cNvSpPr>
          <p:nvPr/>
        </p:nvSpPr>
        <p:spPr>
          <a:xfrm xmlns:a="http://schemas.openxmlformats.org/drawingml/2006/main">
            <a:off x="4848225" y="3181350"/>
            <a:ext cx="40005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2</a:t>
            </a:r>
          </a:p>
        </p:txBody>
      </p:sp>
      <p:sp>
        <p:nvSpPr>
          <p:cNvPr id="12" name="">
            <a:extLst xmlns:a="http://schemas.openxmlformats.org/drawingml/2006/main">
              <a:ext uri="{FF2B5EF4-FFF2-40B4-BE49-F238E27FC236}">
                <a16:creationId xmlns:a16="http://schemas.microsoft.com/office/drawing/2014/main" id="{AF59DCF1-946E-4487-B7CB-F1D0AF061F6F}"/>
              </a:ext>
            </a:extLst>
          </p:cNvPr>
          <p:cNvSpPr>
            <a:spLocks xmlns:a="http://schemas.openxmlformats.org/drawingml/2006/main" noGrp="1"/>
          </p:cNvSpPr>
          <p:nvPr/>
        </p:nvSpPr>
        <p:spPr>
          <a:xfrm xmlns:a="http://schemas.openxmlformats.org/drawingml/2006/main">
            <a:off x="54102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발화 의도</a:t>
            </a:r>
          </a:p>
        </p:txBody>
      </p:sp>
      <p:sp>
        <p:nvSpPr>
          <p:cNvPr id="13" name="">
            <a:extLst xmlns:a="http://schemas.openxmlformats.org/drawingml/2006/main">
              <a:ext uri="{FF2B5EF4-FFF2-40B4-BE49-F238E27FC236}">
                <a16:creationId xmlns:a16="http://schemas.microsoft.com/office/drawing/2014/main" id="{B707009D-E81C-4A4C-B739-63C14616E728}"/>
              </a:ext>
            </a:extLst>
          </p:cNvPr>
          <p:cNvSpPr>
            <a:spLocks xmlns:a="http://schemas.openxmlformats.org/drawingml/2006/main" noGrp="1"/>
          </p:cNvSpPr>
          <p:nvPr/>
        </p:nvSpPr>
        <p:spPr>
          <a:xfrm xmlns:a="http://schemas.openxmlformats.org/drawingml/2006/main">
            <a:off x="48958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명령인가, 대화인가</a:t>
            </a:r>
          </a:p>
        </p:txBody>
      </p:sp>
      <p:sp>
        <p:nvSpPr>
          <p:cNvPr id="14" name="">
            <a:extLst xmlns:a="http://schemas.openxmlformats.org/drawingml/2006/main">
              <a:ext uri="{FF2B5EF4-FFF2-40B4-BE49-F238E27FC236}">
                <a16:creationId xmlns:a16="http://schemas.microsoft.com/office/drawing/2014/main" id="{C90F7ED9-3D19-4B94-9ED4-0E85FFDA5BF1}"/>
              </a:ext>
            </a:extLst>
          </p:cNvPr>
          <p:cNvSpPr>
            <a:spLocks xmlns:a="http://schemas.openxmlformats.org/drawingml/2006/main" noGrp="1"/>
          </p:cNvSpPr>
          <p:nvPr/>
        </p:nvSpPr>
        <p:spPr>
          <a:xfrm xmlns:a="http://schemas.openxmlformats.org/drawingml/2006/main">
            <a:off x="8515350" y="3000375"/>
            <a:ext cx="2857500" cy="1676400"/>
          </a:xfrm>
          <a:prstGeom xmlns:a="http://schemas.openxmlformats.org/drawingml/2006/main" prst="roundRect">
            <a:avLst>
              <a:gd name="adj" fmla="val 7955"/>
            </a:avLst>
          </a:prstGeom>
          <a:solidFill xmlns:a="http://schemas.openxmlformats.org/drawingml/2006/main">
            <a:srgbClr val="FFF0F0"/>
          </a:solidFill>
          <a:ln xmlns:a="http://schemas.openxmlformats.org/drawingml/2006/main" w="9525">
            <a:solidFill>
              <a:srgbClr val="F1B8B8"/>
            </a:solidFill>
            <a:prstDash val="solid"/>
          </a:ln>
        </p:spPr>
      </p:sp>
      <p:sp>
        <p:nvSpPr>
          <p:cNvPr id="15" name="">
            <a:extLst xmlns:a="http://schemas.openxmlformats.org/drawingml/2006/main">
              <a:ext uri="{FF2B5EF4-FFF2-40B4-BE49-F238E27FC236}">
                <a16:creationId xmlns:a16="http://schemas.microsoft.com/office/drawing/2014/main" id="{E41C3480-9EDE-4714-9B86-AA7186E82D7B}"/>
              </a:ext>
            </a:extLst>
          </p:cNvPr>
          <p:cNvSpPr>
            <a:spLocks xmlns:a="http://schemas.openxmlformats.org/drawingml/2006/main" noGrp="1"/>
          </p:cNvSpPr>
          <p:nvPr/>
        </p:nvSpPr>
        <p:spPr>
          <a:xfrm xmlns:a="http://schemas.openxmlformats.org/drawingml/2006/main">
            <a:off x="8696325" y="3181350"/>
            <a:ext cx="40005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3</a:t>
            </a:r>
          </a:p>
        </p:txBody>
      </p:sp>
      <p:sp>
        <p:nvSpPr>
          <p:cNvPr id="16" name="">
            <a:extLst xmlns:a="http://schemas.openxmlformats.org/drawingml/2006/main">
              <a:ext uri="{FF2B5EF4-FFF2-40B4-BE49-F238E27FC236}">
                <a16:creationId xmlns:a16="http://schemas.microsoft.com/office/drawing/2014/main" id="{AB266EAB-4A38-454D-95E1-7FECF91C4C5C}"/>
              </a:ext>
            </a:extLst>
          </p:cNvPr>
          <p:cNvSpPr>
            <a:spLocks xmlns:a="http://schemas.openxmlformats.org/drawingml/2006/main" noGrp="1"/>
          </p:cNvSpPr>
          <p:nvPr/>
        </p:nvSpPr>
        <p:spPr>
          <a:xfrm xmlns:a="http://schemas.openxmlformats.org/drawingml/2006/main">
            <a:off x="92583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실행 위험</a:t>
            </a:r>
          </a:p>
        </p:txBody>
      </p:sp>
      <p:sp>
        <p:nvSpPr>
          <p:cNvPr id="17" name="">
            <a:extLst xmlns:a="http://schemas.openxmlformats.org/drawingml/2006/main">
              <a:ext uri="{FF2B5EF4-FFF2-40B4-BE49-F238E27FC236}">
                <a16:creationId xmlns:a16="http://schemas.microsoft.com/office/drawing/2014/main" id="{33C7FB49-7589-4C68-B332-645B213A588F}"/>
              </a:ext>
            </a:extLst>
          </p:cNvPr>
          <p:cNvSpPr>
            <a:spLocks xmlns:a="http://schemas.openxmlformats.org/drawingml/2006/main" noGrp="1"/>
          </p:cNvSpPr>
          <p:nvPr/>
        </p:nvSpPr>
        <p:spPr>
          <a:xfrm xmlns:a="http://schemas.openxmlformats.org/drawingml/2006/main">
            <a:off x="87439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자동 실행해도 되는가</a:t>
            </a:r>
          </a:p>
        </p:txBody>
      </p:sp>
      <p:sp>
        <p:nvSpPr>
          <p:cNvPr id="18" name="">
            <a:extLst xmlns:a="http://schemas.openxmlformats.org/drawingml/2006/main">
              <a:ext uri="{FF2B5EF4-FFF2-40B4-BE49-F238E27FC236}">
                <a16:creationId xmlns:a16="http://schemas.microsoft.com/office/drawing/2014/main" id="{2F8CB8BA-EA45-4602-A1EB-A8F9DCD3FDD4}"/>
              </a:ext>
            </a:extLst>
          </p:cNvPr>
          <p:cNvSpPr>
            <a:spLocks xmlns:a="http://schemas.openxmlformats.org/drawingml/2006/main" noGrp="1"/>
          </p:cNvSpPr>
          <p:nvPr/>
        </p:nvSpPr>
        <p:spPr>
          <a:xfrm xmlns:a="http://schemas.openxmlformats.org/drawingml/2006/main">
            <a:off x="800100" y="52387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100" b="1">
                <a:solidFill>
                  <a:srgbClr val="243B64"/>
                </a:solidFill>
                <a:latin typeface="NanumGothic"/>
                <a:ea typeface="NanumGothic"/>
                <a:cs typeface="NanumGothic"/>
              </a:defRPr>
            </a:pPr>
            <a:r>
              <a:rPr sz="2100" b="1">
                <a:solidFill>
                  <a:srgbClr val="243B64"/>
                </a:solidFill>
                <a:latin typeface="NanumGothic"/>
                <a:ea typeface="NanumGothic"/>
                <a:cs typeface="NanumGothic"/>
              </a:rPr>
              <a:t>핵심 문제: 인식 정확도와 안전한 실행 판단은 서로 다른 문제다.</a:t>
            </a:r>
          </a:p>
        </p:txBody>
      </p:sp>
    </p:spTree>
    <p:extLst>
      <p:ext uri="{BB962C8B-B14F-4D97-AF65-F5344CB8AC3E}">
        <p14:creationId xmlns:p14="http://schemas.microsoft.com/office/powerpoint/2010/main" val="953985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21884A-6790-4849-B7B7-8F35C5AA2F9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기존 PC 에이전트와 남아 있는 공백</a:t>
            </a:r>
          </a:p>
        </p:txBody>
      </p:sp>
      <p:sp>
        <p:nvSpPr>
          <p:cNvPr id="2" name="">
            <a:extLst xmlns:a="http://schemas.openxmlformats.org/drawingml/2006/main">
              <a:ext uri="{FF2B5EF4-FFF2-40B4-BE49-F238E27FC236}">
                <a16:creationId xmlns:a16="http://schemas.microsoft.com/office/drawing/2014/main" id="{02071C8C-3B7F-414C-B82C-A52CFCEAD24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03</a:t>
            </a:r>
          </a:p>
        </p:txBody>
      </p:sp>
      <p:sp>
        <p:nvSpPr>
          <p:cNvPr id="3" name="">
            <a:extLst xmlns:a="http://schemas.openxmlformats.org/drawingml/2006/main">
              <a:ext uri="{FF2B5EF4-FFF2-40B4-BE49-F238E27FC236}">
                <a16:creationId xmlns:a16="http://schemas.microsoft.com/office/drawing/2014/main" id="{78737AB3-F3D9-47B2-80EF-1DFD7153BF6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4" name=""/>
          <p:cNvGraphicFramePr/>
          <p:nvPr/>
        </p:nvGraphicFramePr>
        <p:xfrm>
          <a:off xmlns:a="http://schemas.openxmlformats.org/drawingml/2006/main" x="685800" y="1381125"/>
          <a:ext xmlns:a="http://schemas.openxmlformats.org/drawingml/2006/main" cx="10820400" cy="3333750"/>
        </p:xfrm>
        <a:graphic xmlns:a="http://schemas.openxmlformats.org/drawingml/2006/main">
          <a:graphicData uri="http://schemas.openxmlformats.org/drawingml/2006/table">
            <a:tbl>
              <a:tblPr/>
              <a:tblGrid>
                <a:gridCol w="2164080"/>
                <a:gridCol w="2164080"/>
                <a:gridCol w="2164080"/>
                <a:gridCol w="2164080"/>
                <a:gridCol w="2164080"/>
              </a:tblGrid>
              <a:tr h="666750">
                <a:tc>
                  <a:txBody>
                    <a:bodyPr/>
                    <a:lstStyle/>
                    <a:p>
                      <a:r>
                        <a:rPr sz="1275" b="1">
                          <a:solidFill>
                            <a:srgbClr val="FFFFFF"/>
                          </a:solidFill>
                          <a:latin typeface="NanumGothic"/>
                          <a:ea typeface="NanumGothic"/>
                          <a:cs typeface="NanumGothic"/>
                        </a:rPr>
                        <a:t>구분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실제 PC 조작</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다단계 작업</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상시 음성 명령 판별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위험·결과 검증</a:t>
                      </a:r>
                    </a:p>
                  </a:txBody>
                  <a:tcPr marL="91440" marR="91440" marT="45720" marB="45720" anchor="ctr">
                    <a:solidFill>
                      <a:srgbClr val="243B64"/>
                    </a:solidFill>
                  </a:tcPr>
                </a:tc>
              </a:tr>
              <a:tr h="666750">
                <a:tc>
                  <a:txBody>
                    <a:bodyPr/>
                    <a:lstStyle/>
                    <a:p>
                      <a:r>
                        <a:rPr sz="1200">
                          <a:solidFill>
                            <a:srgbClr val="172033"/>
                          </a:solidFill>
                          <a:latin typeface="NanumGothic"/>
                          <a:ea typeface="NanumGothic"/>
                          <a:cs typeface="NanumGothic"/>
                        </a:rPr>
                        <a:t>Claude Computer Use</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서비스 정책 중심</a:t>
                      </a:r>
                    </a:p>
                  </a:txBody>
                  <a:tcPr marL="91440" marR="91440" marT="45720" marB="45720" anchor="ctr"/>
                </a:tc>
              </a:tr>
              <a:tr h="666750">
                <a:tc>
                  <a:txBody>
                    <a:bodyPr/>
                    <a:lstStyle/>
                    <a:p>
                      <a:r>
                        <a:rPr sz="1200">
                          <a:solidFill>
                            <a:srgbClr val="172033"/>
                          </a:solidFill>
                          <a:latin typeface="NanumGothic"/>
                          <a:ea typeface="NanumGothic"/>
                          <a:cs typeface="NanumGothic"/>
                        </a:rPr>
                        <a:t>Open Interpreter</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음성 모드</a:t>
                      </a:r>
                    </a:p>
                  </a:txBody>
                  <a:tcPr marL="91440" marR="91440" marT="45720" marB="45720" anchor="ctr"/>
                </a:tc>
                <a:tc>
                  <a:txBody>
                    <a:bodyPr/>
                    <a:lstStyle/>
                    <a:p>
                      <a:r>
                        <a:rPr sz="1200">
                          <a:solidFill>
                            <a:srgbClr val="172033"/>
                          </a:solidFill>
                          <a:latin typeface="NanumGothic"/>
                          <a:ea typeface="NanumGothic"/>
                          <a:cs typeface="NanumGothic"/>
                        </a:rPr>
                        <a:t>확인·코드 실행 중심</a:t>
                      </a:r>
                    </a:p>
                  </a:txBody>
                  <a:tcPr marL="91440" marR="91440" marT="45720" marB="45720" anchor="ctr"/>
                </a:tc>
              </a:tr>
              <a:tr h="666750">
                <a:tc>
                  <a:txBody>
                    <a:bodyPr/>
                    <a:lstStyle/>
                    <a:p>
                      <a:r>
                        <a:rPr sz="1200">
                          <a:solidFill>
                            <a:srgbClr val="172033"/>
                          </a:solidFill>
                          <a:latin typeface="NanumGothic"/>
                          <a:ea typeface="NanumGothic"/>
                          <a:cs typeface="NanumGothic"/>
                        </a:rPr>
                        <a:t>Microsoft UFO2</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Windows 실행 구조 중심</a:t>
                      </a:r>
                    </a:p>
                  </a:txBody>
                  <a:tcPr marL="91440" marR="91440" marT="45720" marB="45720" anchor="ctr"/>
                </a:tc>
              </a:tr>
              <a:tr h="666750">
                <a:tc>
                  <a:txBody>
                    <a:bodyPr/>
                    <a:lstStyle/>
                    <a:p>
                      <a:r>
                        <a:rPr sz="1275" b="1">
                          <a:solidFill>
                            <a:srgbClr val="243B64"/>
                          </a:solidFill>
                          <a:latin typeface="NanumGothic"/>
                          <a:ea typeface="NanumGothic"/>
                          <a:cs typeface="NanumGothic"/>
                        </a:rPr>
                        <a:t>JARVIS-PC</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제한된 기능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가능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핵심 연구</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정책+독립 검증</a:t>
                      </a:r>
                    </a:p>
                  </a:txBody>
                  <a:tcPr marL="91440" marR="91440" marT="45720" marB="45720" anchor="ctr">
                    <a:solidFill>
                      <a:srgbClr val="EAF2FF"/>
                    </a:solidFill>
                  </a:tcPr>
                </a:tc>
              </a:tr>
            </a:tbl>
          </a:graphicData>
        </a:graphic>
      </p:graphicFrame>
      <p:sp>
        <p:nvSpPr>
          <p:cNvPr id="5" name="">
            <a:extLst xmlns:a="http://schemas.openxmlformats.org/drawingml/2006/main">
              <a:ext uri="{FF2B5EF4-FFF2-40B4-BE49-F238E27FC236}">
                <a16:creationId xmlns:a16="http://schemas.microsoft.com/office/drawing/2014/main" id="{1B4C2BE9-54A2-4C33-8C1B-0DDC6FFA3C9A}"/>
              </a:ext>
            </a:extLst>
          </p:cNvPr>
          <p:cNvSpPr>
            <a:spLocks xmlns:a="http://schemas.openxmlformats.org/drawingml/2006/main" noGrp="1"/>
          </p:cNvSpPr>
          <p:nvPr/>
        </p:nvSpPr>
        <p:spPr>
          <a:xfrm xmlns:a="http://schemas.openxmlformats.org/drawingml/2006/main">
            <a:off x="742950" y="5095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OSWorld 2.0 장시간 작업 완료율</a:t>
            </a:r>
          </a:p>
        </p:txBody>
      </p:sp>
      <p:sp>
        <p:nvSpPr>
          <p:cNvPr id="6" name="">
            <a:extLst xmlns:a="http://schemas.openxmlformats.org/drawingml/2006/main">
              <a:ext uri="{FF2B5EF4-FFF2-40B4-BE49-F238E27FC236}">
                <a16:creationId xmlns:a16="http://schemas.microsoft.com/office/drawing/2014/main" id="{3435F02F-DDA1-452B-BA9A-711422A31E7B}"/>
              </a:ext>
            </a:extLst>
          </p:cNvPr>
          <p:cNvSpPr>
            <a:spLocks xmlns:a="http://schemas.openxmlformats.org/drawingml/2006/main" noGrp="1"/>
          </p:cNvSpPr>
          <p:nvPr/>
        </p:nvSpPr>
        <p:spPr>
          <a:xfrm xmlns:a="http://schemas.openxmlformats.org/drawingml/2006/main">
            <a:off x="4953000" y="48768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300" b="1">
                <a:solidFill>
                  <a:srgbClr val="D95050"/>
                </a:solidFill>
                <a:latin typeface="NanumGothic"/>
                <a:ea typeface="NanumGothic"/>
                <a:cs typeface="NanumGothic"/>
              </a:defRPr>
            </a:pPr>
            <a:r>
              <a:rPr sz="3300" b="1">
                <a:solidFill>
                  <a:srgbClr val="D95050"/>
                </a:solidFill>
                <a:latin typeface="NanumGothic"/>
                <a:ea typeface="NanumGothic"/>
                <a:cs typeface="NanumGothic"/>
              </a:rPr>
              <a:t>20.6%</a:t>
            </a:r>
          </a:p>
        </p:txBody>
      </p:sp>
      <p:sp>
        <p:nvSpPr>
          <p:cNvPr id="7" name="">
            <a:extLst xmlns:a="http://schemas.openxmlformats.org/drawingml/2006/main">
              <a:ext uri="{FF2B5EF4-FFF2-40B4-BE49-F238E27FC236}">
                <a16:creationId xmlns:a16="http://schemas.microsoft.com/office/drawing/2014/main" id="{B26B6086-8BCB-4123-8E6E-6C8673456839}"/>
              </a:ext>
            </a:extLst>
          </p:cNvPr>
          <p:cNvSpPr>
            <a:spLocks xmlns:a="http://schemas.openxmlformats.org/drawingml/2006/main" noGrp="1"/>
          </p:cNvSpPr>
          <p:nvPr/>
        </p:nvSpPr>
        <p:spPr>
          <a:xfrm xmlns:a="http://schemas.openxmlformats.org/drawingml/2006/main">
            <a:off x="7000875" y="492442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최고 성능 모델도 긴 실제 업무에서 제약 기억과 결과 검증을 자주 놓친다.</a:t>
            </a:r>
          </a:p>
        </p:txBody>
      </p:sp>
      <p:sp>
        <p:nvSpPr>
          <p:cNvPr id="8" name="">
            <a:extLst xmlns:a="http://schemas.openxmlformats.org/drawingml/2006/main">
              <a:ext uri="{FF2B5EF4-FFF2-40B4-BE49-F238E27FC236}">
                <a16:creationId xmlns:a16="http://schemas.microsoft.com/office/drawing/2014/main" id="{2E7363AD-BD99-4E96-83C0-EAB777BEEF85}"/>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출처: Anthropic Computer Use; Open Interpreter; Microsoft Research UFO2; OSWorld 2.0 (2026)</a:t>
            </a:r>
          </a:p>
        </p:txBody>
      </p:sp>
    </p:spTree>
    <p:extLst>
      <p:ext uri="{BB962C8B-B14F-4D97-AF65-F5344CB8AC3E}">
        <p14:creationId xmlns:p14="http://schemas.microsoft.com/office/powerpoint/2010/main" val="18133747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BF755E-83B7-4590-BD67-BA06220CF0C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연구 목표와 차별점</a:t>
            </a:r>
          </a:p>
        </p:txBody>
      </p:sp>
      <p:sp>
        <p:nvSpPr>
          <p:cNvPr id="2" name="">
            <a:extLst xmlns:a="http://schemas.openxmlformats.org/drawingml/2006/main">
              <a:ext uri="{FF2B5EF4-FFF2-40B4-BE49-F238E27FC236}">
                <a16:creationId xmlns:a16="http://schemas.microsoft.com/office/drawing/2014/main" id="{8C521108-FC16-4709-A6A3-7CACFAB329F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04</a:t>
            </a:r>
          </a:p>
        </p:txBody>
      </p:sp>
      <p:sp>
        <p:nvSpPr>
          <p:cNvPr id="3" name="">
            <a:extLst xmlns:a="http://schemas.openxmlformats.org/drawingml/2006/main">
              <a:ext uri="{FF2B5EF4-FFF2-40B4-BE49-F238E27FC236}">
                <a16:creationId xmlns:a16="http://schemas.microsoft.com/office/drawing/2014/main" id="{F9C6F8D2-69AC-417E-B83E-6FE108D2E40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F263A43-3F1D-42CE-963E-23C318DBBEB0}"/>
              </a:ext>
            </a:extLst>
          </p:cNvPr>
          <p:cNvSpPr>
            <a:spLocks xmlns:a="http://schemas.openxmlformats.org/drawingml/2006/main" noGrp="1"/>
          </p:cNvSpPr>
          <p:nvPr/>
        </p:nvSpPr>
        <p:spPr>
          <a:xfrm xmlns:a="http://schemas.openxmlformats.org/drawingml/2006/main">
            <a:off x="762000" y="13811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3478F6"/>
                </a:solidFill>
                <a:latin typeface="NanumGothic"/>
                <a:ea typeface="NanumGothic"/>
                <a:cs typeface="NanumGothic"/>
              </a:defRPr>
            </a:pPr>
            <a:r>
              <a:rPr sz="1500" b="1">
                <a:solidFill>
                  <a:srgbClr val="3478F6"/>
                </a:solidFill>
                <a:latin typeface="NanumGothic"/>
                <a:ea typeface="NanumGothic"/>
                <a:cs typeface="NanumGothic"/>
              </a:rPr>
              <a:t>연구 질문</a:t>
            </a:r>
          </a:p>
        </p:txBody>
      </p:sp>
      <p:sp>
        <p:nvSpPr>
          <p:cNvPr id="5" name="">
            <a:extLst xmlns:a="http://schemas.openxmlformats.org/drawingml/2006/main">
              <a:ext uri="{FF2B5EF4-FFF2-40B4-BE49-F238E27FC236}">
                <a16:creationId xmlns:a16="http://schemas.microsoft.com/office/drawing/2014/main" id="{D6DEC6EF-39F2-4E8E-88F8-4C6FB4B0E37D}"/>
              </a:ext>
            </a:extLst>
          </p:cNvPr>
          <p:cNvSpPr>
            <a:spLocks xmlns:a="http://schemas.openxmlformats.org/drawingml/2006/main" noGrp="1"/>
          </p:cNvSpPr>
          <p:nvPr/>
        </p:nvSpPr>
        <p:spPr>
          <a:xfrm xmlns:a="http://schemas.openxmlformats.org/drawingml/2006/main">
            <a:off x="762000" y="18097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어떤 발화를 명령으로 판단하고, 어느 행동을 자동 실행하며,</a:t>
            </a:r>
          </a:p>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언제 사용자에게 다시 확인해야 하는가?</a:t>
            </a:r>
          </a:p>
        </p:txBody>
      </p:sp>
      <p:sp>
        <p:nvSpPr>
          <p:cNvPr id="6" name="">
            <a:extLst xmlns:a="http://schemas.openxmlformats.org/drawingml/2006/main">
              <a:ext uri="{FF2B5EF4-FFF2-40B4-BE49-F238E27FC236}">
                <a16:creationId xmlns:a16="http://schemas.microsoft.com/office/drawing/2014/main" id="{6D218224-212A-461A-B296-E8ED1CDFC4C7}"/>
              </a:ext>
            </a:extLst>
          </p:cNvPr>
          <p:cNvSpPr>
            <a:spLocks xmlns:a="http://schemas.openxmlformats.org/drawingml/2006/main" noGrp="1"/>
          </p:cNvSpPr>
          <p:nvPr/>
        </p:nvSpPr>
        <p:spPr>
          <a:xfrm xmlns:a="http://schemas.openxmlformats.org/drawingml/2006/main">
            <a:off x="781050" y="3048000"/>
            <a:ext cx="1057275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72607318-FD2B-475B-B15B-AA55BB141EA1}"/>
              </a:ext>
            </a:extLst>
          </p:cNvPr>
          <p:cNvSpPr>
            <a:spLocks xmlns:a="http://schemas.openxmlformats.org/drawingml/2006/main" noGrp="1"/>
          </p:cNvSpPr>
          <p:nvPr/>
        </p:nvSpPr>
        <p:spPr>
          <a:xfrm xmlns:a="http://schemas.openxmlformats.org/drawingml/2006/main">
            <a:off x="7810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3478F6"/>
                </a:solidFill>
                <a:latin typeface="NanumGothic"/>
                <a:ea typeface="NanumGothic"/>
                <a:cs typeface="NanumGothic"/>
              </a:defRPr>
            </a:pPr>
            <a:r>
              <a:rPr sz="1950" b="1">
                <a:solidFill>
                  <a:srgbClr val="3478F6"/>
                </a:solidFill>
                <a:latin typeface="NanumGothic"/>
                <a:ea typeface="NanumGothic"/>
                <a:cs typeface="NanumGothic"/>
              </a:rPr>
              <a:t>의도(Intent)</a:t>
            </a:r>
          </a:p>
        </p:txBody>
      </p:sp>
      <p:sp>
        <p:nvSpPr>
          <p:cNvPr id="8" name="">
            <a:extLst xmlns:a="http://schemas.openxmlformats.org/drawingml/2006/main">
              <a:ext uri="{FF2B5EF4-FFF2-40B4-BE49-F238E27FC236}">
                <a16:creationId xmlns:a16="http://schemas.microsoft.com/office/drawing/2014/main" id="{6D99E575-12D1-4E68-9688-D1B24294DB81}"/>
              </a:ext>
            </a:extLst>
          </p:cNvPr>
          <p:cNvSpPr>
            <a:spLocks xmlns:a="http://schemas.openxmlformats.org/drawingml/2006/main" noGrp="1"/>
          </p:cNvSpPr>
          <p:nvPr/>
        </p:nvSpPr>
        <p:spPr>
          <a:xfrm xmlns:a="http://schemas.openxmlformats.org/drawingml/2006/main">
            <a:off x="7810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대화·질문·명령·불확실</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발화 문맥과 호출어 판별</a:t>
            </a:r>
          </a:p>
        </p:txBody>
      </p:sp>
      <p:sp>
        <p:nvSpPr>
          <p:cNvPr id="9" name="">
            <a:extLst xmlns:a="http://schemas.openxmlformats.org/drawingml/2006/main">
              <a:ext uri="{FF2B5EF4-FFF2-40B4-BE49-F238E27FC236}">
                <a16:creationId xmlns:a16="http://schemas.microsoft.com/office/drawing/2014/main" id="{4D4C623D-61D9-4304-B693-30A04E45CFC4}"/>
              </a:ext>
            </a:extLst>
          </p:cNvPr>
          <p:cNvSpPr>
            <a:spLocks xmlns:a="http://schemas.openxmlformats.org/drawingml/2006/main" noGrp="1"/>
          </p:cNvSpPr>
          <p:nvPr/>
        </p:nvSpPr>
        <p:spPr>
          <a:xfrm xmlns:a="http://schemas.openxmlformats.org/drawingml/2006/main">
            <a:off x="411480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F2A93B"/>
                </a:solidFill>
                <a:latin typeface="NanumGothic"/>
                <a:ea typeface="NanumGothic"/>
                <a:cs typeface="NanumGothic"/>
              </a:defRPr>
            </a:pPr>
            <a:r>
              <a:rPr sz="1950" b="1">
                <a:solidFill>
                  <a:srgbClr val="F2A93B"/>
                </a:solidFill>
                <a:latin typeface="NanumGothic"/>
                <a:ea typeface="NanumGothic"/>
                <a:cs typeface="NanumGothic"/>
              </a:rPr>
              <a:t>위험(Risk)</a:t>
            </a:r>
          </a:p>
        </p:txBody>
      </p:sp>
      <p:sp>
        <p:nvSpPr>
          <p:cNvPr id="10" name="">
            <a:extLst xmlns:a="http://schemas.openxmlformats.org/drawingml/2006/main">
              <a:ext uri="{FF2B5EF4-FFF2-40B4-BE49-F238E27FC236}">
                <a16:creationId xmlns:a16="http://schemas.microsoft.com/office/drawing/2014/main" id="{500FB555-BC67-4374-83A9-6777DFBCA57F}"/>
              </a:ext>
            </a:extLst>
          </p:cNvPr>
          <p:cNvSpPr>
            <a:spLocks xmlns:a="http://schemas.openxmlformats.org/drawingml/2006/main" noGrp="1"/>
          </p:cNvSpPr>
          <p:nvPr/>
        </p:nvSpPr>
        <p:spPr>
          <a:xfrm xmlns:a="http://schemas.openxmlformats.org/drawingml/2006/main">
            <a:off x="411480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대상·권한·복구 가능성</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외부 전송 여부 평가</a:t>
            </a:r>
          </a:p>
        </p:txBody>
      </p:sp>
      <p:sp>
        <p:nvSpPr>
          <p:cNvPr id="11" name="">
            <a:extLst xmlns:a="http://schemas.openxmlformats.org/drawingml/2006/main">
              <a:ext uri="{FF2B5EF4-FFF2-40B4-BE49-F238E27FC236}">
                <a16:creationId xmlns:a16="http://schemas.microsoft.com/office/drawing/2014/main" id="{02E11749-35A7-49DC-969E-D7275AA88CB5}"/>
              </a:ext>
            </a:extLst>
          </p:cNvPr>
          <p:cNvSpPr>
            <a:spLocks xmlns:a="http://schemas.openxmlformats.org/drawingml/2006/main" noGrp="1"/>
          </p:cNvSpPr>
          <p:nvPr/>
        </p:nvSpPr>
        <p:spPr>
          <a:xfrm xmlns:a="http://schemas.openxmlformats.org/drawingml/2006/main">
            <a:off x="74485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2FA36B"/>
                </a:solidFill>
                <a:latin typeface="NanumGothic"/>
                <a:ea typeface="NanumGothic"/>
                <a:cs typeface="NanumGothic"/>
              </a:defRPr>
            </a:pPr>
            <a:r>
              <a:rPr sz="1950" b="1">
                <a:solidFill>
                  <a:srgbClr val="2FA36B"/>
                </a:solidFill>
                <a:latin typeface="NanumGothic"/>
                <a:ea typeface="NanumGothic"/>
                <a:cs typeface="NanumGothic"/>
              </a:rPr>
              <a:t>실행·검증</a:t>
            </a:r>
          </a:p>
        </p:txBody>
      </p:sp>
      <p:sp>
        <p:nvSpPr>
          <p:cNvPr id="12" name="">
            <a:extLst xmlns:a="http://schemas.openxmlformats.org/drawingml/2006/main">
              <a:ext uri="{FF2B5EF4-FFF2-40B4-BE49-F238E27FC236}">
                <a16:creationId xmlns:a16="http://schemas.microsoft.com/office/drawing/2014/main" id="{FF114FFD-F33A-4DDE-BA69-3B970A2D1EEE}"/>
              </a:ext>
            </a:extLst>
          </p:cNvPr>
          <p:cNvSpPr>
            <a:spLocks xmlns:a="http://schemas.openxmlformats.org/drawingml/2006/main" noGrp="1"/>
          </p:cNvSpPr>
          <p:nvPr/>
        </p:nvSpPr>
        <p:spPr>
          <a:xfrm xmlns:a="http://schemas.openxmlformats.org/drawingml/2006/main">
            <a:off x="74485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허용된 기능만 실행</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운영체제 상태로 재확인</a:t>
            </a:r>
          </a:p>
        </p:txBody>
      </p:sp>
      <p:sp>
        <p:nvSpPr>
          <p:cNvPr id="13" name="">
            <a:extLst xmlns:a="http://schemas.openxmlformats.org/drawingml/2006/main">
              <a:ext uri="{FF2B5EF4-FFF2-40B4-BE49-F238E27FC236}">
                <a16:creationId xmlns:a16="http://schemas.microsoft.com/office/drawing/2014/main" id="{75660F5A-585D-45F2-8BD2-69BFB22CEA4D}"/>
              </a:ext>
            </a:extLst>
          </p:cNvPr>
          <p:cNvSpPr>
            <a:spLocks xmlns:a="http://schemas.openxmlformats.org/drawingml/2006/main" noGrp="1"/>
          </p:cNvSpPr>
          <p:nvPr/>
        </p:nvSpPr>
        <p:spPr>
          <a:xfrm xmlns:a="http://schemas.openxmlformats.org/drawingml/2006/main">
            <a:off x="800100" y="53530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025" b="1">
                <a:solidFill>
                  <a:srgbClr val="243B64"/>
                </a:solidFill>
                <a:latin typeface="NanumGothic"/>
                <a:ea typeface="NanumGothic"/>
                <a:cs typeface="NanumGothic"/>
              </a:defRPr>
            </a:pPr>
            <a:r>
              <a:rPr sz="2025" b="1">
                <a:solidFill>
                  <a:srgbClr val="243B64"/>
                </a:solidFill>
                <a:latin typeface="NanumGothic"/>
                <a:ea typeface="NanumGothic"/>
                <a:cs typeface="NanumGothic"/>
              </a:rPr>
              <a:t>작품은 전체 에이전트를 구현하고, 논문은 실행 제어 모듈의 효과를 검증한다.</a:t>
            </a:r>
          </a:p>
        </p:txBody>
      </p:sp>
    </p:spTree>
    <p:extLst>
      <p:ext uri="{BB962C8B-B14F-4D97-AF65-F5344CB8AC3E}">
        <p14:creationId xmlns:p14="http://schemas.microsoft.com/office/powerpoint/2010/main" val="4491629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3D78F63-709C-4E82-9745-E14C1ABD9DB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전체 시스템 구조</a:t>
            </a:r>
          </a:p>
        </p:txBody>
      </p:sp>
      <p:sp>
        <p:nvSpPr>
          <p:cNvPr id="2" name="">
            <a:extLst xmlns:a="http://schemas.openxmlformats.org/drawingml/2006/main">
              <a:ext uri="{FF2B5EF4-FFF2-40B4-BE49-F238E27FC236}">
                <a16:creationId xmlns:a16="http://schemas.microsoft.com/office/drawing/2014/main" id="{AA27F16C-4CAB-44C4-9C63-D4AA2121DF7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05</a:t>
            </a:r>
          </a:p>
        </p:txBody>
      </p:sp>
      <p:sp>
        <p:nvSpPr>
          <p:cNvPr id="3" name="">
            <a:extLst xmlns:a="http://schemas.openxmlformats.org/drawingml/2006/main">
              <a:ext uri="{FF2B5EF4-FFF2-40B4-BE49-F238E27FC236}">
                <a16:creationId xmlns:a16="http://schemas.microsoft.com/office/drawing/2014/main" id="{4D09AFA6-F7D8-432A-BA10-26A7F91ECC7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7F788F4-2E70-442C-B128-A71BF5D22F44}"/>
              </a:ext>
            </a:extLst>
          </p:cNvPr>
          <p:cNvSpPr>
            <a:spLocks xmlns:a="http://schemas.openxmlformats.org/drawingml/2006/main" noGrp="1"/>
          </p:cNvSpPr>
          <p:nvPr/>
        </p:nvSpPr>
        <p:spPr>
          <a:xfrm xmlns:a="http://schemas.openxmlformats.org/drawingml/2006/main">
            <a:off x="4953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C8150E4-2DFF-4BF6-89D0-820AC75ECA3D}"/>
              </a:ext>
            </a:extLst>
          </p:cNvPr>
          <p:cNvSpPr>
            <a:spLocks xmlns:a="http://schemas.openxmlformats.org/drawingml/2006/main" noGrp="1"/>
          </p:cNvSpPr>
          <p:nvPr/>
        </p:nvSpPr>
        <p:spPr>
          <a:xfrm xmlns:a="http://schemas.openxmlformats.org/drawingml/2006/main">
            <a:off x="5905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상시 음성</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대기</a:t>
            </a:r>
          </a:p>
        </p:txBody>
      </p:sp>
      <p:sp>
        <p:nvSpPr>
          <p:cNvPr id="6" name="">
            <a:extLst xmlns:a="http://schemas.openxmlformats.org/drawingml/2006/main">
              <a:ext uri="{FF2B5EF4-FFF2-40B4-BE49-F238E27FC236}">
                <a16:creationId xmlns:a16="http://schemas.microsoft.com/office/drawing/2014/main" id="{51E9731F-19A7-4594-B859-E99AC43F75CA}"/>
              </a:ext>
            </a:extLst>
          </p:cNvPr>
          <p:cNvSpPr>
            <a:spLocks xmlns:a="http://schemas.openxmlformats.org/drawingml/2006/main" noGrp="1"/>
          </p:cNvSpPr>
          <p:nvPr/>
        </p:nvSpPr>
        <p:spPr>
          <a:xfrm xmlns:a="http://schemas.openxmlformats.org/drawingml/2006/main">
            <a:off x="18954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F5B79941-C413-416A-9301-052CBBB6D90F}"/>
              </a:ext>
            </a:extLst>
          </p:cNvPr>
          <p:cNvSpPr>
            <a:spLocks xmlns:a="http://schemas.openxmlformats.org/drawingml/2006/main" noGrp="1"/>
          </p:cNvSpPr>
          <p:nvPr/>
        </p:nvSpPr>
        <p:spPr>
          <a:xfrm xmlns:a="http://schemas.openxmlformats.org/drawingml/2006/main">
            <a:off x="21526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8" name="">
            <a:extLst xmlns:a="http://schemas.openxmlformats.org/drawingml/2006/main">
              <a:ext uri="{FF2B5EF4-FFF2-40B4-BE49-F238E27FC236}">
                <a16:creationId xmlns:a16="http://schemas.microsoft.com/office/drawing/2014/main" id="{DCA54117-6451-461D-84FE-0A9DF665FFBB}"/>
              </a:ext>
            </a:extLst>
          </p:cNvPr>
          <p:cNvSpPr>
            <a:spLocks xmlns:a="http://schemas.openxmlformats.org/drawingml/2006/main" noGrp="1"/>
          </p:cNvSpPr>
          <p:nvPr/>
        </p:nvSpPr>
        <p:spPr>
          <a:xfrm xmlns:a="http://schemas.openxmlformats.org/drawingml/2006/main">
            <a:off x="22479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호출·의도</a:t>
            </a:r>
          </a:p>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판별</a:t>
            </a:r>
          </a:p>
        </p:txBody>
      </p:sp>
      <p:sp>
        <p:nvSpPr>
          <p:cNvPr id="9" name="">
            <a:extLst xmlns:a="http://schemas.openxmlformats.org/drawingml/2006/main">
              <a:ext uri="{FF2B5EF4-FFF2-40B4-BE49-F238E27FC236}">
                <a16:creationId xmlns:a16="http://schemas.microsoft.com/office/drawing/2014/main" id="{C0007886-95C6-43D9-B083-0BB5285BE0A9}"/>
              </a:ext>
            </a:extLst>
          </p:cNvPr>
          <p:cNvSpPr>
            <a:spLocks xmlns:a="http://schemas.openxmlformats.org/drawingml/2006/main" noGrp="1"/>
          </p:cNvSpPr>
          <p:nvPr/>
        </p:nvSpPr>
        <p:spPr>
          <a:xfrm xmlns:a="http://schemas.openxmlformats.org/drawingml/2006/main">
            <a:off x="35528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0" name="">
            <a:extLst xmlns:a="http://schemas.openxmlformats.org/drawingml/2006/main">
              <a:ext uri="{FF2B5EF4-FFF2-40B4-BE49-F238E27FC236}">
                <a16:creationId xmlns:a16="http://schemas.microsoft.com/office/drawing/2014/main" id="{97CBC4CC-EB6E-42EF-8FC1-A296C9EEC1DE}"/>
              </a:ext>
            </a:extLst>
          </p:cNvPr>
          <p:cNvSpPr>
            <a:spLocks xmlns:a="http://schemas.openxmlformats.org/drawingml/2006/main" noGrp="1"/>
          </p:cNvSpPr>
          <p:nvPr/>
        </p:nvSpPr>
        <p:spPr>
          <a:xfrm xmlns:a="http://schemas.openxmlformats.org/drawingml/2006/main">
            <a:off x="38100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1" name="">
            <a:extLst xmlns:a="http://schemas.openxmlformats.org/drawingml/2006/main">
              <a:ext uri="{FF2B5EF4-FFF2-40B4-BE49-F238E27FC236}">
                <a16:creationId xmlns:a16="http://schemas.microsoft.com/office/drawing/2014/main" id="{DFB53FF5-DEF0-41DC-8141-C06163974529}"/>
              </a:ext>
            </a:extLst>
          </p:cNvPr>
          <p:cNvSpPr>
            <a:spLocks xmlns:a="http://schemas.openxmlformats.org/drawingml/2006/main" noGrp="1"/>
          </p:cNvSpPr>
          <p:nvPr/>
        </p:nvSpPr>
        <p:spPr>
          <a:xfrm xmlns:a="http://schemas.openxmlformats.org/drawingml/2006/main">
            <a:off x="39052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화면·기억</a:t>
            </a:r>
          </a:p>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문맥</a:t>
            </a:r>
          </a:p>
        </p:txBody>
      </p:sp>
      <p:sp>
        <p:nvSpPr>
          <p:cNvPr id="12" name="">
            <a:extLst xmlns:a="http://schemas.openxmlformats.org/drawingml/2006/main">
              <a:ext uri="{FF2B5EF4-FFF2-40B4-BE49-F238E27FC236}">
                <a16:creationId xmlns:a16="http://schemas.microsoft.com/office/drawing/2014/main" id="{23D9E915-DA6B-466F-A1F5-777932E63085}"/>
              </a:ext>
            </a:extLst>
          </p:cNvPr>
          <p:cNvSpPr>
            <a:spLocks xmlns:a="http://schemas.openxmlformats.org/drawingml/2006/main" noGrp="1"/>
          </p:cNvSpPr>
          <p:nvPr/>
        </p:nvSpPr>
        <p:spPr>
          <a:xfrm xmlns:a="http://schemas.openxmlformats.org/drawingml/2006/main">
            <a:off x="52101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3" name="">
            <a:extLst xmlns:a="http://schemas.openxmlformats.org/drawingml/2006/main">
              <a:ext uri="{FF2B5EF4-FFF2-40B4-BE49-F238E27FC236}">
                <a16:creationId xmlns:a16="http://schemas.microsoft.com/office/drawing/2014/main" id="{F6A20CE0-CD29-4666-93EF-8B04373EF16E}"/>
              </a:ext>
            </a:extLst>
          </p:cNvPr>
          <p:cNvSpPr>
            <a:spLocks xmlns:a="http://schemas.openxmlformats.org/drawingml/2006/main" noGrp="1"/>
          </p:cNvSpPr>
          <p:nvPr/>
        </p:nvSpPr>
        <p:spPr>
          <a:xfrm xmlns:a="http://schemas.openxmlformats.org/drawingml/2006/main">
            <a:off x="54673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4" name="">
            <a:extLst xmlns:a="http://schemas.openxmlformats.org/drawingml/2006/main">
              <a:ext uri="{FF2B5EF4-FFF2-40B4-BE49-F238E27FC236}">
                <a16:creationId xmlns:a16="http://schemas.microsoft.com/office/drawing/2014/main" id="{D8AE4974-51D6-44EF-8FF0-66F6C316A510}"/>
              </a:ext>
            </a:extLst>
          </p:cNvPr>
          <p:cNvSpPr>
            <a:spLocks xmlns:a="http://schemas.openxmlformats.org/drawingml/2006/main" noGrp="1"/>
          </p:cNvSpPr>
          <p:nvPr/>
        </p:nvSpPr>
        <p:spPr>
          <a:xfrm xmlns:a="http://schemas.openxmlformats.org/drawingml/2006/main">
            <a:off x="55626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LLM 계획</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생성</a:t>
            </a:r>
          </a:p>
        </p:txBody>
      </p:sp>
      <p:sp>
        <p:nvSpPr>
          <p:cNvPr id="15" name="">
            <a:extLst xmlns:a="http://schemas.openxmlformats.org/drawingml/2006/main">
              <a:ext uri="{FF2B5EF4-FFF2-40B4-BE49-F238E27FC236}">
                <a16:creationId xmlns:a16="http://schemas.microsoft.com/office/drawing/2014/main" id="{F07FB679-9CB6-429D-9E3A-752F0409F104}"/>
              </a:ext>
            </a:extLst>
          </p:cNvPr>
          <p:cNvSpPr>
            <a:spLocks xmlns:a="http://schemas.openxmlformats.org/drawingml/2006/main" noGrp="1"/>
          </p:cNvSpPr>
          <p:nvPr/>
        </p:nvSpPr>
        <p:spPr>
          <a:xfrm xmlns:a="http://schemas.openxmlformats.org/drawingml/2006/main">
            <a:off x="68675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6" name="">
            <a:extLst xmlns:a="http://schemas.openxmlformats.org/drawingml/2006/main">
              <a:ext uri="{FF2B5EF4-FFF2-40B4-BE49-F238E27FC236}">
                <a16:creationId xmlns:a16="http://schemas.microsoft.com/office/drawing/2014/main" id="{2BB351C7-A0FE-42C4-8DC6-16BCD46D7BBF}"/>
              </a:ext>
            </a:extLst>
          </p:cNvPr>
          <p:cNvSpPr>
            <a:spLocks xmlns:a="http://schemas.openxmlformats.org/drawingml/2006/main" noGrp="1"/>
          </p:cNvSpPr>
          <p:nvPr/>
        </p:nvSpPr>
        <p:spPr>
          <a:xfrm xmlns:a="http://schemas.openxmlformats.org/drawingml/2006/main">
            <a:off x="7124700" y="2190750"/>
            <a:ext cx="1381125" cy="1428750"/>
          </a:xfrm>
          <a:prstGeom xmlns:a="http://schemas.openxmlformats.org/drawingml/2006/main" prst="roundRect">
            <a:avLst>
              <a:gd name="adj" fmla="val 9655"/>
            </a:avLst>
          </a:prstGeom>
          <a:solidFill xmlns:a="http://schemas.openxmlformats.org/drawingml/2006/main">
            <a:srgbClr val="FFF7E6"/>
          </a:solidFill>
          <a:ln xmlns:a="http://schemas.openxmlformats.org/drawingml/2006/main" w="9525">
            <a:solidFill>
              <a:srgbClr val="F2A93B"/>
            </a:solidFill>
            <a:prstDash val="solid"/>
          </a:ln>
        </p:spPr>
      </p:sp>
      <p:sp>
        <p:nvSpPr>
          <p:cNvPr id="17" name="">
            <a:extLst xmlns:a="http://schemas.openxmlformats.org/drawingml/2006/main">
              <a:ext uri="{FF2B5EF4-FFF2-40B4-BE49-F238E27FC236}">
                <a16:creationId xmlns:a16="http://schemas.microsoft.com/office/drawing/2014/main" id="{6634C175-7243-4908-A247-D2B16B8C2937}"/>
              </a:ext>
            </a:extLst>
          </p:cNvPr>
          <p:cNvSpPr>
            <a:spLocks xmlns:a="http://schemas.openxmlformats.org/drawingml/2006/main" noGrp="1"/>
          </p:cNvSpPr>
          <p:nvPr/>
        </p:nvSpPr>
        <p:spPr>
          <a:xfrm xmlns:a="http://schemas.openxmlformats.org/drawingml/2006/main">
            <a:off x="72199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정책·위험</a:t>
            </a:r>
          </a:p>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판단</a:t>
            </a:r>
          </a:p>
        </p:txBody>
      </p:sp>
      <p:sp>
        <p:nvSpPr>
          <p:cNvPr id="18" name="">
            <a:extLst xmlns:a="http://schemas.openxmlformats.org/drawingml/2006/main">
              <a:ext uri="{FF2B5EF4-FFF2-40B4-BE49-F238E27FC236}">
                <a16:creationId xmlns:a16="http://schemas.microsoft.com/office/drawing/2014/main" id="{CBC93320-E583-484A-90CF-953C4FC0D472}"/>
              </a:ext>
            </a:extLst>
          </p:cNvPr>
          <p:cNvSpPr>
            <a:spLocks xmlns:a="http://schemas.openxmlformats.org/drawingml/2006/main" noGrp="1"/>
          </p:cNvSpPr>
          <p:nvPr/>
        </p:nvSpPr>
        <p:spPr>
          <a:xfrm xmlns:a="http://schemas.openxmlformats.org/drawingml/2006/main">
            <a:off x="85248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9" name="">
            <a:extLst xmlns:a="http://schemas.openxmlformats.org/drawingml/2006/main">
              <a:ext uri="{FF2B5EF4-FFF2-40B4-BE49-F238E27FC236}">
                <a16:creationId xmlns:a16="http://schemas.microsoft.com/office/drawing/2014/main" id="{45425BB0-B5D5-4F39-B3C4-330DBDCC71ED}"/>
              </a:ext>
            </a:extLst>
          </p:cNvPr>
          <p:cNvSpPr>
            <a:spLocks xmlns:a="http://schemas.openxmlformats.org/drawingml/2006/main" noGrp="1"/>
          </p:cNvSpPr>
          <p:nvPr/>
        </p:nvSpPr>
        <p:spPr>
          <a:xfrm xmlns:a="http://schemas.openxmlformats.org/drawingml/2006/main">
            <a:off x="87820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0" name="">
            <a:extLst xmlns:a="http://schemas.openxmlformats.org/drawingml/2006/main">
              <a:ext uri="{FF2B5EF4-FFF2-40B4-BE49-F238E27FC236}">
                <a16:creationId xmlns:a16="http://schemas.microsoft.com/office/drawing/2014/main" id="{E3A5B3C8-0E9E-4CAC-B959-C5BF97A2E093}"/>
              </a:ext>
            </a:extLst>
          </p:cNvPr>
          <p:cNvSpPr>
            <a:spLocks xmlns:a="http://schemas.openxmlformats.org/drawingml/2006/main" noGrp="1"/>
          </p:cNvSpPr>
          <p:nvPr/>
        </p:nvSpPr>
        <p:spPr>
          <a:xfrm xmlns:a="http://schemas.openxmlformats.org/drawingml/2006/main">
            <a:off x="88773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Windows</a:t>
            </a:r>
          </a:p>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실행</a:t>
            </a:r>
          </a:p>
        </p:txBody>
      </p:sp>
      <p:sp>
        <p:nvSpPr>
          <p:cNvPr id="21" name="">
            <a:extLst xmlns:a="http://schemas.openxmlformats.org/drawingml/2006/main">
              <a:ext uri="{FF2B5EF4-FFF2-40B4-BE49-F238E27FC236}">
                <a16:creationId xmlns:a16="http://schemas.microsoft.com/office/drawing/2014/main" id="{0591E27F-1CAA-45A3-8C64-3B02E7EC57B2}"/>
              </a:ext>
            </a:extLst>
          </p:cNvPr>
          <p:cNvSpPr>
            <a:spLocks xmlns:a="http://schemas.openxmlformats.org/drawingml/2006/main" noGrp="1"/>
          </p:cNvSpPr>
          <p:nvPr/>
        </p:nvSpPr>
        <p:spPr>
          <a:xfrm xmlns:a="http://schemas.openxmlformats.org/drawingml/2006/main">
            <a:off x="101822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22" name="">
            <a:extLst xmlns:a="http://schemas.openxmlformats.org/drawingml/2006/main">
              <a:ext uri="{FF2B5EF4-FFF2-40B4-BE49-F238E27FC236}">
                <a16:creationId xmlns:a16="http://schemas.microsoft.com/office/drawing/2014/main" id="{912289F7-3416-4806-9EC6-2BD3F5441089}"/>
              </a:ext>
            </a:extLst>
          </p:cNvPr>
          <p:cNvSpPr>
            <a:spLocks xmlns:a="http://schemas.openxmlformats.org/drawingml/2006/main" noGrp="1"/>
          </p:cNvSpPr>
          <p:nvPr/>
        </p:nvSpPr>
        <p:spPr>
          <a:xfrm xmlns:a="http://schemas.openxmlformats.org/drawingml/2006/main">
            <a:off x="104394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3" name="">
            <a:extLst xmlns:a="http://schemas.openxmlformats.org/drawingml/2006/main">
              <a:ext uri="{FF2B5EF4-FFF2-40B4-BE49-F238E27FC236}">
                <a16:creationId xmlns:a16="http://schemas.microsoft.com/office/drawing/2014/main" id="{28B1C3F1-F5F6-4C28-9E0D-AED4A6CE9EB5}"/>
              </a:ext>
            </a:extLst>
          </p:cNvPr>
          <p:cNvSpPr>
            <a:spLocks xmlns:a="http://schemas.openxmlformats.org/drawingml/2006/main" noGrp="1"/>
          </p:cNvSpPr>
          <p:nvPr/>
        </p:nvSpPr>
        <p:spPr>
          <a:xfrm xmlns:a="http://schemas.openxmlformats.org/drawingml/2006/main">
            <a:off x="105346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결과 검증</a:t>
            </a:r>
          </a:p>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재계획</a:t>
            </a:r>
          </a:p>
        </p:txBody>
      </p:sp>
      <p:sp>
        <p:nvSpPr>
          <p:cNvPr id="24" name="">
            <a:extLst xmlns:a="http://schemas.openxmlformats.org/drawingml/2006/main">
              <a:ext uri="{FF2B5EF4-FFF2-40B4-BE49-F238E27FC236}">
                <a16:creationId xmlns:a16="http://schemas.microsoft.com/office/drawing/2014/main" id="{B5E9E42C-A115-4926-8E66-C6942FB681DB}"/>
              </a:ext>
            </a:extLst>
          </p:cNvPr>
          <p:cNvSpPr>
            <a:spLocks xmlns:a="http://schemas.openxmlformats.org/drawingml/2006/main" noGrp="1"/>
          </p:cNvSpPr>
          <p:nvPr/>
        </p:nvSpPr>
        <p:spPr>
          <a:xfrm xmlns:a="http://schemas.openxmlformats.org/drawingml/2006/main">
            <a:off x="809625" y="42386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실행 수단 우선순위</a:t>
            </a:r>
          </a:p>
        </p:txBody>
      </p:sp>
      <p:sp>
        <p:nvSpPr>
          <p:cNvPr id="25" name="">
            <a:extLst xmlns:a="http://schemas.openxmlformats.org/drawingml/2006/main">
              <a:ext uri="{FF2B5EF4-FFF2-40B4-BE49-F238E27FC236}">
                <a16:creationId xmlns:a16="http://schemas.microsoft.com/office/drawing/2014/main" id="{36A78B50-BBE7-40B4-88FB-8DB189A6E616}"/>
              </a:ext>
            </a:extLst>
          </p:cNvPr>
          <p:cNvSpPr>
            <a:spLocks xmlns:a="http://schemas.openxmlformats.org/drawingml/2006/main" noGrp="1"/>
          </p:cNvSpPr>
          <p:nvPr/>
        </p:nvSpPr>
        <p:spPr>
          <a:xfrm xmlns:a="http://schemas.openxmlformats.org/drawingml/2006/main">
            <a:off x="809625" y="46672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172033"/>
                </a:solidFill>
                <a:latin typeface="NanumGothic"/>
                <a:ea typeface="NanumGothic"/>
                <a:cs typeface="NanumGothic"/>
              </a:defRPr>
            </a:pPr>
            <a:r>
              <a:rPr sz="2100" b="1">
                <a:solidFill>
                  <a:srgbClr val="172033"/>
                </a:solidFill>
                <a:latin typeface="NanumGothic"/>
                <a:ea typeface="NanumGothic"/>
                <a:cs typeface="NanumGothic"/>
              </a:rPr>
              <a:t>Windows API · 제한된 PowerShell · UI 자동화 · 화면 인식과 입력</a:t>
            </a:r>
          </a:p>
        </p:txBody>
      </p:sp>
      <p:sp>
        <p:nvSpPr>
          <p:cNvPr id="26" name="">
            <a:extLst xmlns:a="http://schemas.openxmlformats.org/drawingml/2006/main">
              <a:ext uri="{FF2B5EF4-FFF2-40B4-BE49-F238E27FC236}">
                <a16:creationId xmlns:a16="http://schemas.microsoft.com/office/drawing/2014/main" id="{D954B7A6-2E07-4847-BFD0-0A18AE7A63C5}"/>
              </a:ext>
            </a:extLst>
          </p:cNvPr>
          <p:cNvSpPr>
            <a:spLocks xmlns:a="http://schemas.openxmlformats.org/drawingml/2006/main" noGrp="1"/>
          </p:cNvSpPr>
          <p:nvPr/>
        </p:nvSpPr>
        <p:spPr>
          <a:xfrm xmlns:a="http://schemas.openxmlformats.org/drawingml/2006/main">
            <a:off x="809625" y="542925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행동 → 실제 관찰 → 독립 검증 → 제한된 재계획</a:t>
            </a:r>
          </a:p>
        </p:txBody>
      </p:sp>
    </p:spTree>
    <p:extLst>
      <p:ext uri="{BB962C8B-B14F-4D97-AF65-F5344CB8AC3E}">
        <p14:creationId xmlns:p14="http://schemas.microsoft.com/office/powerpoint/2010/main" val="1390525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E14FA3-EF9C-4E52-8FD5-4ACF5A463E00}"/>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의도·위험·실행 제어</a:t>
            </a:r>
          </a:p>
        </p:txBody>
      </p:sp>
      <p:sp>
        <p:nvSpPr>
          <p:cNvPr id="2" name="">
            <a:extLst xmlns:a="http://schemas.openxmlformats.org/drawingml/2006/main">
              <a:ext uri="{FF2B5EF4-FFF2-40B4-BE49-F238E27FC236}">
                <a16:creationId xmlns:a16="http://schemas.microsoft.com/office/drawing/2014/main" id="{CA9C17D1-4311-4CB6-A1ED-FF022C67E47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06</a:t>
            </a:r>
          </a:p>
        </p:txBody>
      </p:sp>
      <p:sp>
        <p:nvSpPr>
          <p:cNvPr id="3" name="">
            <a:extLst xmlns:a="http://schemas.openxmlformats.org/drawingml/2006/main">
              <a:ext uri="{FF2B5EF4-FFF2-40B4-BE49-F238E27FC236}">
                <a16:creationId xmlns:a16="http://schemas.microsoft.com/office/drawing/2014/main" id="{55F47831-2ED6-45E7-92BF-C482A2BEBF4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16387968-9215-4A50-912E-2B5D7CED630E}"/>
              </a:ext>
            </a:extLst>
          </p:cNvPr>
          <p:cNvSpPr>
            <a:spLocks xmlns:a="http://schemas.openxmlformats.org/drawingml/2006/main" noGrp="1"/>
          </p:cNvSpPr>
          <p:nvPr/>
        </p:nvSpPr>
        <p:spPr>
          <a:xfrm xmlns:a="http://schemas.openxmlformats.org/drawingml/2006/main">
            <a:off x="685800" y="1524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DEC709B-63AE-4FCA-B862-1469B6A0FA17}"/>
              </a:ext>
            </a:extLst>
          </p:cNvPr>
          <p:cNvSpPr>
            <a:spLocks xmlns:a="http://schemas.openxmlformats.org/drawingml/2006/main" noGrp="1"/>
          </p:cNvSpPr>
          <p:nvPr/>
        </p:nvSpPr>
        <p:spPr>
          <a:xfrm xmlns:a="http://schemas.openxmlformats.org/drawingml/2006/main">
            <a:off x="876300" y="1847850"/>
            <a:ext cx="1066800" cy="323850"/>
          </a:xfrm>
          <a:prstGeom xmlns:a="http://schemas.openxmlformats.org/drawingml/2006/main" prst="roundRect">
            <a:avLst>
              <a:gd name="adj" fmla="val 50000"/>
            </a:avLst>
          </a:prstGeom>
          <a:solidFill xmlns:a="http://schemas.openxmlformats.org/drawingml/2006/main">
            <a:srgbClr val="2FA36B"/>
          </a:solidFill>
          <a:ln xmlns:a="http://schemas.openxmlformats.org/drawingml/2006/main" w="9525">
            <a:solidFill>
              <a:srgbClr val="2FA36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GREEN</a:t>
            </a:r>
          </a:p>
        </p:txBody>
      </p:sp>
      <p:sp>
        <p:nvSpPr>
          <p:cNvPr id="6" name="">
            <a:extLst xmlns:a="http://schemas.openxmlformats.org/drawingml/2006/main">
              <a:ext uri="{FF2B5EF4-FFF2-40B4-BE49-F238E27FC236}">
                <a16:creationId xmlns:a16="http://schemas.microsoft.com/office/drawing/2014/main" id="{2F5E6B91-C9C4-4FED-90B5-ADBE6036F06D}"/>
              </a:ext>
            </a:extLst>
          </p:cNvPr>
          <p:cNvSpPr>
            <a:spLocks xmlns:a="http://schemas.openxmlformats.org/drawingml/2006/main" noGrp="1"/>
          </p:cNvSpPr>
          <p:nvPr/>
        </p:nvSpPr>
        <p:spPr>
          <a:xfrm xmlns:a="http://schemas.openxmlformats.org/drawingml/2006/main">
            <a:off x="2238375" y="1695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낮은 위험</a:t>
            </a:r>
          </a:p>
        </p:txBody>
      </p:sp>
      <p:sp>
        <p:nvSpPr>
          <p:cNvPr id="7" name="">
            <a:extLst xmlns:a="http://schemas.openxmlformats.org/drawingml/2006/main">
              <a:ext uri="{FF2B5EF4-FFF2-40B4-BE49-F238E27FC236}">
                <a16:creationId xmlns:a16="http://schemas.microsoft.com/office/drawing/2014/main" id="{087B7204-1E96-40C4-9879-6FCB2FEDF976}"/>
              </a:ext>
            </a:extLst>
          </p:cNvPr>
          <p:cNvSpPr>
            <a:spLocks xmlns:a="http://schemas.openxmlformats.org/drawingml/2006/main" noGrp="1"/>
          </p:cNvSpPr>
          <p:nvPr/>
        </p:nvSpPr>
        <p:spPr>
          <a:xfrm xmlns:a="http://schemas.openxmlformats.org/drawingml/2006/main">
            <a:off x="2238375" y="2095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시스템 정보·파일 목록·로컬 검색</a:t>
            </a:r>
          </a:p>
        </p:txBody>
      </p:sp>
      <p:sp>
        <p:nvSpPr>
          <p:cNvPr id="8" name="">
            <a:extLst xmlns:a="http://schemas.openxmlformats.org/drawingml/2006/main">
              <a:ext uri="{FF2B5EF4-FFF2-40B4-BE49-F238E27FC236}">
                <a16:creationId xmlns:a16="http://schemas.microsoft.com/office/drawing/2014/main" id="{945F735C-3728-483C-A8CF-C39BECC66F61}"/>
              </a:ext>
            </a:extLst>
          </p:cNvPr>
          <p:cNvSpPr>
            <a:spLocks xmlns:a="http://schemas.openxmlformats.org/drawingml/2006/main" noGrp="1"/>
          </p:cNvSpPr>
          <p:nvPr/>
        </p:nvSpPr>
        <p:spPr>
          <a:xfrm xmlns:a="http://schemas.openxmlformats.org/drawingml/2006/main">
            <a:off x="7096125" y="1809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정책 통과 후 실행</a:t>
            </a:r>
          </a:p>
        </p:txBody>
      </p:sp>
      <p:sp>
        <p:nvSpPr>
          <p:cNvPr id="9" name="">
            <a:extLst xmlns:a="http://schemas.openxmlformats.org/drawingml/2006/main">
              <a:ext uri="{FF2B5EF4-FFF2-40B4-BE49-F238E27FC236}">
                <a16:creationId xmlns:a16="http://schemas.microsoft.com/office/drawing/2014/main" id="{51124A25-3908-4D13-B6B8-E75A0D0EE1BB}"/>
              </a:ext>
            </a:extLst>
          </p:cNvPr>
          <p:cNvSpPr>
            <a:spLocks xmlns:a="http://schemas.openxmlformats.org/drawingml/2006/main" noGrp="1"/>
          </p:cNvSpPr>
          <p:nvPr/>
        </p:nvSpPr>
        <p:spPr>
          <a:xfrm xmlns:a="http://schemas.openxmlformats.org/drawingml/2006/main">
            <a:off x="685800" y="28575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0" name="">
            <a:extLst xmlns:a="http://schemas.openxmlformats.org/drawingml/2006/main">
              <a:ext uri="{FF2B5EF4-FFF2-40B4-BE49-F238E27FC236}">
                <a16:creationId xmlns:a16="http://schemas.microsoft.com/office/drawing/2014/main" id="{1C59216F-D4EF-46D0-B3CC-1B393C7CF50D}"/>
              </a:ext>
            </a:extLst>
          </p:cNvPr>
          <p:cNvSpPr>
            <a:spLocks xmlns:a="http://schemas.openxmlformats.org/drawingml/2006/main" noGrp="1"/>
          </p:cNvSpPr>
          <p:nvPr/>
        </p:nvSpPr>
        <p:spPr>
          <a:xfrm xmlns:a="http://schemas.openxmlformats.org/drawingml/2006/main">
            <a:off x="876300" y="3181350"/>
            <a:ext cx="106680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YELLOW</a:t>
            </a:r>
          </a:p>
        </p:txBody>
      </p:sp>
      <p:sp>
        <p:nvSpPr>
          <p:cNvPr id="11" name="">
            <a:extLst xmlns:a="http://schemas.openxmlformats.org/drawingml/2006/main">
              <a:ext uri="{FF2B5EF4-FFF2-40B4-BE49-F238E27FC236}">
                <a16:creationId xmlns:a16="http://schemas.microsoft.com/office/drawing/2014/main" id="{9D6C513D-7801-498B-9E85-ACAA20BE6575}"/>
              </a:ext>
            </a:extLst>
          </p:cNvPr>
          <p:cNvSpPr>
            <a:spLocks xmlns:a="http://schemas.openxmlformats.org/drawingml/2006/main" noGrp="1"/>
          </p:cNvSpPr>
          <p:nvPr/>
        </p:nvSpPr>
        <p:spPr>
          <a:xfrm xmlns:a="http://schemas.openxmlformats.org/drawingml/2006/main">
            <a:off x="2238375" y="30289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중간 위험</a:t>
            </a:r>
          </a:p>
        </p:txBody>
      </p:sp>
      <p:sp>
        <p:nvSpPr>
          <p:cNvPr id="12" name="">
            <a:extLst xmlns:a="http://schemas.openxmlformats.org/drawingml/2006/main">
              <a:ext uri="{FF2B5EF4-FFF2-40B4-BE49-F238E27FC236}">
                <a16:creationId xmlns:a16="http://schemas.microsoft.com/office/drawing/2014/main" id="{2C9B4493-4BD8-4B04-94F1-048A63F55CDA}"/>
              </a:ext>
            </a:extLst>
          </p:cNvPr>
          <p:cNvSpPr>
            <a:spLocks xmlns:a="http://schemas.openxmlformats.org/drawingml/2006/main" noGrp="1"/>
          </p:cNvSpPr>
          <p:nvPr/>
        </p:nvSpPr>
        <p:spPr>
          <a:xfrm xmlns:a="http://schemas.openxmlformats.org/drawingml/2006/main">
            <a:off x="2238375" y="34290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앱 실행·음량 변경·파일 이동</a:t>
            </a:r>
          </a:p>
        </p:txBody>
      </p:sp>
      <p:sp>
        <p:nvSpPr>
          <p:cNvPr id="13" name="">
            <a:extLst xmlns:a="http://schemas.openxmlformats.org/drawingml/2006/main">
              <a:ext uri="{FF2B5EF4-FFF2-40B4-BE49-F238E27FC236}">
                <a16:creationId xmlns:a16="http://schemas.microsoft.com/office/drawing/2014/main" id="{0A9EF4C7-7DEF-4EC0-B8D0-B9E3855ABE39}"/>
              </a:ext>
            </a:extLst>
          </p:cNvPr>
          <p:cNvSpPr>
            <a:spLocks xmlns:a="http://schemas.openxmlformats.org/drawingml/2006/main" noGrp="1"/>
          </p:cNvSpPr>
          <p:nvPr/>
        </p:nvSpPr>
        <p:spPr>
          <a:xfrm xmlns:a="http://schemas.openxmlformats.org/drawingml/2006/main">
            <a:off x="7096125" y="31432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대상 재확인·필요 시 승인</a:t>
            </a:r>
          </a:p>
        </p:txBody>
      </p:sp>
      <p:sp>
        <p:nvSpPr>
          <p:cNvPr id="14" name="">
            <a:extLst xmlns:a="http://schemas.openxmlformats.org/drawingml/2006/main">
              <a:ext uri="{FF2B5EF4-FFF2-40B4-BE49-F238E27FC236}">
                <a16:creationId xmlns:a16="http://schemas.microsoft.com/office/drawing/2014/main" id="{E8F69A16-29D4-4FEF-9F84-10176ABEC10C}"/>
              </a:ext>
            </a:extLst>
          </p:cNvPr>
          <p:cNvSpPr>
            <a:spLocks xmlns:a="http://schemas.openxmlformats.org/drawingml/2006/main" noGrp="1"/>
          </p:cNvSpPr>
          <p:nvPr/>
        </p:nvSpPr>
        <p:spPr>
          <a:xfrm xmlns:a="http://schemas.openxmlformats.org/drawingml/2006/main">
            <a:off x="685800" y="4191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324E3756-31DF-4246-9339-6C07A2BF3E1B}"/>
              </a:ext>
            </a:extLst>
          </p:cNvPr>
          <p:cNvSpPr>
            <a:spLocks xmlns:a="http://schemas.openxmlformats.org/drawingml/2006/main" noGrp="1"/>
          </p:cNvSpPr>
          <p:nvPr/>
        </p:nvSpPr>
        <p:spPr>
          <a:xfrm xmlns:a="http://schemas.openxmlformats.org/drawingml/2006/main">
            <a:off x="876300" y="4514850"/>
            <a:ext cx="106680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RED</a:t>
            </a:r>
          </a:p>
        </p:txBody>
      </p:sp>
      <p:sp>
        <p:nvSpPr>
          <p:cNvPr id="16" name="">
            <a:extLst xmlns:a="http://schemas.openxmlformats.org/drawingml/2006/main">
              <a:ext uri="{FF2B5EF4-FFF2-40B4-BE49-F238E27FC236}">
                <a16:creationId xmlns:a16="http://schemas.microsoft.com/office/drawing/2014/main" id="{4F2EFD97-5DFC-43ED-8767-4B6169E24CE0}"/>
              </a:ext>
            </a:extLst>
          </p:cNvPr>
          <p:cNvSpPr>
            <a:spLocks xmlns:a="http://schemas.openxmlformats.org/drawingml/2006/main" noGrp="1"/>
          </p:cNvSpPr>
          <p:nvPr/>
        </p:nvSpPr>
        <p:spPr>
          <a:xfrm xmlns:a="http://schemas.openxmlformats.org/drawingml/2006/main">
            <a:off x="2238375" y="4362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높은 위험</a:t>
            </a:r>
          </a:p>
        </p:txBody>
      </p:sp>
      <p:sp>
        <p:nvSpPr>
          <p:cNvPr id="17" name="">
            <a:extLst xmlns:a="http://schemas.openxmlformats.org/drawingml/2006/main">
              <a:ext uri="{FF2B5EF4-FFF2-40B4-BE49-F238E27FC236}">
                <a16:creationId xmlns:a16="http://schemas.microsoft.com/office/drawing/2014/main" id="{C25FC007-884D-41E9-AFB1-9E772BCA0266}"/>
              </a:ext>
            </a:extLst>
          </p:cNvPr>
          <p:cNvSpPr>
            <a:spLocks xmlns:a="http://schemas.openxmlformats.org/drawingml/2006/main" noGrp="1"/>
          </p:cNvSpPr>
          <p:nvPr/>
        </p:nvSpPr>
        <p:spPr>
          <a:xfrm xmlns:a="http://schemas.openxmlformats.org/drawingml/2006/main">
            <a:off x="2238375" y="4762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영구 삭제·외부 전송·설치·초기화</a:t>
            </a:r>
          </a:p>
        </p:txBody>
      </p:sp>
      <p:sp>
        <p:nvSpPr>
          <p:cNvPr id="18" name="">
            <a:extLst xmlns:a="http://schemas.openxmlformats.org/drawingml/2006/main">
              <a:ext uri="{FF2B5EF4-FFF2-40B4-BE49-F238E27FC236}">
                <a16:creationId xmlns:a16="http://schemas.microsoft.com/office/drawing/2014/main" id="{6A0CD2AB-BCB3-45A3-9E2C-A38C01966707}"/>
              </a:ext>
            </a:extLst>
          </p:cNvPr>
          <p:cNvSpPr>
            <a:spLocks xmlns:a="http://schemas.openxmlformats.org/drawingml/2006/main" noGrp="1"/>
          </p:cNvSpPr>
          <p:nvPr/>
        </p:nvSpPr>
        <p:spPr>
          <a:xfrm xmlns:a="http://schemas.openxmlformats.org/drawingml/2006/main">
            <a:off x="7096125" y="4476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정확한 행동 승인 + 강한 인증</a:t>
            </a:r>
          </a:p>
        </p:txBody>
      </p:sp>
      <p:sp>
        <p:nvSpPr>
          <p:cNvPr id="19" name="">
            <a:extLst xmlns:a="http://schemas.openxmlformats.org/drawingml/2006/main">
              <a:ext uri="{FF2B5EF4-FFF2-40B4-BE49-F238E27FC236}">
                <a16:creationId xmlns:a16="http://schemas.microsoft.com/office/drawing/2014/main" id="{9BA6B595-ACD1-4865-B889-1582BAC5F78F}"/>
              </a:ext>
            </a:extLst>
          </p:cNvPr>
          <p:cNvSpPr>
            <a:spLocks xmlns:a="http://schemas.openxmlformats.org/drawingml/2006/main" noGrp="1"/>
          </p:cNvSpPr>
          <p:nvPr/>
        </p:nvSpPr>
        <p:spPr>
          <a:xfrm xmlns:a="http://schemas.openxmlformats.org/drawingml/2006/main">
            <a:off x="71437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950" b="1">
                <a:solidFill>
                  <a:srgbClr val="243B64"/>
                </a:solidFill>
                <a:latin typeface="NanumGothic"/>
                <a:ea typeface="NanumGothic"/>
                <a:cs typeface="NanumGothic"/>
              </a:defRPr>
            </a:pPr>
            <a:r>
              <a:rPr sz="1950" b="1">
                <a:solidFill>
                  <a:srgbClr val="243B64"/>
                </a:solidFill>
                <a:latin typeface="NanumGothic"/>
                <a:ea typeface="NanumGothic"/>
                <a:cs typeface="NanumGothic"/>
              </a:rPr>
              <a:t>위험할수록 언어 모델(LLM)의 판단이나 음성 확인만으로 실행하지 않는다.</a:t>
            </a:r>
          </a:p>
        </p:txBody>
      </p:sp>
      <p:sp>
        <p:nvSpPr>
          <p:cNvPr id="20" name="">
            <a:extLst xmlns:a="http://schemas.openxmlformats.org/drawingml/2006/main">
              <a:ext uri="{FF2B5EF4-FFF2-40B4-BE49-F238E27FC236}">
                <a16:creationId xmlns:a16="http://schemas.microsoft.com/office/drawing/2014/main" id="{1657A839-32D2-4058-8A87-C0F393343AE9}"/>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안전 근거: OS-Harm은 사용자 오용·프롬프트 주입·모델 오작동을 별도 위험군으로 평가한다.</a:t>
            </a:r>
          </a:p>
        </p:txBody>
      </p:sp>
    </p:spTree>
    <p:extLst>
      <p:ext uri="{BB962C8B-B14F-4D97-AF65-F5344CB8AC3E}">
        <p14:creationId xmlns:p14="http://schemas.microsoft.com/office/powerpoint/2010/main" val="13612936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AB6878-44B2-4A08-AC5C-48EA7C2BC7C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구현 모듈과 책임</a:t>
            </a:r>
          </a:p>
        </p:txBody>
      </p:sp>
      <p:sp>
        <p:nvSpPr>
          <p:cNvPr id="2" name="">
            <a:extLst xmlns:a="http://schemas.openxmlformats.org/drawingml/2006/main">
              <a:ext uri="{FF2B5EF4-FFF2-40B4-BE49-F238E27FC236}">
                <a16:creationId xmlns:a16="http://schemas.microsoft.com/office/drawing/2014/main" id="{83072CB6-43B0-4DAE-98FB-316ADF52B11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07</a:t>
            </a:r>
          </a:p>
        </p:txBody>
      </p:sp>
      <p:sp>
        <p:nvSpPr>
          <p:cNvPr id="3" name="">
            <a:extLst xmlns:a="http://schemas.openxmlformats.org/drawingml/2006/main">
              <a:ext uri="{FF2B5EF4-FFF2-40B4-BE49-F238E27FC236}">
                <a16:creationId xmlns:a16="http://schemas.microsoft.com/office/drawing/2014/main" id="{458D6E7A-1B1C-4CBE-A810-059C57B7BAE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1" name=""/>
          <p:cNvGraphicFramePr/>
          <p:nvPr/>
        </p:nvGraphicFramePr>
        <p:xfrm>
          <a:off xmlns:a="http://schemas.openxmlformats.org/drawingml/2006/main" x="590550" y="1238250"/>
          <a:ext xmlns:a="http://schemas.openxmlformats.org/drawingml/2006/main" cx="11010900" cy="4381500"/>
        </p:xfrm>
        <a:graphic xmlns:a="http://schemas.openxmlformats.org/drawingml/2006/main">
          <a:graphicData uri="http://schemas.openxmlformats.org/drawingml/2006/table">
            <a:tbl>
              <a:tblPr/>
              <a:tblGrid>
                <a:gridCol w="2571750"/>
                <a:gridCol w="2667000"/>
                <a:gridCol w="2857500"/>
                <a:gridCol w="2914650"/>
              </a:tblGrid>
              <a:tr h="547688">
                <a:tc>
                  <a:txBody>
                    <a:bodyPr/>
                    <a:lstStyle/>
                    <a:p>
                      <a:r>
                        <a:rPr sz="1200" b="1">
                          <a:solidFill>
                            <a:srgbClr val="FFFFFF"/>
                          </a:solidFill>
                          <a:latin typeface="NanumGothic"/>
                          <a:ea typeface="NanumGothic"/>
                          <a:cs typeface="NanumGothic"/>
                        </a:rPr>
                        <a:t>모듈</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핵심 역할</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입력</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출력</a:t>
                      </a:r>
                    </a:p>
                  </a:txBody>
                  <a:tcPr marL="91440" marR="91440" marT="45720" marB="45720" anchor="ctr">
                    <a:solidFill>
                      <a:srgbClr val="243B64"/>
                    </a:solidFill>
                  </a:tcPr>
                </a:tc>
              </a:tr>
              <a:tr h="547688">
                <a:tc>
                  <a:txBody>
                    <a:bodyPr/>
                    <a:lstStyle/>
                    <a:p>
                      <a:r>
                        <a:rPr sz="1050">
                          <a:solidFill>
                            <a:srgbClr val="172033"/>
                          </a:solidFill>
                          <a:latin typeface="NanumGothic"/>
                          <a:ea typeface="NanumGothic"/>
                          <a:cs typeface="NanumGothic"/>
                        </a:rPr>
                        <a:t>음성 입력</a:t>
                      </a:r>
                    </a:p>
                  </a:txBody>
                  <a:tcPr marL="91440" marR="91440" marT="45720" marB="45720" anchor="ctr"/>
                </a:tc>
                <a:tc>
                  <a:txBody>
                    <a:bodyPr/>
                    <a:lstStyle/>
                    <a:p>
                      <a:r>
                        <a:rPr sz="1050">
                          <a:solidFill>
                            <a:srgbClr val="172033"/>
                          </a:solidFill>
                          <a:latin typeface="NanumGothic"/>
                          <a:ea typeface="NanumGothic"/>
                          <a:cs typeface="NanumGothic"/>
                        </a:rPr>
                        <a:t>호출어·무음·음성 인식</a:t>
                      </a:r>
                    </a:p>
                  </a:txBody>
                  <a:tcPr marL="91440" marR="91440" marT="45720" marB="45720" anchor="ctr"/>
                </a:tc>
                <a:tc>
                  <a:txBody>
                    <a:bodyPr/>
                    <a:lstStyle/>
                    <a:p>
                      <a:r>
                        <a:rPr sz="1050">
                          <a:solidFill>
                            <a:srgbClr val="172033"/>
                          </a:solidFill>
                          <a:latin typeface="NanumGothic"/>
                          <a:ea typeface="NanumGothic"/>
                          <a:cs typeface="NanumGothic"/>
                        </a:rPr>
                        <a:t>마이크 프레임</a:t>
                      </a:r>
                    </a:p>
                  </a:txBody>
                  <a:tcPr marL="91440" marR="91440" marT="45720" marB="45720" anchor="ctr"/>
                </a:tc>
                <a:tc>
                  <a:txBody>
                    <a:bodyPr/>
                    <a:lstStyle/>
                    <a:p>
                      <a:r>
                        <a:rPr sz="1050">
                          <a:solidFill>
                            <a:srgbClr val="172033"/>
                          </a:solidFill>
                          <a:latin typeface="NanumGothic"/>
                          <a:ea typeface="NanumGothic"/>
                          <a:cs typeface="NanumGothic"/>
                        </a:rPr>
                        <a:t>음성 인식 결과</a:t>
                      </a:r>
                    </a:p>
                  </a:txBody>
                  <a:tcPr marL="91440" marR="91440" marT="45720" marB="45720" anchor="ctr"/>
                </a:tc>
              </a:tr>
              <a:tr h="547688">
                <a:tc>
                  <a:txBody>
                    <a:bodyPr/>
                    <a:lstStyle/>
                    <a:p>
                      <a:r>
                        <a:rPr sz="1050">
                          <a:solidFill>
                            <a:srgbClr val="172033"/>
                          </a:solidFill>
                          <a:latin typeface="NanumGothic"/>
                          <a:ea typeface="NanumGothic"/>
                          <a:cs typeface="NanumGothic"/>
                        </a:rPr>
                        <a:t>의도 판별</a:t>
                      </a:r>
                    </a:p>
                  </a:txBody>
                  <a:tcPr marL="91440" marR="91440" marT="45720" marB="45720" anchor="ctr"/>
                </a:tc>
                <a:tc>
                  <a:txBody>
                    <a:bodyPr/>
                    <a:lstStyle/>
                    <a:p>
                      <a:r>
                        <a:rPr sz="1050">
                          <a:solidFill>
                            <a:srgbClr val="172033"/>
                          </a:solidFill>
                          <a:latin typeface="NanumGothic"/>
                          <a:ea typeface="NanumGothic"/>
                          <a:cs typeface="NanumGothic"/>
                        </a:rPr>
                        <a:t>명령·대화·인용·중단 구분</a:t>
                      </a:r>
                    </a:p>
                  </a:txBody>
                  <a:tcPr marL="91440" marR="91440" marT="45720" marB="45720" anchor="ctr"/>
                </a:tc>
                <a:tc>
                  <a:txBody>
                    <a:bodyPr/>
                    <a:lstStyle/>
                    <a:p>
                      <a:r>
                        <a:rPr sz="1050">
                          <a:solidFill>
                            <a:srgbClr val="172033"/>
                          </a:solidFill>
                          <a:latin typeface="NanumGothic"/>
                          <a:ea typeface="NanumGothic"/>
                          <a:cs typeface="NanumGothic"/>
                        </a:rPr>
                        <a:t>문장·신뢰도</a:t>
                      </a:r>
                    </a:p>
                  </a:txBody>
                  <a:tcPr marL="91440" marR="91440" marT="45720" marB="45720" anchor="ctr"/>
                </a:tc>
                <a:tc>
                  <a:txBody>
                    <a:bodyPr/>
                    <a:lstStyle/>
                    <a:p>
                      <a:r>
                        <a:rPr sz="1050">
                          <a:solidFill>
                            <a:srgbClr val="172033"/>
                          </a:solidFill>
                          <a:latin typeface="NanumGothic"/>
                          <a:ea typeface="NanumGothic"/>
                          <a:cs typeface="NanumGothic"/>
                        </a:rPr>
                        <a:t>의도 결정</a:t>
                      </a:r>
                    </a:p>
                  </a:txBody>
                  <a:tcPr marL="91440" marR="91440" marT="45720" marB="45720" anchor="ctr"/>
                </a:tc>
              </a:tr>
              <a:tr h="547688">
                <a:tc>
                  <a:txBody>
                    <a:bodyPr/>
                    <a:lstStyle/>
                    <a:p>
                      <a:r>
                        <a:rPr sz="1050">
                          <a:solidFill>
                            <a:srgbClr val="172033"/>
                          </a:solidFill>
                          <a:latin typeface="NanumGothic"/>
                          <a:ea typeface="NanumGothic"/>
                          <a:cs typeface="NanumGothic"/>
                        </a:rPr>
                        <a:t>상황·기억</a:t>
                      </a:r>
                    </a:p>
                  </a:txBody>
                  <a:tcPr marL="91440" marR="91440" marT="45720" marB="45720" anchor="ctr"/>
                </a:tc>
                <a:tc>
                  <a:txBody>
                    <a:bodyPr/>
                    <a:lstStyle/>
                    <a:p>
                      <a:r>
                        <a:rPr sz="1050">
                          <a:solidFill>
                            <a:srgbClr val="172033"/>
                          </a:solidFill>
                          <a:latin typeface="NanumGothic"/>
                          <a:ea typeface="NanumGothic"/>
                          <a:cs typeface="NanumGothic"/>
                        </a:rPr>
                        <a:t>검증된 앱과 로컬 기억 최소 제공</a:t>
                      </a:r>
                    </a:p>
                  </a:txBody>
                  <a:tcPr marL="91440" marR="91440" marT="45720" marB="45720" anchor="ctr"/>
                </a:tc>
                <a:tc>
                  <a:txBody>
                    <a:bodyPr/>
                    <a:lstStyle/>
                    <a:p>
                      <a:r>
                        <a:rPr sz="1050">
                          <a:solidFill>
                            <a:srgbClr val="172033"/>
                          </a:solidFill>
                          <a:latin typeface="NanumGothic"/>
                          <a:ea typeface="NanumGothic"/>
                          <a:cs typeface="NanumGothic"/>
                        </a:rPr>
                        <a:t>운영체제 상태</a:t>
                      </a:r>
                    </a:p>
                  </a:txBody>
                  <a:tcPr marL="91440" marR="91440" marT="45720" marB="45720" anchor="ctr"/>
                </a:tc>
                <a:tc>
                  <a:txBody>
                    <a:bodyPr/>
                    <a:lstStyle/>
                    <a:p>
                      <a:r>
                        <a:rPr sz="1050">
                          <a:solidFill>
                            <a:srgbClr val="172033"/>
                          </a:solidFill>
                          <a:latin typeface="NanumGothic"/>
                          <a:ea typeface="NanumGothic"/>
                          <a:cs typeface="NanumGothic"/>
                        </a:rPr>
                        <a:t>최소화된 문맥</a:t>
                      </a:r>
                    </a:p>
                  </a:txBody>
                  <a:tcPr marL="91440" marR="91440" marT="45720" marB="45720" anchor="ctr"/>
                </a:tc>
              </a:tr>
              <a:tr h="547688">
                <a:tc>
                  <a:txBody>
                    <a:bodyPr/>
                    <a:lstStyle/>
                    <a:p>
                      <a:r>
                        <a:rPr sz="1050">
                          <a:solidFill>
                            <a:srgbClr val="172033"/>
                          </a:solidFill>
                          <a:latin typeface="NanumGothic"/>
                          <a:ea typeface="NanumGothic"/>
                          <a:cs typeface="NanumGothic"/>
                        </a:rPr>
                        <a:t>계획 생성</a:t>
                      </a:r>
                    </a:p>
                  </a:txBody>
                  <a:tcPr marL="91440" marR="91440" marT="45720" marB="45720" anchor="ctr"/>
                </a:tc>
                <a:tc>
                  <a:txBody>
                    <a:bodyPr/>
                    <a:lstStyle/>
                    <a:p>
                      <a:r>
                        <a:rPr sz="1050">
                          <a:solidFill>
                            <a:srgbClr val="172033"/>
                          </a:solidFill>
                          <a:latin typeface="NanumGothic"/>
                          <a:ea typeface="NanumGothic"/>
                          <a:cs typeface="NanumGothic"/>
                        </a:rPr>
                        <a:t>NIM이 정해진 JSON 계획 제안</a:t>
                      </a:r>
                    </a:p>
                  </a:txBody>
                  <a:tcPr marL="91440" marR="91440" marT="45720" marB="45720" anchor="ctr"/>
                </a:tc>
                <a:tc>
                  <a:txBody>
                    <a:bodyPr/>
                    <a:lstStyle/>
                    <a:p>
                      <a:r>
                        <a:rPr sz="1050">
                          <a:solidFill>
                            <a:srgbClr val="172033"/>
                          </a:solidFill>
                          <a:latin typeface="NanumGothic"/>
                          <a:ea typeface="NanumGothic"/>
                          <a:cs typeface="NanumGothic"/>
                        </a:rPr>
                        <a:t>목표·허용 기능</a:t>
                      </a:r>
                    </a:p>
                  </a:txBody>
                  <a:tcPr marL="91440" marR="91440" marT="45720" marB="45720" anchor="ctr"/>
                </a:tc>
                <a:tc>
                  <a:txBody>
                    <a:bodyPr/>
                    <a:lstStyle/>
                    <a:p>
                      <a:r>
                        <a:rPr sz="1050">
                          <a:solidFill>
                            <a:srgbClr val="172033"/>
                          </a:solidFill>
                          <a:latin typeface="NanumGothic"/>
                          <a:ea typeface="NanumGothic"/>
                          <a:cs typeface="NanumGothic"/>
                        </a:rPr>
                        <a:t>구조화된 계획</a:t>
                      </a:r>
                    </a:p>
                  </a:txBody>
                  <a:tcPr marL="91440" marR="91440" marT="45720" marB="45720" anchor="ctr"/>
                </a:tc>
              </a:tr>
              <a:tr h="547688">
                <a:tc>
                  <a:txBody>
                    <a:bodyPr/>
                    <a:lstStyle/>
                    <a:p>
                      <a:r>
                        <a:rPr sz="1050">
                          <a:solidFill>
                            <a:srgbClr val="172033"/>
                          </a:solidFill>
                          <a:latin typeface="NanumGothic"/>
                          <a:ea typeface="NanumGothic"/>
                          <a:cs typeface="NanumGothic"/>
                        </a:rPr>
                        <a:t>정책·승인</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위험·대상·권한 재검사</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행동·현재 문맥</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허용·승인·차단</a:t>
                      </a:r>
                    </a:p>
                  </a:txBody>
                  <a:tcPr marL="91440" marR="91440" marT="45720" marB="45720" anchor="ctr">
                    <a:solidFill>
                      <a:srgbClr val="FFF6E6"/>
                    </a:solidFill>
                  </a:tcPr>
                </a:tc>
              </a:tr>
              <a:tr h="547688">
                <a:tc>
                  <a:txBody>
                    <a:bodyPr/>
                    <a:lstStyle/>
                    <a:p>
                      <a:r>
                        <a:rPr sz="1050">
                          <a:solidFill>
                            <a:srgbClr val="172033"/>
                          </a:solidFill>
                          <a:latin typeface="NanumGothic"/>
                          <a:ea typeface="NanumGothic"/>
                          <a:cs typeface="NanumGothic"/>
                        </a:rPr>
                        <a:t>실행·검증</a:t>
                      </a:r>
                    </a:p>
                  </a:txBody>
                  <a:tcPr marL="91440" marR="91440" marT="45720" marB="45720" anchor="ctr"/>
                </a:tc>
                <a:tc>
                  <a:txBody>
                    <a:bodyPr/>
                    <a:lstStyle/>
                    <a:p>
                      <a:r>
                        <a:rPr sz="1050">
                          <a:solidFill>
                            <a:srgbClr val="172033"/>
                          </a:solidFill>
                          <a:latin typeface="NanumGothic"/>
                          <a:ea typeface="NanumGothic"/>
                          <a:cs typeface="NanumGothic"/>
                        </a:rPr>
                        <a:t>Windows 실행 후 독립 재확인</a:t>
                      </a:r>
                    </a:p>
                  </a:txBody>
                  <a:tcPr marL="91440" marR="91440" marT="45720" marB="45720" anchor="ctr"/>
                </a:tc>
                <a:tc>
                  <a:txBody>
                    <a:bodyPr/>
                    <a:lstStyle/>
                    <a:p>
                      <a:r>
                        <a:rPr sz="1050">
                          <a:solidFill>
                            <a:srgbClr val="172033"/>
                          </a:solidFill>
                          <a:latin typeface="NanumGothic"/>
                          <a:ea typeface="NanumGothic"/>
                          <a:cs typeface="NanumGothic"/>
                        </a:rPr>
                        <a:t>승인된 행동</a:t>
                      </a:r>
                    </a:p>
                  </a:txBody>
                  <a:tcPr marL="91440" marR="91440" marT="45720" marB="45720" anchor="ctr"/>
                </a:tc>
                <a:tc>
                  <a:txBody>
                    <a:bodyPr/>
                    <a:lstStyle/>
                    <a:p>
                      <a:r>
                        <a:rPr sz="1050">
                          <a:solidFill>
                            <a:srgbClr val="172033"/>
                          </a:solidFill>
                          <a:latin typeface="NanumGothic"/>
                          <a:ea typeface="NanumGothic"/>
                          <a:cs typeface="NanumGothic"/>
                        </a:rPr>
                        <a:t>검증 결과</a:t>
                      </a:r>
                    </a:p>
                  </a:txBody>
                  <a:tcPr marL="91440" marR="91440" marT="45720" marB="45720" anchor="ctr"/>
                </a:tc>
              </a:tr>
              <a:tr h="547688">
                <a:tc>
                  <a:txBody>
                    <a:bodyPr/>
                    <a:lstStyle/>
                    <a:p>
                      <a:r>
                        <a:rPr sz="1050">
                          <a:solidFill>
                            <a:srgbClr val="172033"/>
                          </a:solidFill>
                          <a:latin typeface="NanumGothic"/>
                          <a:ea typeface="NanumGothic"/>
                          <a:cs typeface="NanumGothic"/>
                        </a:rPr>
                        <a:t>감사·중단</a:t>
                      </a:r>
                    </a:p>
                  </a:txBody>
                  <a:tcPr marL="91440" marR="91440" marT="45720" marB="45720" anchor="ctr"/>
                </a:tc>
                <a:tc>
                  <a:txBody>
                    <a:bodyPr/>
                    <a:lstStyle/>
                    <a:p>
                      <a:r>
                        <a:rPr sz="1050">
                          <a:solidFill>
                            <a:srgbClr val="172033"/>
                          </a:solidFill>
                          <a:latin typeface="NanumGothic"/>
                          <a:ea typeface="NanumGothic"/>
                          <a:cs typeface="NanumGothic"/>
                        </a:rPr>
                        <a:t>비밀 제거 로그와 즉시 STOP</a:t>
                      </a:r>
                    </a:p>
                  </a:txBody>
                  <a:tcPr marL="91440" marR="91440" marT="45720" marB="45720" anchor="ctr"/>
                </a:tc>
                <a:tc>
                  <a:txBody>
                    <a:bodyPr/>
                    <a:lstStyle/>
                    <a:p>
                      <a:r>
                        <a:rPr sz="1050">
                          <a:solidFill>
                            <a:srgbClr val="172033"/>
                          </a:solidFill>
                          <a:latin typeface="NanumGothic"/>
                          <a:ea typeface="NanumGothic"/>
                          <a:cs typeface="NanumGothic"/>
                        </a:rPr>
                        <a:t>실행 사건</a:t>
                      </a:r>
                    </a:p>
                  </a:txBody>
                  <a:tcPr marL="91440" marR="91440" marT="45720" marB="45720" anchor="ctr"/>
                </a:tc>
                <a:tc>
                  <a:txBody>
                    <a:bodyPr/>
                    <a:lstStyle/>
                    <a:p>
                      <a:r>
                        <a:rPr sz="1050">
                          <a:solidFill>
                            <a:srgbClr val="172033"/>
                          </a:solidFill>
                          <a:latin typeface="NanumGothic"/>
                          <a:ea typeface="NanumGothic"/>
                          <a:cs typeface="NanumGothic"/>
                        </a:rPr>
                        <a:t>상태·감사 기록</a:t>
                      </a:r>
                    </a:p>
                  </a:txBody>
                  <a:tcPr marL="91440" marR="91440" marT="45720" marB="45720" anchor="ctr"/>
                </a:tc>
              </a:tr>
            </a:tbl>
          </a:graphicData>
        </a:graphic>
      </p:graphicFrame>
      <p:sp>
        <p:nvSpPr>
          <p:cNvPr id="5" name="">
            <a:extLst xmlns:a="http://schemas.openxmlformats.org/drawingml/2006/main">
              <a:ext uri="{FF2B5EF4-FFF2-40B4-BE49-F238E27FC236}">
                <a16:creationId xmlns:a16="http://schemas.microsoft.com/office/drawing/2014/main" id="{58435970-024C-49D9-9246-2597944D2B42}"/>
              </a:ext>
            </a:extLst>
          </p:cNvPr>
          <p:cNvSpPr>
            <a:spLocks xmlns:a="http://schemas.openxmlformats.org/drawingml/2006/main" noGrp="1"/>
          </p:cNvSpPr>
          <p:nvPr/>
        </p:nvSpPr>
        <p:spPr>
          <a:xfrm xmlns:a="http://schemas.openxmlformats.org/drawingml/2006/main">
            <a:off x="647700" y="58293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모델은 계획을 제안하고, 권한·실행·완료 판정은 별도 모듈이 담당한다.</a:t>
            </a:r>
          </a:p>
        </p:txBody>
      </p:sp>
    </p:spTree>
    <p:extLst>
      <p:ext uri="{BB962C8B-B14F-4D97-AF65-F5344CB8AC3E}">
        <p14:creationId xmlns:p14="http://schemas.microsoft.com/office/powerpoint/2010/main" val="370693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6B8A49-781D-4445-99A8-6E3D4C6D986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논문 실험 설계</a:t>
            </a:r>
          </a:p>
        </p:txBody>
      </p:sp>
      <p:sp>
        <p:nvSpPr>
          <p:cNvPr id="2" name="">
            <a:extLst xmlns:a="http://schemas.openxmlformats.org/drawingml/2006/main">
              <a:ext uri="{FF2B5EF4-FFF2-40B4-BE49-F238E27FC236}">
                <a16:creationId xmlns:a16="http://schemas.microsoft.com/office/drawing/2014/main" id="{34B1A5F4-F93B-4780-993D-AD64B16AA2E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08</a:t>
            </a:r>
          </a:p>
        </p:txBody>
      </p:sp>
      <p:sp>
        <p:nvSpPr>
          <p:cNvPr id="3" name="">
            <a:extLst xmlns:a="http://schemas.openxmlformats.org/drawingml/2006/main">
              <a:ext uri="{FF2B5EF4-FFF2-40B4-BE49-F238E27FC236}">
                <a16:creationId xmlns:a16="http://schemas.microsoft.com/office/drawing/2014/main" id="{8E8AF8C5-11FA-41A1-9826-6BB07C28C5E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8EC0508-7F6C-4578-A365-6A78D6CE6298}"/>
              </a:ext>
            </a:extLst>
          </p:cNvPr>
          <p:cNvSpPr>
            <a:spLocks xmlns:a="http://schemas.openxmlformats.org/drawingml/2006/main" noGrp="1"/>
          </p:cNvSpPr>
          <p:nvPr/>
        </p:nvSpPr>
        <p:spPr>
          <a:xfrm xmlns:a="http://schemas.openxmlformats.org/drawingml/2006/main">
            <a:off x="685800" y="12954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
            </a:r>
          </a:p>
        </p:txBody>
      </p:sp>
      <p:graphicFrame>
        <p:nvGraphicFramePr>
          <p:cNvPr id="33" name=""/>
          <p:cNvGraphicFramePr/>
          <p:nvPr/>
        </p:nvGraphicFramePr>
        <p:xfrm>
          <a:off xmlns:a="http://schemas.openxmlformats.org/drawingml/2006/main" x="685800" y="1714500"/>
          <a:ext xmlns:a="http://schemas.openxmlformats.org/drawingml/2006/main" cx="6667500" cy="2571750"/>
        </p:xfrm>
        <a:graphic xmlns:a="http://schemas.openxmlformats.org/drawingml/2006/main">
          <a:graphicData uri="http://schemas.openxmlformats.org/drawingml/2006/table">
            <a:tbl>
              <a:tblPr/>
              <a:tblGrid>
                <a:gridCol w="2222500"/>
                <a:gridCol w="2222500"/>
                <a:gridCol w="2222500"/>
              </a:tblGrid>
              <a:tr h="642938">
                <a:tc>
                  <a:txBody>
                    <a:bodyPr/>
                    <a:lstStyle/>
                    <a:p>
                      <a:r>
                        <a:rPr sz="1200" b="1">
                          <a:solidFill>
                            <a:srgbClr val="FFFFFF"/>
                          </a:solidFill>
                          <a:latin typeface="NanumGothic"/>
                          <a:ea typeface="NanumGothic"/>
                          <a:cs typeface="NanumGothic"/>
                        </a:rPr>
                        <a:t>실험군</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구성</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측정</a:t>
                      </a:r>
                    </a:p>
                  </a:txBody>
                  <a:tcPr marL="91440" marR="91440" marT="45720" marB="45720" anchor="ctr">
                    <a:solidFill>
                      <a:srgbClr val="243B64"/>
                    </a:solidFill>
                  </a:tcPr>
                </a:tc>
              </a:tr>
              <a:tr h="642938">
                <a:tc>
                  <a:txBody>
                    <a:bodyPr/>
                    <a:lstStyle/>
                    <a:p>
                      <a:r>
                        <a:rPr sz="1125">
                          <a:solidFill>
                            <a:srgbClr val="172033"/>
                          </a:solidFill>
                          <a:latin typeface="NanumGothic"/>
                          <a:ea typeface="NanumGothic"/>
                          <a:cs typeface="NanumGothic"/>
                        </a:rPr>
                        <a:t>A</a:t>
                      </a:r>
                    </a:p>
                  </a:txBody>
                  <a:tcPr marL="91440" marR="91440" marT="45720" marB="45720" anchor="ctr"/>
                </a:tc>
                <a:tc>
                  <a:txBody>
                    <a:bodyPr/>
                    <a:lstStyle/>
                    <a:p>
                      <a:r>
                        <a:rPr sz="1125">
                          <a:solidFill>
                            <a:srgbClr val="172033"/>
                          </a:solidFill>
                          <a:latin typeface="NanumGothic"/>
                          <a:ea typeface="NanumGothic"/>
                          <a:cs typeface="NanumGothic"/>
                        </a:rPr>
                        <a:t>STT 후 즉시 실행</a:t>
                      </a:r>
                    </a:p>
                  </a:txBody>
                  <a:tcPr marL="91440" marR="91440" marT="45720" marB="45720" anchor="ctr"/>
                </a:tc>
                <a:tc>
                  <a:txBody>
                    <a:bodyPr/>
                    <a:lstStyle/>
                    <a:p>
                      <a:r>
                        <a:rPr sz="1125">
                          <a:solidFill>
                            <a:srgbClr val="172033"/>
                          </a:solidFill>
                          <a:latin typeface="NanumGothic"/>
                          <a:ea typeface="NanumGothic"/>
                          <a:cs typeface="NanumGothic"/>
                        </a:rPr>
                        <a:t>오실행률</a:t>
                      </a:r>
                    </a:p>
                  </a:txBody>
                  <a:tcPr marL="91440" marR="91440" marT="45720" marB="45720" anchor="ctr"/>
                </a:tc>
              </a:tr>
              <a:tr h="642938">
                <a:tc>
                  <a:txBody>
                    <a:bodyPr/>
                    <a:lstStyle/>
                    <a:p>
                      <a:r>
                        <a:rPr sz="1125">
                          <a:solidFill>
                            <a:srgbClr val="172033"/>
                          </a:solidFill>
                          <a:latin typeface="NanumGothic"/>
                          <a:ea typeface="NanumGothic"/>
                          <a:cs typeface="NanumGothic"/>
                        </a:rPr>
                        <a:t>B</a:t>
                      </a:r>
                    </a:p>
                  </a:txBody>
                  <a:tcPr marL="91440" marR="91440" marT="45720" marB="45720" anchor="ctr"/>
                </a:tc>
                <a:tc>
                  <a:txBody>
                    <a:bodyPr/>
                    <a:lstStyle/>
                    <a:p>
                      <a:r>
                        <a:rPr sz="1125">
                          <a:solidFill>
                            <a:srgbClr val="172033"/>
                          </a:solidFill>
                          <a:latin typeface="NanumGothic"/>
                          <a:ea typeface="NanumGothic"/>
                          <a:cs typeface="NanumGothic"/>
                        </a:rPr>
                        <a:t>Intent 판별 추가</a:t>
                      </a:r>
                    </a:p>
                  </a:txBody>
                  <a:tcPr marL="91440" marR="91440" marT="45720" marB="45720" anchor="ctr"/>
                </a:tc>
                <a:tc>
                  <a:txBody>
                    <a:bodyPr/>
                    <a:lstStyle/>
                    <a:p>
                      <a:r>
                        <a:rPr sz="1125">
                          <a:solidFill>
                            <a:srgbClr val="172033"/>
                          </a:solidFill>
                          <a:latin typeface="NanumGothic"/>
                          <a:ea typeface="NanumGothic"/>
                          <a:cs typeface="NanumGothic"/>
                        </a:rPr>
                        <a:t>명령 판별 F1</a:t>
                      </a:r>
                    </a:p>
                  </a:txBody>
                  <a:tcPr marL="91440" marR="91440" marT="45720" marB="45720" anchor="ctr"/>
                </a:tc>
              </a:tr>
              <a:tr h="642938">
                <a:tc>
                  <a:txBody>
                    <a:bodyPr/>
                    <a:lstStyle/>
                    <a:p>
                      <a:r>
                        <a:rPr sz="1125">
                          <a:solidFill>
                            <a:srgbClr val="172033"/>
                          </a:solidFill>
                          <a:latin typeface="NanumGothic"/>
                          <a:ea typeface="NanumGothic"/>
                          <a:cs typeface="NanumGothic"/>
                        </a:rPr>
                        <a:t>C</a:t>
                      </a:r>
                    </a:p>
                  </a:txBody>
                  <a:tcPr marL="91440" marR="91440" marT="45720" marB="45720" anchor="ctr"/>
                </a:tc>
                <a:tc>
                  <a:txBody>
                    <a:bodyPr/>
                    <a:lstStyle/>
                    <a:p>
                      <a:r>
                        <a:rPr sz="1125">
                          <a:solidFill>
                            <a:srgbClr val="172033"/>
                          </a:solidFill>
                          <a:latin typeface="NanumGothic"/>
                          <a:ea typeface="NanumGothic"/>
                          <a:cs typeface="NanumGothic"/>
                        </a:rPr>
                        <a:t>Intent + Risk + 승인</a:t>
                      </a:r>
                    </a:p>
                  </a:txBody>
                  <a:tcPr marL="91440" marR="91440" marT="45720" marB="45720" anchor="ctr"/>
                </a:tc>
                <a:tc>
                  <a:txBody>
                    <a:bodyPr/>
                    <a:lstStyle/>
                    <a:p>
                      <a:r>
                        <a:rPr sz="1125">
                          <a:solidFill>
                            <a:srgbClr val="172033"/>
                          </a:solidFill>
                          <a:latin typeface="NanumGothic"/>
                          <a:ea typeface="NanumGothic"/>
                          <a:cs typeface="NanumGothic"/>
                        </a:rPr>
                        <a:t>위험 작업 차단률</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C879B6F6-DA54-4984-8DC9-773037D7BA44}"/>
              </a:ext>
            </a:extLst>
          </p:cNvPr>
          <p:cNvSpPr>
            <a:spLocks xmlns:a="http://schemas.openxmlformats.org/drawingml/2006/main" noGrp="1"/>
          </p:cNvSpPr>
          <p:nvPr/>
        </p:nvSpPr>
        <p:spPr>
          <a:xfrm xmlns:a="http://schemas.openxmlformats.org/drawingml/2006/main">
            <a:off x="685800" y="45720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00" b="1">
                <a:solidFill>
                  <a:srgbClr val="657187"/>
                </a:solidFill>
                <a:latin typeface="NanumGothic"/>
                <a:ea typeface="NanumGothic"/>
                <a:cs typeface="NanumGothic"/>
              </a:defRPr>
            </a:pPr>
            <a:r>
              <a:rPr sz="1500" b="1">
                <a:solidFill>
                  <a:srgbClr val="657187"/>
                </a:solidFill>
                <a:latin typeface="NanumGothic"/>
                <a:ea typeface="NanumGothic"/>
                <a:cs typeface="NanumGothic"/>
              </a:rPr>
              <a:t/>
            </a:r>
          </a:p>
        </p:txBody>
      </p:sp>
      <p:sp>
        <p:nvSpPr>
          <p:cNvPr id="7" name="">
            <a:extLst xmlns:a="http://schemas.openxmlformats.org/drawingml/2006/main">
              <a:ext uri="{FF2B5EF4-FFF2-40B4-BE49-F238E27FC236}">
                <a16:creationId xmlns:a16="http://schemas.microsoft.com/office/drawing/2014/main" id="{5E5A1DA9-396C-4C7D-B15D-D47A1CD12183}"/>
              </a:ext>
            </a:extLst>
          </p:cNvPr>
          <p:cNvSpPr>
            <a:spLocks xmlns:a="http://schemas.openxmlformats.org/drawingml/2006/main" noGrp="1"/>
          </p:cNvSpPr>
          <p:nvPr/>
        </p:nvSpPr>
        <p:spPr>
          <a:xfrm xmlns:a="http://schemas.openxmlformats.org/drawingml/2006/main">
            <a:off x="685800" y="49530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75" b="1">
                <a:solidFill>
                  <a:srgbClr val="172033"/>
                </a:solidFill>
                <a:latin typeface="NanumGothic"/>
                <a:ea typeface="NanumGothic"/>
                <a:cs typeface="NanumGothic"/>
              </a:defRPr>
            </a:pPr>
            <a:r>
              <a:rPr sz="1575" b="1">
                <a:solidFill>
                  <a:srgbClr val="172033"/>
                </a:solidFill>
                <a:latin typeface="NanumGothic"/>
                <a:ea typeface="NanumGothic"/>
                <a:cs typeface="NanumGothic"/>
              </a:rPr>
              <a:t/>
            </a:r>
          </a:p>
        </p:txBody>
      </p:sp>
      <p:sp>
        <p:nvSpPr>
          <p:cNvPr id="8" name="">
            <a:extLst xmlns:a="http://schemas.openxmlformats.org/drawingml/2006/main">
              <a:ext uri="{FF2B5EF4-FFF2-40B4-BE49-F238E27FC236}">
                <a16:creationId xmlns:a16="http://schemas.microsoft.com/office/drawing/2014/main" id="{8F514FBC-D4A1-475C-AEE8-29C7E058E7A4}"/>
              </a:ext>
            </a:extLst>
          </p:cNvPr>
          <p:cNvSpPr>
            <a:spLocks xmlns:a="http://schemas.openxmlformats.org/drawingml/2006/main" noGrp="1"/>
          </p:cNvSpPr>
          <p:nvPr/>
        </p:nvSpPr>
        <p:spPr>
          <a:xfrm xmlns:a="http://schemas.openxmlformats.org/drawingml/2006/main">
            <a:off x="8096250" y="12954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2FA36B"/>
                </a:solidFill>
                <a:latin typeface="NanumGothic"/>
                <a:ea typeface="NanumGothic"/>
                <a:cs typeface="NanumGothic"/>
              </a:defRPr>
            </a:pPr>
            <a:r>
              <a:rPr sz="1650" b="1">
                <a:solidFill>
                  <a:srgbClr val="2FA36B"/>
                </a:solidFill>
                <a:latin typeface="NanumGothic"/>
                <a:ea typeface="NanumGothic"/>
                <a:cs typeface="NanumGothic"/>
              </a:rPr>
              <a:t/>
            </a:r>
          </a:p>
        </p:txBody>
      </p:sp>
      <p:sp>
        <p:nvSpPr>
          <p:cNvPr id="9" name="">
            <a:extLst xmlns:a="http://schemas.openxmlformats.org/drawingml/2006/main">
              <a:ext uri="{FF2B5EF4-FFF2-40B4-BE49-F238E27FC236}">
                <a16:creationId xmlns:a16="http://schemas.microsoft.com/office/drawing/2014/main" id="{080892FF-3743-43D6-AD76-7F0862A4D36F}"/>
              </a:ext>
            </a:extLst>
          </p:cNvPr>
          <p:cNvSpPr>
            <a:spLocks xmlns:a="http://schemas.openxmlformats.org/drawingml/2006/main" noGrp="1"/>
          </p:cNvSpPr>
          <p:nvPr/>
        </p:nvSpPr>
        <p:spPr>
          <a:xfrm xmlns:a="http://schemas.openxmlformats.org/drawingml/2006/main">
            <a:off x="8096250" y="18097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0" name="">
            <a:extLst xmlns:a="http://schemas.openxmlformats.org/drawingml/2006/main">
              <a:ext uri="{FF2B5EF4-FFF2-40B4-BE49-F238E27FC236}">
                <a16:creationId xmlns:a16="http://schemas.microsoft.com/office/drawing/2014/main" id="{C6F3EAAD-D672-4395-AF0B-18FA75A5CD50}"/>
              </a:ext>
            </a:extLst>
          </p:cNvPr>
          <p:cNvSpPr>
            <a:spLocks xmlns:a="http://schemas.openxmlformats.org/drawingml/2006/main" noGrp="1"/>
          </p:cNvSpPr>
          <p:nvPr/>
        </p:nvSpPr>
        <p:spPr>
          <a:xfrm xmlns:a="http://schemas.openxmlformats.org/drawingml/2006/main">
            <a:off x="9334500" y="17907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1" name="">
            <a:extLst xmlns:a="http://schemas.openxmlformats.org/drawingml/2006/main">
              <a:ext uri="{FF2B5EF4-FFF2-40B4-BE49-F238E27FC236}">
                <a16:creationId xmlns:a16="http://schemas.microsoft.com/office/drawing/2014/main" id="{15522625-88CF-4130-9913-1FFFA751AA67}"/>
              </a:ext>
            </a:extLst>
          </p:cNvPr>
          <p:cNvSpPr>
            <a:spLocks xmlns:a="http://schemas.openxmlformats.org/drawingml/2006/main" noGrp="1"/>
          </p:cNvSpPr>
          <p:nvPr/>
        </p:nvSpPr>
        <p:spPr>
          <a:xfrm xmlns:a="http://schemas.openxmlformats.org/drawingml/2006/main">
            <a:off x="8096250" y="25527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2" name="">
            <a:extLst xmlns:a="http://schemas.openxmlformats.org/drawingml/2006/main">
              <a:ext uri="{FF2B5EF4-FFF2-40B4-BE49-F238E27FC236}">
                <a16:creationId xmlns:a16="http://schemas.microsoft.com/office/drawing/2014/main" id="{45B6DC60-A3EB-4F2C-B7E0-604CEEAA179C}"/>
              </a:ext>
            </a:extLst>
          </p:cNvPr>
          <p:cNvSpPr>
            <a:spLocks xmlns:a="http://schemas.openxmlformats.org/drawingml/2006/main" noGrp="1"/>
          </p:cNvSpPr>
          <p:nvPr/>
        </p:nvSpPr>
        <p:spPr>
          <a:xfrm xmlns:a="http://schemas.openxmlformats.org/drawingml/2006/main">
            <a:off x="9334500" y="25336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3" name="">
            <a:extLst xmlns:a="http://schemas.openxmlformats.org/drawingml/2006/main">
              <a:ext uri="{FF2B5EF4-FFF2-40B4-BE49-F238E27FC236}">
                <a16:creationId xmlns:a16="http://schemas.microsoft.com/office/drawing/2014/main" id="{6A685F08-CFB0-4D34-ACC4-CC74992604F9}"/>
              </a:ext>
            </a:extLst>
          </p:cNvPr>
          <p:cNvSpPr>
            <a:spLocks xmlns:a="http://schemas.openxmlformats.org/drawingml/2006/main" noGrp="1"/>
          </p:cNvSpPr>
          <p:nvPr/>
        </p:nvSpPr>
        <p:spPr>
          <a:xfrm xmlns:a="http://schemas.openxmlformats.org/drawingml/2006/main">
            <a:off x="8096250" y="32956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4" name="">
            <a:extLst xmlns:a="http://schemas.openxmlformats.org/drawingml/2006/main">
              <a:ext uri="{FF2B5EF4-FFF2-40B4-BE49-F238E27FC236}">
                <a16:creationId xmlns:a16="http://schemas.microsoft.com/office/drawing/2014/main" id="{C22EF5E5-67DA-4A20-B3EA-8BA2CEF308CF}"/>
              </a:ext>
            </a:extLst>
          </p:cNvPr>
          <p:cNvSpPr>
            <a:spLocks xmlns:a="http://schemas.openxmlformats.org/drawingml/2006/main" noGrp="1"/>
          </p:cNvSpPr>
          <p:nvPr/>
        </p:nvSpPr>
        <p:spPr>
          <a:xfrm xmlns:a="http://schemas.openxmlformats.org/drawingml/2006/main">
            <a:off x="9334500" y="3276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5" name="">
            <a:extLst xmlns:a="http://schemas.openxmlformats.org/drawingml/2006/main">
              <a:ext uri="{FF2B5EF4-FFF2-40B4-BE49-F238E27FC236}">
                <a16:creationId xmlns:a16="http://schemas.microsoft.com/office/drawing/2014/main" id="{F44EB899-5C52-45E7-99EC-A9A9FEBFB94C}"/>
              </a:ext>
            </a:extLst>
          </p:cNvPr>
          <p:cNvSpPr>
            <a:spLocks xmlns:a="http://schemas.openxmlformats.org/drawingml/2006/main" noGrp="1"/>
          </p:cNvSpPr>
          <p:nvPr/>
        </p:nvSpPr>
        <p:spPr>
          <a:xfrm xmlns:a="http://schemas.openxmlformats.org/drawingml/2006/main">
            <a:off x="8096250" y="40386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6" name="">
            <a:extLst xmlns:a="http://schemas.openxmlformats.org/drawingml/2006/main">
              <a:ext uri="{FF2B5EF4-FFF2-40B4-BE49-F238E27FC236}">
                <a16:creationId xmlns:a16="http://schemas.microsoft.com/office/drawing/2014/main" id="{11FAB673-2B91-43F6-A388-C06CFA4E20F4}"/>
              </a:ext>
            </a:extLst>
          </p:cNvPr>
          <p:cNvSpPr>
            <a:spLocks xmlns:a="http://schemas.openxmlformats.org/drawingml/2006/main" noGrp="1"/>
          </p:cNvSpPr>
          <p:nvPr/>
        </p:nvSpPr>
        <p:spPr>
          <a:xfrm xmlns:a="http://schemas.openxmlformats.org/drawingml/2006/main">
            <a:off x="9334500" y="4019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7" name="">
            <a:extLst xmlns:a="http://schemas.openxmlformats.org/drawingml/2006/main">
              <a:ext uri="{FF2B5EF4-FFF2-40B4-BE49-F238E27FC236}">
                <a16:creationId xmlns:a16="http://schemas.microsoft.com/office/drawing/2014/main" id="{8A736416-6E7D-478D-9C58-E0440BAF2098}"/>
              </a:ext>
            </a:extLst>
          </p:cNvPr>
          <p:cNvSpPr>
            <a:spLocks xmlns:a="http://schemas.openxmlformats.org/drawingml/2006/main" noGrp="1"/>
          </p:cNvSpPr>
          <p:nvPr/>
        </p:nvSpPr>
        <p:spPr>
          <a:xfrm xmlns:a="http://schemas.openxmlformats.org/drawingml/2006/main">
            <a:off x="8096250" y="4781550"/>
            <a:ext cx="1000125"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8" name="">
            <a:extLst xmlns:a="http://schemas.openxmlformats.org/drawingml/2006/main">
              <a:ext uri="{FF2B5EF4-FFF2-40B4-BE49-F238E27FC236}">
                <a16:creationId xmlns:a16="http://schemas.microsoft.com/office/drawing/2014/main" id="{1747B93A-0C15-45B8-B5F1-383CD56F14F6}"/>
              </a:ext>
            </a:extLst>
          </p:cNvPr>
          <p:cNvSpPr>
            <a:spLocks xmlns:a="http://schemas.openxmlformats.org/drawingml/2006/main" noGrp="1"/>
          </p:cNvSpPr>
          <p:nvPr/>
        </p:nvSpPr>
        <p:spPr>
          <a:xfrm xmlns:a="http://schemas.openxmlformats.org/drawingml/2006/main">
            <a:off x="9334500" y="47625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
            </a:r>
          </a:p>
        </p:txBody>
      </p:sp>
      <p:sp>
        <p:nvSpPr>
          <p:cNvPr id="19" name="">
            <a:extLst xmlns:a="http://schemas.openxmlformats.org/drawingml/2006/main">
              <a:ext uri="{FF2B5EF4-FFF2-40B4-BE49-F238E27FC236}">
                <a16:creationId xmlns:a16="http://schemas.microsoft.com/office/drawing/2014/main" id="{9EF6F402-4461-40E0-8162-1148E4D7A9AE}"/>
              </a:ext>
            </a:extLst>
          </p:cNvPr>
          <p:cNvSpPr>
            <a:spLocks xmlns:a="http://schemas.openxmlformats.org/drawingml/2006/main" noGrp="1"/>
          </p:cNvSpPr>
          <p:nvPr/>
        </p:nvSpPr>
        <p:spPr>
          <a:xfrm xmlns:a="http://schemas.openxmlformats.org/drawingml/2006/main">
            <a:off x="7048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ctr">
              <a:buNone/>
              <a:defRPr sz="1425" b="1">
                <a:solidFill>
                  <a:srgbClr val="D95050"/>
                </a:solidFill>
                <a:latin typeface="NanumGothic"/>
                <a:ea typeface="NanumGothic"/>
                <a:cs typeface="NanumGothic"/>
              </a:defRPr>
            </a:pPr>
            <a:r>
              <a:rPr sz="1425" b="1">
                <a:solidFill>
                  <a:srgbClr val="D95050"/>
                </a:solidFill>
                <a:latin typeface="NanumGothic"/>
                <a:ea typeface="NanumGothic"/>
                <a:cs typeface="NanumGothic"/>
              </a:rPr>
              <a:t/>
            </a:r>
          </a:p>
        </p:txBody>
      </p:sp>
      <p:sp>
        <p:nvSpPr>
          <p:cNvPr id="22" name="">
            <a:extLst xmlns:a="http://schemas.openxmlformats.org/drawingml/2006/main">
              <a:ext uri="{FF2B5EF4-FFF2-40B4-BE49-F238E27FC236}">
                <a16:creationId xmlns:a16="http://schemas.microsoft.com/office/drawing/2014/main" id="{F1BFC23C-FEAA-43AC-991B-3B006A21F32E}"/>
              </a:ext>
            </a:extLst>
          </p:cNvPr>
          <p:cNvSpPr>
            <a:spLocks xmlns:a="http://schemas.openxmlformats.org/drawingml/2006/main" noGrp="1"/>
          </p:cNvSpPr>
          <p:nvPr/>
        </p:nvSpPr>
        <p:spPr>
          <a:xfrm xmlns:a="http://schemas.openxmlformats.org/drawingml/2006/main">
            <a:off x="476250" y="1066800"/>
            <a:ext cx="11239500" cy="523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E505BC8-2894-404F-99AB-D2A282BC760B}"/>
              </a:ext>
            </a:extLst>
          </p:cNvPr>
          <p:cNvSpPr>
            <a:spLocks xmlns:a="http://schemas.openxmlformats.org/drawingml/2006/main" noGrp="1"/>
          </p:cNvSpPr>
          <p:nvPr/>
        </p:nvSpPr>
        <p:spPr>
          <a:xfrm xmlns:a="http://schemas.openxmlformats.org/drawingml/2006/main">
            <a:off x="685800" y="1257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같은 NIM 모델과 같은 작업에서 실행 하네스만 바꿔 비교한다</a:t>
            </a:r>
          </a:p>
        </p:txBody>
      </p:sp>
      <p:graphicFrame>
        <p:nvGraphicFramePr>
          <p:cNvPr id="5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1143000"/>
                <a:gridCol w="3048000"/>
                <a:gridCol w="3619500"/>
                <a:gridCol w="3009900"/>
              </a:tblGrid>
              <a:tr h="571500">
                <a:tc>
                  <a:txBody>
                    <a:bodyPr>
                      <a:normAutofit/>
                    </a:bodyPr>
                    <a:lstStyle/>
                    <a:p>
                      <a:r>
                        <a:rPr sz="1125" b="1">
                          <a:solidFill>
                            <a:srgbClr val="FFFFFF"/>
                          </a:solidFill>
                          <a:latin typeface="NanumGothic"/>
                          <a:ea typeface="NanumGothic"/>
                          <a:cs typeface="NanumGothic"/>
                        </a:rPr>
                        <a:t>조건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들어 있는 제어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확인하려는 효과</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예상되는 비용</a:t>
                      </a:r>
                    </a:p>
                  </a:txBody>
                  <a:tcPr marL="91440" marR="91440" marT="45720" marB="45720">
                    <a:solidFill>
                      <a:srgbClr val="173A68"/>
                    </a:solidFill>
                  </a:tcPr>
                </a:tc>
              </a:tr>
              <a:tr h="571500">
                <a:tc>
                  <a:txBody>
                    <a:bodyPr>
                      <a:normAutofit/>
                    </a:bodyPr>
                    <a:lstStyle/>
                    <a:p>
                      <a:r>
                        <a:rPr sz="1050" b="0">
                          <a:solidFill>
                            <a:srgbClr val="172033"/>
                          </a:solidFill>
                          <a:latin typeface="NanumGothic"/>
                          <a:ea typeface="NanumGothic"/>
                          <a:cs typeface="NanumGothic"/>
                        </a:rPr>
                        <a:t>B0</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직접 1회 실행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기본 성공률과 위험 기준선</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빠르지만 오실행 위험</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B1</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모든 부작용을 확인</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사용자 확인만으로 얻는 안전</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확인 부담이 큼</a:t>
                      </a:r>
                    </a:p>
                  </a:txBody>
                  <a:tcPr marL="91440" marR="91440" marT="45720" marB="45720">
                    <a:solidFill>
                      <a:srgbClr val="F7F9FC"/>
                    </a:solidFill>
                  </a:tcPr>
                </a:tc>
              </a:tr>
              <a:tr h="571500">
                <a:tc>
                  <a:txBody>
                    <a:bodyPr>
                      <a:normAutofit/>
                    </a:bodyPr>
                    <a:lstStyle/>
                    <a:p>
                      <a:r>
                        <a:rPr sz="1050" b="0">
                          <a:solidFill>
                            <a:srgbClr val="172033"/>
                          </a:solidFill>
                          <a:latin typeface="NanumGothic"/>
                          <a:ea typeface="NanumGothic"/>
                          <a:cs typeface="NanumGothic"/>
                        </a:rPr>
                        <a:t>P1</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의도 판별 + 위험 정책</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오실행과 불필요한 확인 감소</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정책 판단 시간</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P2</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P1 + 독립 검증 + 제한적 복구</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거짓 성공 감소와 복구율</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추가 관찰·호출 시간</a:t>
                      </a:r>
                    </a:p>
                  </a:txBody>
                  <a:tcPr marL="91440" marR="91440" marT="45720" marB="45720">
                    <a:solidFill>
                      <a:srgbClr val="F7F9FC"/>
                    </a:solidFill>
                  </a:tcPr>
                </a:tc>
              </a:tr>
            </a:tbl>
          </a:graphicData>
        </a:graphic>
      </p:graphicFrame>
      <p:sp>
        <p:nvSpPr>
          <p:cNvPr id="25" name="">
            <a:extLst xmlns:a="http://schemas.openxmlformats.org/drawingml/2006/main">
              <a:ext uri="{FF2B5EF4-FFF2-40B4-BE49-F238E27FC236}">
                <a16:creationId xmlns:a16="http://schemas.microsoft.com/office/drawing/2014/main" id="{4C5ECCEE-0225-43E8-8DEE-88502D3C5092}"/>
              </a:ext>
            </a:extLst>
          </p:cNvPr>
          <p:cNvSpPr>
            <a:spLocks xmlns:a="http://schemas.openxmlformats.org/drawingml/2006/main" noGrp="1"/>
          </p:cNvSpPr>
          <p:nvPr/>
        </p:nvSpPr>
        <p:spPr>
          <a:xfrm xmlns:a="http://schemas.openxmlformats.org/drawingml/2006/main">
            <a:off x="685800" y="49530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주 지표</a:t>
            </a:r>
          </a:p>
        </p:txBody>
      </p:sp>
      <p:sp>
        <p:nvSpPr>
          <p:cNvPr id="26" name="">
            <a:extLst xmlns:a="http://schemas.openxmlformats.org/drawingml/2006/main">
              <a:ext uri="{FF2B5EF4-FFF2-40B4-BE49-F238E27FC236}">
                <a16:creationId xmlns:a16="http://schemas.microsoft.com/office/drawing/2014/main" id="{B85E6B4E-0423-451B-95F9-B48920FB4260}"/>
              </a:ext>
            </a:extLst>
          </p:cNvPr>
          <p:cNvSpPr>
            <a:spLocks xmlns:a="http://schemas.openxmlformats.org/drawingml/2006/main" noGrp="1"/>
          </p:cNvSpPr>
          <p:nvPr/>
        </p:nvSpPr>
        <p:spPr>
          <a:xfrm xmlns:a="http://schemas.openxmlformats.org/drawingml/2006/main">
            <a:off x="1809750" y="49053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작업 성공률 · 의도하지 않은 실행률 · 위험 실행률 · 사용자 확인 횟수</a:t>
            </a:r>
          </a:p>
        </p:txBody>
      </p:sp>
      <p:sp>
        <p:nvSpPr>
          <p:cNvPr id="27" name="">
            <a:extLst xmlns:a="http://schemas.openxmlformats.org/drawingml/2006/main">
              <a:ext uri="{FF2B5EF4-FFF2-40B4-BE49-F238E27FC236}">
                <a16:creationId xmlns:a16="http://schemas.microsoft.com/office/drawing/2014/main" id="{E5E5E7F6-A835-463F-BBCE-9FFA7A38DD74}"/>
              </a:ext>
            </a:extLst>
          </p:cNvPr>
          <p:cNvSpPr>
            <a:spLocks xmlns:a="http://schemas.openxmlformats.org/drawingml/2006/main" noGrp="1"/>
          </p:cNvSpPr>
          <p:nvPr/>
        </p:nvSpPr>
        <p:spPr>
          <a:xfrm xmlns:a="http://schemas.openxmlformats.org/drawingml/2006/main">
            <a:off x="685800" y="54768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보조 지표</a:t>
            </a:r>
          </a:p>
        </p:txBody>
      </p:sp>
      <p:sp>
        <p:nvSpPr>
          <p:cNvPr id="28" name="">
            <a:extLst xmlns:a="http://schemas.openxmlformats.org/drawingml/2006/main">
              <a:ext uri="{FF2B5EF4-FFF2-40B4-BE49-F238E27FC236}">
                <a16:creationId xmlns:a16="http://schemas.microsoft.com/office/drawing/2014/main" id="{6674DBA7-0824-49A2-A745-6D8CAEA27B89}"/>
              </a:ext>
            </a:extLst>
          </p:cNvPr>
          <p:cNvSpPr>
            <a:spLocks xmlns:a="http://schemas.openxmlformats.org/drawingml/2006/main" noGrp="1"/>
          </p:cNvSpPr>
          <p:nvPr/>
        </p:nvSpPr>
        <p:spPr>
          <a:xfrm xmlns:a="http://schemas.openxmlformats.org/drawingml/2006/main">
            <a:off x="1809750" y="54292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복구율 · 검증 정확도 · 단계별 지연시간 · 모델 호출 수와 토큰</a:t>
            </a:r>
          </a:p>
        </p:txBody>
      </p:sp>
    </p:spTree>
    <p:extLst>
      <p:ext uri="{BB962C8B-B14F-4D97-AF65-F5344CB8AC3E}">
        <p14:creationId xmlns:p14="http://schemas.microsoft.com/office/powerpoint/2010/main" val="18226102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58EDBCF-B5F7-4237-AC80-A84414D154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2302B0-6E0D-427B-88A2-9439C9AEE5C2}"/>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하네스와 스킬의 역할</a:t>
            </a:r>
          </a:p>
        </p:txBody>
      </p:sp>
      <p:sp>
        <p:nvSpPr>
          <p:cNvPr id="3" name="">
            <a:extLst xmlns:a="http://schemas.openxmlformats.org/drawingml/2006/main">
              <a:ext uri="{FF2B5EF4-FFF2-40B4-BE49-F238E27FC236}">
                <a16:creationId xmlns:a16="http://schemas.microsoft.com/office/drawing/2014/main" id="{98AD20F0-3BDD-4B26-8091-025536160E1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09</a:t>
            </a:r>
          </a:p>
        </p:txBody>
      </p:sp>
      <p:sp>
        <p:nvSpPr>
          <p:cNvPr id="4" name="">
            <a:extLst xmlns:a="http://schemas.openxmlformats.org/drawingml/2006/main">
              <a:ext uri="{FF2B5EF4-FFF2-40B4-BE49-F238E27FC236}">
                <a16:creationId xmlns:a16="http://schemas.microsoft.com/office/drawing/2014/main" id="{D40A475F-CA34-417C-98C3-AF93D7FA5B34}"/>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F3021BE4-22AB-4FB5-8D6B-A1F8199294B6}"/>
              </a:ext>
            </a:extLst>
          </p:cNvPr>
          <p:cNvSpPr>
            <a:spLocks xmlns:a="http://schemas.openxmlformats.org/drawingml/2006/main" noGrp="1"/>
          </p:cNvSpPr>
          <p:nvPr/>
        </p:nvSpPr>
        <p:spPr>
          <a:xfrm xmlns:a="http://schemas.openxmlformats.org/drawingml/2006/main">
            <a:off x="590550" y="1285875"/>
            <a:ext cx="2762250" cy="1809750"/>
          </a:xfrm>
          <a:prstGeom xmlns:a="http://schemas.openxmlformats.org/drawingml/2006/main" prst="roundRect">
            <a:avLst>
              <a:gd name="adj" fmla="val 7368"/>
            </a:avLst>
          </a:prstGeom>
          <a:solidFill xmlns:a="http://schemas.openxmlformats.org/drawingml/2006/main">
            <a:srgbClr val="F2F7FC"/>
          </a:solidFill>
          <a:ln xmlns:a="http://schemas.openxmlformats.org/drawingml/2006/main" w="9525">
            <a:solidFill>
              <a:srgbClr val="C9D8EA"/>
            </a:solidFill>
            <a:prstDash val="solid"/>
          </a:ln>
        </p:spPr>
      </p:sp>
      <p:sp>
        <p:nvSpPr>
          <p:cNvPr id="6" name="">
            <a:extLst xmlns:a="http://schemas.openxmlformats.org/drawingml/2006/main">
              <a:ext uri="{FF2B5EF4-FFF2-40B4-BE49-F238E27FC236}">
                <a16:creationId xmlns:a16="http://schemas.microsoft.com/office/drawing/2014/main" id="{BDCCF7E2-7772-44B4-AD22-A2606098DE13}"/>
              </a:ext>
            </a:extLst>
          </p:cNvPr>
          <p:cNvSpPr>
            <a:spLocks xmlns:a="http://schemas.openxmlformats.org/drawingml/2006/main" noGrp="1"/>
          </p:cNvSpPr>
          <p:nvPr/>
        </p:nvSpPr>
        <p:spPr>
          <a:xfrm xmlns:a="http://schemas.openxmlformats.org/drawingml/2006/main">
            <a:off x="7810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모델</a:t>
            </a:r>
          </a:p>
        </p:txBody>
      </p:sp>
      <p:sp>
        <p:nvSpPr>
          <p:cNvPr id="7" name="">
            <a:extLst xmlns:a="http://schemas.openxmlformats.org/drawingml/2006/main">
              <a:ext uri="{FF2B5EF4-FFF2-40B4-BE49-F238E27FC236}">
                <a16:creationId xmlns:a16="http://schemas.microsoft.com/office/drawing/2014/main" id="{E18E3C5D-31B6-4C7C-9F91-687470737E31}"/>
              </a:ext>
            </a:extLst>
          </p:cNvPr>
          <p:cNvSpPr>
            <a:spLocks xmlns:a="http://schemas.openxmlformats.org/drawingml/2006/main" noGrp="1"/>
          </p:cNvSpPr>
          <p:nvPr/>
        </p:nvSpPr>
        <p:spPr>
          <a:xfrm xmlns:a="http://schemas.openxmlformats.org/drawingml/2006/main">
            <a:off x="781050" y="195262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무엇을 할지</a:t>
            </a:r>
          </a:p>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계획을 제안</a:t>
            </a:r>
          </a:p>
        </p:txBody>
      </p:sp>
      <p:sp>
        <p:nvSpPr>
          <p:cNvPr id="8" name="">
            <a:extLst xmlns:a="http://schemas.openxmlformats.org/drawingml/2006/main">
              <a:ext uri="{FF2B5EF4-FFF2-40B4-BE49-F238E27FC236}">
                <a16:creationId xmlns:a16="http://schemas.microsoft.com/office/drawing/2014/main" id="{3416E300-14BC-4D87-89EA-F2DDE8CCF556}"/>
              </a:ext>
            </a:extLst>
          </p:cNvPr>
          <p:cNvSpPr>
            <a:spLocks xmlns:a="http://schemas.openxmlformats.org/drawingml/2006/main" noGrp="1"/>
          </p:cNvSpPr>
          <p:nvPr/>
        </p:nvSpPr>
        <p:spPr>
          <a:xfrm xmlns:a="http://schemas.openxmlformats.org/drawingml/2006/main">
            <a:off x="4048125" y="1285875"/>
            <a:ext cx="3905250" cy="1809750"/>
          </a:xfrm>
          <a:prstGeom xmlns:a="http://schemas.openxmlformats.org/drawingml/2006/main" prst="roundRect">
            <a:avLst>
              <a:gd name="adj" fmla="val 7368"/>
            </a:avLst>
          </a:prstGeom>
          <a:solidFill xmlns:a="http://schemas.openxmlformats.org/drawingml/2006/main">
            <a:srgbClr val="EFFAFC"/>
          </a:solidFill>
          <a:ln xmlns:a="http://schemas.openxmlformats.org/drawingml/2006/main" w="9525">
            <a:solidFill>
              <a:srgbClr val="BEE8EF"/>
            </a:solidFill>
            <a:prstDash val="solid"/>
          </a:ln>
        </p:spPr>
      </p:sp>
      <p:sp>
        <p:nvSpPr>
          <p:cNvPr id="9" name="">
            <a:extLst xmlns:a="http://schemas.openxmlformats.org/drawingml/2006/main">
              <a:ext uri="{FF2B5EF4-FFF2-40B4-BE49-F238E27FC236}">
                <a16:creationId xmlns:a16="http://schemas.microsoft.com/office/drawing/2014/main" id="{A82D388C-CABD-4855-82DB-FC33E6429DE6}"/>
              </a:ext>
            </a:extLst>
          </p:cNvPr>
          <p:cNvSpPr>
            <a:spLocks xmlns:a="http://schemas.openxmlformats.org/drawingml/2006/main" noGrp="1"/>
          </p:cNvSpPr>
          <p:nvPr/>
        </p:nvSpPr>
        <p:spPr>
          <a:xfrm xmlns:a="http://schemas.openxmlformats.org/drawingml/2006/main">
            <a:off x="4333875" y="147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A8C4"/>
                </a:solidFill>
                <a:latin typeface="NanumGothic"/>
                <a:ea typeface="NanumGothic"/>
                <a:cs typeface="NanumGothic"/>
              </a:defRPr>
            </a:pPr>
            <a:r>
              <a:rPr sz="1575" b="1">
                <a:solidFill>
                  <a:srgbClr val="14A8C4"/>
                </a:solidFill>
                <a:latin typeface="NanumGothic"/>
                <a:ea typeface="NanumGothic"/>
                <a:cs typeface="NanumGothic"/>
              </a:rPr>
              <a:t>실행 하네스</a:t>
            </a:r>
          </a:p>
        </p:txBody>
      </p:sp>
      <p:sp>
        <p:nvSpPr>
          <p:cNvPr id="10" name="">
            <a:extLst xmlns:a="http://schemas.openxmlformats.org/drawingml/2006/main">
              <a:ext uri="{FF2B5EF4-FFF2-40B4-BE49-F238E27FC236}">
                <a16:creationId xmlns:a16="http://schemas.microsoft.com/office/drawing/2014/main" id="{0DFB5BE2-0168-4964-A39B-C0E98D41ADD0}"/>
              </a:ext>
            </a:extLst>
          </p:cNvPr>
          <p:cNvSpPr>
            <a:spLocks xmlns:a="http://schemas.openxmlformats.org/drawingml/2006/main" noGrp="1"/>
          </p:cNvSpPr>
          <p:nvPr/>
        </p:nvSpPr>
        <p:spPr>
          <a:xfrm xmlns:a="http://schemas.openxmlformats.org/drawingml/2006/main">
            <a:off x="4333875" y="19526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관찰·정책·승인·도구 선택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실패 처리·검증·상태 관리</a:t>
            </a:r>
          </a:p>
        </p:txBody>
      </p:sp>
      <p:sp>
        <p:nvSpPr>
          <p:cNvPr id="11" name="">
            <a:extLst xmlns:a="http://schemas.openxmlformats.org/drawingml/2006/main">
              <a:ext uri="{FF2B5EF4-FFF2-40B4-BE49-F238E27FC236}">
                <a16:creationId xmlns:a16="http://schemas.microsoft.com/office/drawing/2014/main" id="{E6C2F44F-E272-4D75-B272-1CE3CD1F6341}"/>
              </a:ext>
            </a:extLst>
          </p:cNvPr>
          <p:cNvSpPr>
            <a:spLocks xmlns:a="http://schemas.openxmlformats.org/drawingml/2006/main" noGrp="1"/>
          </p:cNvSpPr>
          <p:nvPr/>
        </p:nvSpPr>
        <p:spPr>
          <a:xfrm xmlns:a="http://schemas.openxmlformats.org/drawingml/2006/main">
            <a:off x="8715375" y="1285875"/>
            <a:ext cx="2857500" cy="1809750"/>
          </a:xfrm>
          <a:prstGeom xmlns:a="http://schemas.openxmlformats.org/drawingml/2006/main" prst="roundRect">
            <a:avLst>
              <a:gd name="adj" fmla="val 7368"/>
            </a:avLst>
          </a:prstGeom>
          <a:solidFill xmlns:a="http://schemas.openxmlformats.org/drawingml/2006/main">
            <a:srgbClr val="F2FBF6"/>
          </a:solidFill>
          <a:ln xmlns:a="http://schemas.openxmlformats.org/drawingml/2006/main" w="9525">
            <a:solidFill>
              <a:srgbClr val="C7E8D5"/>
            </a:solidFill>
            <a:prstDash val="solid"/>
          </a:ln>
        </p:spPr>
      </p:sp>
      <p:sp>
        <p:nvSpPr>
          <p:cNvPr id="12" name="">
            <a:extLst xmlns:a="http://schemas.openxmlformats.org/drawingml/2006/main">
              <a:ext uri="{FF2B5EF4-FFF2-40B4-BE49-F238E27FC236}">
                <a16:creationId xmlns:a16="http://schemas.microsoft.com/office/drawing/2014/main" id="{66FF2200-A1C7-43C3-8A70-FAC9846EAC87}"/>
              </a:ext>
            </a:extLst>
          </p:cNvPr>
          <p:cNvSpPr>
            <a:spLocks xmlns:a="http://schemas.openxmlformats.org/drawingml/2006/main" noGrp="1"/>
          </p:cNvSpPr>
          <p:nvPr/>
        </p:nvSpPr>
        <p:spPr>
          <a:xfrm xmlns:a="http://schemas.openxmlformats.org/drawingml/2006/main">
            <a:off x="90487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A66B"/>
                </a:solidFill>
                <a:latin typeface="NanumGothic"/>
                <a:ea typeface="NanumGothic"/>
                <a:cs typeface="NanumGothic"/>
              </a:defRPr>
            </a:pPr>
            <a:r>
              <a:rPr sz="1575" b="1">
                <a:solidFill>
                  <a:srgbClr val="21A66B"/>
                </a:solidFill>
                <a:latin typeface="NanumGothic"/>
                <a:ea typeface="NanumGothic"/>
                <a:cs typeface="NanumGothic"/>
              </a:rPr>
              <a:t>권한 있는 기능</a:t>
            </a:r>
          </a:p>
        </p:txBody>
      </p:sp>
      <p:sp>
        <p:nvSpPr>
          <p:cNvPr id="13" name="">
            <a:extLst xmlns:a="http://schemas.openxmlformats.org/drawingml/2006/main">
              <a:ext uri="{FF2B5EF4-FFF2-40B4-BE49-F238E27FC236}">
                <a16:creationId xmlns:a16="http://schemas.microsoft.com/office/drawing/2014/main" id="{2D7A4BD5-F378-4A93-9D9C-1E742E47E6E1}"/>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허용된 Windows 행동만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정해진 인자로 실행</a:t>
            </a:r>
          </a:p>
        </p:txBody>
      </p:sp>
      <p:sp>
        <p:nvSpPr>
          <p:cNvPr id="14" name="">
            <a:extLst xmlns:a="http://schemas.openxmlformats.org/drawingml/2006/main">
              <a:ext uri="{FF2B5EF4-FFF2-40B4-BE49-F238E27FC236}">
                <a16:creationId xmlns:a16="http://schemas.microsoft.com/office/drawing/2014/main" id="{26550BC2-F5E1-431A-925C-FD240231FAC0}"/>
              </a:ext>
            </a:extLst>
          </p:cNvPr>
          <p:cNvSpPr>
            <a:spLocks xmlns:a="http://schemas.openxmlformats.org/drawingml/2006/main" noGrp="1"/>
          </p:cNvSpPr>
          <p:nvPr/>
        </p:nvSpPr>
        <p:spPr>
          <a:xfrm xmlns:a="http://schemas.openxmlformats.org/drawingml/2006/main">
            <a:off x="78105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2A72A"/>
                </a:solidFill>
                <a:latin typeface="NanumGothic"/>
                <a:ea typeface="NanumGothic"/>
                <a:cs typeface="NanumGothic"/>
              </a:defRPr>
            </a:pPr>
            <a:r>
              <a:rPr sz="1575" b="1">
                <a:solidFill>
                  <a:srgbClr val="F2A72A"/>
                </a:solidFill>
                <a:latin typeface="NanumGothic"/>
                <a:ea typeface="NanumGothic"/>
                <a:cs typeface="NanumGothic"/>
              </a:rPr>
              <a:t>스킬(Skill)</a:t>
            </a:r>
          </a:p>
        </p:txBody>
      </p:sp>
      <p:sp>
        <p:nvSpPr>
          <p:cNvPr id="15" name="">
            <a:extLst xmlns:a="http://schemas.openxmlformats.org/drawingml/2006/main">
              <a:ext uri="{FF2B5EF4-FFF2-40B4-BE49-F238E27FC236}">
                <a16:creationId xmlns:a16="http://schemas.microsoft.com/office/drawing/2014/main" id="{794138AD-2364-4585-9EC0-EE4FFE8390C5}"/>
              </a:ext>
            </a:extLst>
          </p:cNvPr>
          <p:cNvSpPr>
            <a:spLocks xmlns:a="http://schemas.openxmlformats.org/drawingml/2006/main" noGrp="1"/>
          </p:cNvSpPr>
          <p:nvPr/>
        </p:nvSpPr>
        <p:spPr>
          <a:xfrm xmlns:a="http://schemas.openxmlformats.org/drawingml/2006/main">
            <a:off x="78105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자주 하는 일을 어떤 순서로 처리할지 적은 재사용 절차</a:t>
            </a:r>
          </a:p>
        </p:txBody>
      </p:sp>
      <p:sp>
        <p:nvSpPr>
          <p:cNvPr id="16" name="">
            <a:extLst xmlns:a="http://schemas.openxmlformats.org/drawingml/2006/main">
              <a:ext uri="{FF2B5EF4-FFF2-40B4-BE49-F238E27FC236}">
                <a16:creationId xmlns:a16="http://schemas.microsoft.com/office/drawing/2014/main" id="{2F7B4FEA-8215-4DBB-9CAD-846D8650860F}"/>
              </a:ext>
            </a:extLst>
          </p:cNvPr>
          <p:cNvSpPr>
            <a:spLocks xmlns:a="http://schemas.openxmlformats.org/drawingml/2006/main" noGrp="1"/>
          </p:cNvSpPr>
          <p:nvPr/>
        </p:nvSpPr>
        <p:spPr>
          <a:xfrm xmlns:a="http://schemas.openxmlformats.org/drawingml/2006/main">
            <a:off x="647700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도구(Tool)</a:t>
            </a:r>
          </a:p>
        </p:txBody>
      </p:sp>
      <p:sp>
        <p:nvSpPr>
          <p:cNvPr id="17" name="">
            <a:extLst xmlns:a="http://schemas.openxmlformats.org/drawingml/2006/main">
              <a:ext uri="{FF2B5EF4-FFF2-40B4-BE49-F238E27FC236}">
                <a16:creationId xmlns:a16="http://schemas.microsoft.com/office/drawing/2014/main" id="{5328318B-534C-454A-8CB1-0CC9A506B9FF}"/>
              </a:ext>
            </a:extLst>
          </p:cNvPr>
          <p:cNvSpPr>
            <a:spLocks xmlns:a="http://schemas.openxmlformats.org/drawingml/2006/main" noGrp="1"/>
          </p:cNvSpPr>
          <p:nvPr/>
        </p:nvSpPr>
        <p:spPr>
          <a:xfrm xmlns:a="http://schemas.openxmlformats.org/drawingml/2006/main">
            <a:off x="647700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파일 읽기, 음량 변경처럼 실제 상태를 읽거나 바꾸는 한 번의 동작</a:t>
            </a:r>
          </a:p>
        </p:txBody>
      </p:sp>
      <p:sp>
        <p:nvSpPr>
          <p:cNvPr id="18" name="">
            <a:extLst xmlns:a="http://schemas.openxmlformats.org/drawingml/2006/main">
              <a:ext uri="{FF2B5EF4-FFF2-40B4-BE49-F238E27FC236}">
                <a16:creationId xmlns:a16="http://schemas.microsoft.com/office/drawing/2014/main" id="{45E7D9B4-8E72-4DA9-9CB2-8DC722BB924D}"/>
              </a:ext>
            </a:extLst>
          </p:cNvPr>
          <p:cNvSpPr>
            <a:spLocks xmlns:a="http://schemas.openxmlformats.org/drawingml/2006/main" noGrp="1"/>
          </p:cNvSpPr>
          <p:nvPr/>
        </p:nvSpPr>
        <p:spPr>
          <a:xfrm xmlns:a="http://schemas.openxmlformats.org/drawingml/2006/main">
            <a:off x="685800" y="523875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9" name="">
            <a:extLst xmlns:a="http://schemas.openxmlformats.org/drawingml/2006/main">
              <a:ext uri="{FF2B5EF4-FFF2-40B4-BE49-F238E27FC236}">
                <a16:creationId xmlns:a16="http://schemas.microsoft.com/office/drawing/2014/main" id="{16CF0084-A198-4509-BC44-07CB830C8597}"/>
              </a:ext>
            </a:extLst>
          </p:cNvPr>
          <p:cNvSpPr>
            <a:spLocks xmlns:a="http://schemas.openxmlformats.org/drawingml/2006/main" noGrp="1"/>
          </p:cNvSpPr>
          <p:nvPr/>
        </p:nvSpPr>
        <p:spPr>
          <a:xfrm xmlns:a="http://schemas.openxmlformats.org/drawingml/2006/main">
            <a:off x="800100" y="54768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스킬은 실행 권한이 아니다. 실제 권한은 등록된 기능, 정책, 승인, 검증이 통제한다.</a:t>
            </a:r>
          </a:p>
        </p:txBody>
      </p:sp>
    </p:spTree>
    <p:extLst>
      <p:ext uri="{BB962C8B-B14F-4D97-AF65-F5344CB8AC3E}">
        <p14:creationId xmlns:p14="http://schemas.microsoft.com/office/powerpoint/2010/main" val="22075266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AA3BBD3-7A06-4911-8BD8-0B3494F883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377C29-D5D8-4217-A3CA-64709C759013}"/>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하네스가 같은 언어 모델(LLM)의 성능을 바꾸는 경로</a:t>
            </a:r>
          </a:p>
        </p:txBody>
      </p:sp>
      <p:sp>
        <p:nvSpPr>
          <p:cNvPr id="3" name="">
            <a:extLst xmlns:a="http://schemas.openxmlformats.org/drawingml/2006/main">
              <a:ext uri="{FF2B5EF4-FFF2-40B4-BE49-F238E27FC236}">
                <a16:creationId xmlns:a16="http://schemas.microsoft.com/office/drawing/2014/main" id="{C2523110-6ABC-47DE-82A7-F89D4359B413}"/>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10</a:t>
            </a:r>
          </a:p>
        </p:txBody>
      </p:sp>
      <p:sp>
        <p:nvSpPr>
          <p:cNvPr id="4" name="">
            <a:extLst xmlns:a="http://schemas.openxmlformats.org/drawingml/2006/main">
              <a:ext uri="{FF2B5EF4-FFF2-40B4-BE49-F238E27FC236}">
                <a16:creationId xmlns:a16="http://schemas.microsoft.com/office/drawing/2014/main" id="{974C56F7-27A3-4315-8303-C31780B1ECA4}"/>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4F25924A-96BE-4B06-A4BD-0CCAC2A56991}"/>
              </a:ext>
            </a:extLst>
          </p:cNvPr>
          <p:cNvSpPr>
            <a:spLocks xmlns:a="http://schemas.openxmlformats.org/drawingml/2006/main" noGrp="1"/>
          </p:cNvSpPr>
          <p:nvPr/>
        </p:nvSpPr>
        <p:spPr>
          <a:xfrm xmlns:a="http://schemas.openxmlformats.org/drawingml/2006/main">
            <a:off x="704850" y="1495425"/>
            <a:ext cx="1381125"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6" name="">
            <a:extLst xmlns:a="http://schemas.openxmlformats.org/drawingml/2006/main">
              <a:ext uri="{FF2B5EF4-FFF2-40B4-BE49-F238E27FC236}">
                <a16:creationId xmlns:a16="http://schemas.microsoft.com/office/drawing/2014/main" id="{42DB4124-C03D-4932-8D49-D049C0EF3EF3}"/>
              </a:ext>
            </a:extLst>
          </p:cNvPr>
          <p:cNvSpPr>
            <a:spLocks xmlns:a="http://schemas.openxmlformats.org/drawingml/2006/main" noGrp="1"/>
          </p:cNvSpPr>
          <p:nvPr/>
        </p:nvSpPr>
        <p:spPr>
          <a:xfrm xmlns:a="http://schemas.openxmlformats.org/drawingml/2006/main">
            <a:off x="800100" y="15430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관찰 품질</a:t>
            </a:r>
          </a:p>
        </p:txBody>
      </p:sp>
      <p:sp>
        <p:nvSpPr>
          <p:cNvPr id="7" name="">
            <a:extLst xmlns:a="http://schemas.openxmlformats.org/drawingml/2006/main">
              <a:ext uri="{FF2B5EF4-FFF2-40B4-BE49-F238E27FC236}">
                <a16:creationId xmlns:a16="http://schemas.microsoft.com/office/drawing/2014/main" id="{11BEF878-09FD-4809-97A5-D0C0E8474FD8}"/>
              </a:ext>
            </a:extLst>
          </p:cNvPr>
          <p:cNvSpPr>
            <a:spLocks xmlns:a="http://schemas.openxmlformats.org/drawingml/2006/main" noGrp="1"/>
          </p:cNvSpPr>
          <p:nvPr/>
        </p:nvSpPr>
        <p:spPr>
          <a:xfrm xmlns:a="http://schemas.openxmlformats.org/drawingml/2006/main">
            <a:off x="2381250" y="13811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검증된 앱·파일·현재 상태만 제공</a:t>
            </a:r>
          </a:p>
        </p:txBody>
      </p:sp>
      <p:sp>
        <p:nvSpPr>
          <p:cNvPr id="8" name="">
            <a:extLst xmlns:a="http://schemas.openxmlformats.org/drawingml/2006/main">
              <a:ext uri="{FF2B5EF4-FFF2-40B4-BE49-F238E27FC236}">
                <a16:creationId xmlns:a16="http://schemas.microsoft.com/office/drawing/2014/main" id="{597CA05B-306A-49B1-AE99-F5297A2FDA31}"/>
              </a:ext>
            </a:extLst>
          </p:cNvPr>
          <p:cNvSpPr>
            <a:spLocks xmlns:a="http://schemas.openxmlformats.org/drawingml/2006/main" noGrp="1"/>
          </p:cNvSpPr>
          <p:nvPr/>
        </p:nvSpPr>
        <p:spPr>
          <a:xfrm xmlns:a="http://schemas.openxmlformats.org/drawingml/2006/main">
            <a:off x="8096250" y="13811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A8C4"/>
                </a:solidFill>
                <a:latin typeface="NanumGothic"/>
                <a:ea typeface="NanumGothic"/>
                <a:cs typeface="NanumGothic"/>
              </a:defRPr>
            </a:pPr>
            <a:r>
              <a:rPr sz="1500" b="0">
                <a:solidFill>
                  <a:srgbClr val="14A8C4"/>
                </a:solidFill>
                <a:latin typeface="NanumGothic"/>
                <a:ea typeface="NanumGothic"/>
                <a:cs typeface="NanumGothic"/>
              </a:rPr>
              <a:t>계획 오류 감소</a:t>
            </a:r>
          </a:p>
        </p:txBody>
      </p:sp>
      <p:sp>
        <p:nvSpPr>
          <p:cNvPr id="9" name="">
            <a:extLst xmlns:a="http://schemas.openxmlformats.org/drawingml/2006/main">
              <a:ext uri="{FF2B5EF4-FFF2-40B4-BE49-F238E27FC236}">
                <a16:creationId xmlns:a16="http://schemas.microsoft.com/office/drawing/2014/main" id="{B300A1E3-D641-4345-A011-8DC4FCF0CF5B}"/>
              </a:ext>
            </a:extLst>
          </p:cNvPr>
          <p:cNvSpPr>
            <a:spLocks xmlns:a="http://schemas.openxmlformats.org/drawingml/2006/main" noGrp="1"/>
          </p:cNvSpPr>
          <p:nvPr/>
        </p:nvSpPr>
        <p:spPr>
          <a:xfrm xmlns:a="http://schemas.openxmlformats.org/drawingml/2006/main">
            <a:off x="2381250" y="20478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B9D09B75-AC16-4F16-BCE9-E5924C5D8414}"/>
              </a:ext>
            </a:extLst>
          </p:cNvPr>
          <p:cNvSpPr>
            <a:spLocks xmlns:a="http://schemas.openxmlformats.org/drawingml/2006/main" noGrp="1"/>
          </p:cNvSpPr>
          <p:nvPr/>
        </p:nvSpPr>
        <p:spPr>
          <a:xfrm xmlns:a="http://schemas.openxmlformats.org/drawingml/2006/main">
            <a:off x="704850" y="2390775"/>
            <a:ext cx="1381125" cy="323850"/>
          </a:xfrm>
          <a:prstGeom xmlns:a="http://schemas.openxmlformats.org/drawingml/2006/main" prst="roundRect">
            <a:avLst>
              <a:gd name="adj" fmla="val 50000"/>
            </a:avLst>
          </a:prstGeom>
          <a:solidFill xmlns:a="http://schemas.openxmlformats.org/drawingml/2006/main">
            <a:srgbClr val="173A68"/>
          </a:solidFill>
          <a:ln xmlns:a="http://schemas.openxmlformats.org/drawingml/2006/main" w="9525">
            <a:solidFill>
              <a:srgbClr val="173A68"/>
            </a:solidFill>
            <a:prstDash val="solid"/>
          </a:ln>
        </p:spPr>
      </p:sp>
      <p:sp>
        <p:nvSpPr>
          <p:cNvPr id="11" name="">
            <a:extLst xmlns:a="http://schemas.openxmlformats.org/drawingml/2006/main">
              <a:ext uri="{FF2B5EF4-FFF2-40B4-BE49-F238E27FC236}">
                <a16:creationId xmlns:a16="http://schemas.microsoft.com/office/drawing/2014/main" id="{19A96F49-F48B-4F6E-AAA7-60E6B45EC212}"/>
              </a:ext>
            </a:extLst>
          </p:cNvPr>
          <p:cNvSpPr>
            <a:spLocks xmlns:a="http://schemas.openxmlformats.org/drawingml/2006/main" noGrp="1"/>
          </p:cNvSpPr>
          <p:nvPr/>
        </p:nvSpPr>
        <p:spPr>
          <a:xfrm xmlns:a="http://schemas.openxmlformats.org/drawingml/2006/main">
            <a:off x="800100" y="2438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행동 형식</a:t>
            </a:r>
          </a:p>
        </p:txBody>
      </p:sp>
      <p:sp>
        <p:nvSpPr>
          <p:cNvPr id="12" name="">
            <a:extLst xmlns:a="http://schemas.openxmlformats.org/drawingml/2006/main">
              <a:ext uri="{FF2B5EF4-FFF2-40B4-BE49-F238E27FC236}">
                <a16:creationId xmlns:a16="http://schemas.microsoft.com/office/drawing/2014/main" id="{6CA14280-314C-4127-898A-F980AF94276B}"/>
              </a:ext>
            </a:extLst>
          </p:cNvPr>
          <p:cNvSpPr>
            <a:spLocks xmlns:a="http://schemas.openxmlformats.org/drawingml/2006/main" noGrp="1"/>
          </p:cNvSpPr>
          <p:nvPr/>
        </p:nvSpPr>
        <p:spPr>
          <a:xfrm xmlns:a="http://schemas.openxmlformats.org/drawingml/2006/main">
            <a:off x="2381250" y="22764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자유 명령 대신 구조화된 기능과 인자</a:t>
            </a:r>
          </a:p>
        </p:txBody>
      </p:sp>
      <p:sp>
        <p:nvSpPr>
          <p:cNvPr id="13" name="">
            <a:extLst xmlns:a="http://schemas.openxmlformats.org/drawingml/2006/main">
              <a:ext uri="{FF2B5EF4-FFF2-40B4-BE49-F238E27FC236}">
                <a16:creationId xmlns:a16="http://schemas.microsoft.com/office/drawing/2014/main" id="{6FF40D4A-FE1E-4E3D-B45C-6E11DD191493}"/>
              </a:ext>
            </a:extLst>
          </p:cNvPr>
          <p:cNvSpPr>
            <a:spLocks xmlns:a="http://schemas.openxmlformats.org/drawingml/2006/main" noGrp="1"/>
          </p:cNvSpPr>
          <p:nvPr/>
        </p:nvSpPr>
        <p:spPr>
          <a:xfrm xmlns:a="http://schemas.openxmlformats.org/drawingml/2006/main">
            <a:off x="8096250" y="22764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3A68"/>
                </a:solidFill>
                <a:latin typeface="NanumGothic"/>
                <a:ea typeface="NanumGothic"/>
                <a:cs typeface="NanumGothic"/>
              </a:defRPr>
            </a:pPr>
            <a:r>
              <a:rPr sz="1500" b="0">
                <a:solidFill>
                  <a:srgbClr val="173A68"/>
                </a:solidFill>
                <a:latin typeface="NanumGothic"/>
                <a:ea typeface="NanumGothic"/>
                <a:cs typeface="NanumGothic"/>
              </a:rPr>
              <a:t>잘못된 도구 호출 감소</a:t>
            </a:r>
          </a:p>
        </p:txBody>
      </p:sp>
      <p:sp>
        <p:nvSpPr>
          <p:cNvPr id="14" name="">
            <a:extLst xmlns:a="http://schemas.openxmlformats.org/drawingml/2006/main">
              <a:ext uri="{FF2B5EF4-FFF2-40B4-BE49-F238E27FC236}">
                <a16:creationId xmlns:a16="http://schemas.microsoft.com/office/drawing/2014/main" id="{834B33FB-7ACF-4F02-B2FD-1CF540728594}"/>
              </a:ext>
            </a:extLst>
          </p:cNvPr>
          <p:cNvSpPr>
            <a:spLocks xmlns:a="http://schemas.openxmlformats.org/drawingml/2006/main" noGrp="1"/>
          </p:cNvSpPr>
          <p:nvPr/>
        </p:nvSpPr>
        <p:spPr>
          <a:xfrm xmlns:a="http://schemas.openxmlformats.org/drawingml/2006/main">
            <a:off x="2381250" y="29432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5" name="">
            <a:extLst xmlns:a="http://schemas.openxmlformats.org/drawingml/2006/main">
              <a:ext uri="{FF2B5EF4-FFF2-40B4-BE49-F238E27FC236}">
                <a16:creationId xmlns:a16="http://schemas.microsoft.com/office/drawing/2014/main" id="{70A5B2E1-8500-4FEA-AAE5-8772EE25A7E8}"/>
              </a:ext>
            </a:extLst>
          </p:cNvPr>
          <p:cNvSpPr>
            <a:spLocks xmlns:a="http://schemas.openxmlformats.org/drawingml/2006/main" noGrp="1"/>
          </p:cNvSpPr>
          <p:nvPr/>
        </p:nvSpPr>
        <p:spPr>
          <a:xfrm xmlns:a="http://schemas.openxmlformats.org/drawingml/2006/main">
            <a:off x="704850" y="3286125"/>
            <a:ext cx="1381125"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6" name="">
            <a:extLst xmlns:a="http://schemas.openxmlformats.org/drawingml/2006/main">
              <a:ext uri="{FF2B5EF4-FFF2-40B4-BE49-F238E27FC236}">
                <a16:creationId xmlns:a16="http://schemas.microsoft.com/office/drawing/2014/main" id="{2E839EA4-9C31-4405-ACCA-8DB2C3663700}"/>
              </a:ext>
            </a:extLst>
          </p:cNvPr>
          <p:cNvSpPr>
            <a:spLocks xmlns:a="http://schemas.openxmlformats.org/drawingml/2006/main" noGrp="1"/>
          </p:cNvSpPr>
          <p:nvPr/>
        </p:nvSpPr>
        <p:spPr>
          <a:xfrm xmlns:a="http://schemas.openxmlformats.org/drawingml/2006/main">
            <a:off x="800100" y="3333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실행 피드백</a:t>
            </a:r>
          </a:p>
        </p:txBody>
      </p:sp>
      <p:sp>
        <p:nvSpPr>
          <p:cNvPr id="17" name="">
            <a:extLst xmlns:a="http://schemas.openxmlformats.org/drawingml/2006/main">
              <a:ext uri="{FF2B5EF4-FFF2-40B4-BE49-F238E27FC236}">
                <a16:creationId xmlns:a16="http://schemas.microsoft.com/office/drawing/2014/main" id="{CBC3CF5B-38D4-4E4A-B5EF-8FB0EFF77FCA}"/>
              </a:ext>
            </a:extLst>
          </p:cNvPr>
          <p:cNvSpPr>
            <a:spLocks xmlns:a="http://schemas.openxmlformats.org/drawingml/2006/main" noGrp="1"/>
          </p:cNvSpPr>
          <p:nvPr/>
        </p:nvSpPr>
        <p:spPr>
          <a:xfrm xmlns:a="http://schemas.openxmlformats.org/drawingml/2006/main">
            <a:off x="2381250" y="31718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행동 뒤 실제 운영체제 상태 관찰</a:t>
            </a:r>
          </a:p>
        </p:txBody>
      </p:sp>
      <p:sp>
        <p:nvSpPr>
          <p:cNvPr id="18" name="">
            <a:extLst xmlns:a="http://schemas.openxmlformats.org/drawingml/2006/main">
              <a:ext uri="{FF2B5EF4-FFF2-40B4-BE49-F238E27FC236}">
                <a16:creationId xmlns:a16="http://schemas.microsoft.com/office/drawing/2014/main" id="{BC28E2D4-A281-4513-883D-521DC323A346}"/>
              </a:ext>
            </a:extLst>
          </p:cNvPr>
          <p:cNvSpPr>
            <a:spLocks xmlns:a="http://schemas.openxmlformats.org/drawingml/2006/main" noGrp="1"/>
          </p:cNvSpPr>
          <p:nvPr/>
        </p:nvSpPr>
        <p:spPr>
          <a:xfrm xmlns:a="http://schemas.openxmlformats.org/drawingml/2006/main">
            <a:off x="8096250" y="31718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1A66B"/>
                </a:solidFill>
                <a:latin typeface="NanumGothic"/>
                <a:ea typeface="NanumGothic"/>
                <a:cs typeface="NanumGothic"/>
              </a:defRPr>
            </a:pPr>
            <a:r>
              <a:rPr sz="1500" b="0">
                <a:solidFill>
                  <a:srgbClr val="21A66B"/>
                </a:solidFill>
                <a:latin typeface="NanumGothic"/>
                <a:ea typeface="NanumGothic"/>
                <a:cs typeface="NanumGothic"/>
              </a:rPr>
              <a:t>중간 오류 발견</a:t>
            </a:r>
          </a:p>
        </p:txBody>
      </p:sp>
      <p:sp>
        <p:nvSpPr>
          <p:cNvPr id="19" name="">
            <a:extLst xmlns:a="http://schemas.openxmlformats.org/drawingml/2006/main">
              <a:ext uri="{FF2B5EF4-FFF2-40B4-BE49-F238E27FC236}">
                <a16:creationId xmlns:a16="http://schemas.microsoft.com/office/drawing/2014/main" id="{569ECA67-8F9E-4A48-A20E-D322EBAE04C6}"/>
              </a:ext>
            </a:extLst>
          </p:cNvPr>
          <p:cNvSpPr>
            <a:spLocks xmlns:a="http://schemas.openxmlformats.org/drawingml/2006/main" noGrp="1"/>
          </p:cNvSpPr>
          <p:nvPr/>
        </p:nvSpPr>
        <p:spPr>
          <a:xfrm xmlns:a="http://schemas.openxmlformats.org/drawingml/2006/main">
            <a:off x="2381250" y="38385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0" name="">
            <a:extLst xmlns:a="http://schemas.openxmlformats.org/drawingml/2006/main">
              <a:ext uri="{FF2B5EF4-FFF2-40B4-BE49-F238E27FC236}">
                <a16:creationId xmlns:a16="http://schemas.microsoft.com/office/drawing/2014/main" id="{9FECF43D-3744-4D64-902A-CBD55F7B07C4}"/>
              </a:ext>
            </a:extLst>
          </p:cNvPr>
          <p:cNvSpPr>
            <a:spLocks xmlns:a="http://schemas.openxmlformats.org/drawingml/2006/main" noGrp="1"/>
          </p:cNvSpPr>
          <p:nvPr/>
        </p:nvSpPr>
        <p:spPr>
          <a:xfrm xmlns:a="http://schemas.openxmlformats.org/drawingml/2006/main">
            <a:off x="704850" y="4181475"/>
            <a:ext cx="1381125"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21" name="">
            <a:extLst xmlns:a="http://schemas.openxmlformats.org/drawingml/2006/main">
              <a:ext uri="{FF2B5EF4-FFF2-40B4-BE49-F238E27FC236}">
                <a16:creationId xmlns:a16="http://schemas.microsoft.com/office/drawing/2014/main" id="{636C4BB1-A106-48ED-BA68-B0169A74138E}"/>
              </a:ext>
            </a:extLst>
          </p:cNvPr>
          <p:cNvSpPr>
            <a:spLocks xmlns:a="http://schemas.openxmlformats.org/drawingml/2006/main" noGrp="1"/>
          </p:cNvSpPr>
          <p:nvPr/>
        </p:nvSpPr>
        <p:spPr>
          <a:xfrm xmlns:a="http://schemas.openxmlformats.org/drawingml/2006/main">
            <a:off x="800100" y="42291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독립 검증</a:t>
            </a:r>
          </a:p>
        </p:txBody>
      </p:sp>
      <p:sp>
        <p:nvSpPr>
          <p:cNvPr id="22" name="">
            <a:extLst xmlns:a="http://schemas.openxmlformats.org/drawingml/2006/main">
              <a:ext uri="{FF2B5EF4-FFF2-40B4-BE49-F238E27FC236}">
                <a16:creationId xmlns:a16="http://schemas.microsoft.com/office/drawing/2014/main" id="{DBD3FFD0-18A9-4D4E-94F1-BCC830918570}"/>
              </a:ext>
            </a:extLst>
          </p:cNvPr>
          <p:cNvSpPr>
            <a:spLocks xmlns:a="http://schemas.openxmlformats.org/drawingml/2006/main" noGrp="1"/>
          </p:cNvSpPr>
          <p:nvPr/>
        </p:nvSpPr>
        <p:spPr>
          <a:xfrm xmlns:a="http://schemas.openxmlformats.org/drawingml/2006/main">
            <a:off x="2381250" y="40671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실행자의 성공 보고와 별도 판정</a:t>
            </a:r>
          </a:p>
        </p:txBody>
      </p:sp>
      <p:sp>
        <p:nvSpPr>
          <p:cNvPr id="23" name="">
            <a:extLst xmlns:a="http://schemas.openxmlformats.org/drawingml/2006/main">
              <a:ext uri="{FF2B5EF4-FFF2-40B4-BE49-F238E27FC236}">
                <a16:creationId xmlns:a16="http://schemas.microsoft.com/office/drawing/2014/main" id="{48DCD0C1-C10C-4D4C-827D-4AFAB725B046}"/>
              </a:ext>
            </a:extLst>
          </p:cNvPr>
          <p:cNvSpPr>
            <a:spLocks xmlns:a="http://schemas.openxmlformats.org/drawingml/2006/main" noGrp="1"/>
          </p:cNvSpPr>
          <p:nvPr/>
        </p:nvSpPr>
        <p:spPr>
          <a:xfrm xmlns:a="http://schemas.openxmlformats.org/drawingml/2006/main">
            <a:off x="8096250" y="40671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A72A"/>
                </a:solidFill>
                <a:latin typeface="NanumGothic"/>
                <a:ea typeface="NanumGothic"/>
                <a:cs typeface="NanumGothic"/>
              </a:defRPr>
            </a:pPr>
            <a:r>
              <a:rPr sz="1500" b="0">
                <a:solidFill>
                  <a:srgbClr val="F2A72A"/>
                </a:solidFill>
                <a:latin typeface="NanumGothic"/>
                <a:ea typeface="NanumGothic"/>
                <a:cs typeface="NanumGothic"/>
              </a:rPr>
              <a:t>거짓 성공 감소</a:t>
            </a:r>
          </a:p>
        </p:txBody>
      </p:sp>
      <p:sp>
        <p:nvSpPr>
          <p:cNvPr id="24" name="">
            <a:extLst xmlns:a="http://schemas.openxmlformats.org/drawingml/2006/main">
              <a:ext uri="{FF2B5EF4-FFF2-40B4-BE49-F238E27FC236}">
                <a16:creationId xmlns:a16="http://schemas.microsoft.com/office/drawing/2014/main" id="{5B636B20-3093-4CF2-9FE0-89264FDF90C2}"/>
              </a:ext>
            </a:extLst>
          </p:cNvPr>
          <p:cNvSpPr>
            <a:spLocks xmlns:a="http://schemas.openxmlformats.org/drawingml/2006/main" noGrp="1"/>
          </p:cNvSpPr>
          <p:nvPr/>
        </p:nvSpPr>
        <p:spPr>
          <a:xfrm xmlns:a="http://schemas.openxmlformats.org/drawingml/2006/main">
            <a:off x="2381250" y="47339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0A79AD5A-2106-42EF-A3C4-EAE6B313B79D}"/>
              </a:ext>
            </a:extLst>
          </p:cNvPr>
          <p:cNvSpPr>
            <a:spLocks xmlns:a="http://schemas.openxmlformats.org/drawingml/2006/main" noGrp="1"/>
          </p:cNvSpPr>
          <p:nvPr/>
        </p:nvSpPr>
        <p:spPr>
          <a:xfrm xmlns:a="http://schemas.openxmlformats.org/drawingml/2006/main">
            <a:off x="704850" y="5076825"/>
            <a:ext cx="1381125"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6" name="">
            <a:extLst xmlns:a="http://schemas.openxmlformats.org/drawingml/2006/main">
              <a:ext uri="{FF2B5EF4-FFF2-40B4-BE49-F238E27FC236}">
                <a16:creationId xmlns:a16="http://schemas.microsoft.com/office/drawing/2014/main" id="{50BD461D-AAC8-4ED6-8B44-21AD6C1ED0D8}"/>
              </a:ext>
            </a:extLst>
          </p:cNvPr>
          <p:cNvSpPr>
            <a:spLocks xmlns:a="http://schemas.openxmlformats.org/drawingml/2006/main" noGrp="1"/>
          </p:cNvSpPr>
          <p:nvPr/>
        </p:nvSpPr>
        <p:spPr>
          <a:xfrm xmlns:a="http://schemas.openxmlformats.org/drawingml/2006/main">
            <a:off x="800100" y="51244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제한된 복구</a:t>
            </a:r>
          </a:p>
        </p:txBody>
      </p:sp>
      <p:sp>
        <p:nvSpPr>
          <p:cNvPr id="27" name="">
            <a:extLst xmlns:a="http://schemas.openxmlformats.org/drawingml/2006/main">
              <a:ext uri="{FF2B5EF4-FFF2-40B4-BE49-F238E27FC236}">
                <a16:creationId xmlns:a16="http://schemas.microsoft.com/office/drawing/2014/main" id="{24E2C29C-1D4A-46FF-88D0-C091F169C028}"/>
              </a:ext>
            </a:extLst>
          </p:cNvPr>
          <p:cNvSpPr>
            <a:spLocks xmlns:a="http://schemas.openxmlformats.org/drawingml/2006/main" noGrp="1"/>
          </p:cNvSpPr>
          <p:nvPr/>
        </p:nvSpPr>
        <p:spPr>
          <a:xfrm xmlns:a="http://schemas.openxmlformats.org/drawingml/2006/main">
            <a:off x="2381250" y="49625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오류 종류에 맞춘 재시도와 재계획</a:t>
            </a:r>
          </a:p>
        </p:txBody>
      </p:sp>
      <p:sp>
        <p:nvSpPr>
          <p:cNvPr id="28" name="">
            <a:extLst xmlns:a="http://schemas.openxmlformats.org/drawingml/2006/main">
              <a:ext uri="{FF2B5EF4-FFF2-40B4-BE49-F238E27FC236}">
                <a16:creationId xmlns:a16="http://schemas.microsoft.com/office/drawing/2014/main" id="{F34A1CCA-D402-44C0-B505-8340060244A6}"/>
              </a:ext>
            </a:extLst>
          </p:cNvPr>
          <p:cNvSpPr>
            <a:spLocks xmlns:a="http://schemas.openxmlformats.org/drawingml/2006/main" noGrp="1"/>
          </p:cNvSpPr>
          <p:nvPr/>
        </p:nvSpPr>
        <p:spPr>
          <a:xfrm xmlns:a="http://schemas.openxmlformats.org/drawingml/2006/main">
            <a:off x="8096250" y="49625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45757"/>
                </a:solidFill>
                <a:latin typeface="NanumGothic"/>
                <a:ea typeface="NanumGothic"/>
                <a:cs typeface="NanumGothic"/>
              </a:defRPr>
            </a:pPr>
            <a:r>
              <a:rPr sz="1500" b="0">
                <a:solidFill>
                  <a:srgbClr val="E45757"/>
                </a:solidFill>
                <a:latin typeface="NanumGothic"/>
                <a:ea typeface="NanumGothic"/>
                <a:cs typeface="NanumGothic"/>
              </a:rPr>
              <a:t>복구율 증가, 비용 증가</a:t>
            </a:r>
          </a:p>
        </p:txBody>
      </p:sp>
      <p:sp>
        <p:nvSpPr>
          <p:cNvPr id="29" name="">
            <a:extLst xmlns:a="http://schemas.openxmlformats.org/drawingml/2006/main">
              <a:ext uri="{FF2B5EF4-FFF2-40B4-BE49-F238E27FC236}">
                <a16:creationId xmlns:a16="http://schemas.microsoft.com/office/drawing/2014/main" id="{7BC70B9F-29CD-443C-A5AA-62ADDF58F400}"/>
              </a:ext>
            </a:extLst>
          </p:cNvPr>
          <p:cNvSpPr>
            <a:spLocks xmlns:a="http://schemas.openxmlformats.org/drawingml/2006/main" noGrp="1"/>
          </p:cNvSpPr>
          <p:nvPr/>
        </p:nvSpPr>
        <p:spPr>
          <a:xfrm xmlns:a="http://schemas.openxmlformats.org/drawingml/2006/main">
            <a:off x="78105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모델의 가중치는 그대로지만, 관찰·행동·피드백의 품질이 실제 작업 성공률을 바꾼다.</a:t>
            </a:r>
          </a:p>
        </p:txBody>
      </p:sp>
    </p:spTree>
    <p:extLst>
      <p:ext uri="{BB962C8B-B14F-4D97-AF65-F5344CB8AC3E}">
        <p14:creationId xmlns:p14="http://schemas.microsoft.com/office/powerpoint/2010/main" val="197656290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ED5DD0-CCB9-4210-9B37-3E792714A2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FFE36A-7AD9-4341-A985-07D824633C11}"/>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선행 연구와 JARVIS-PC의 위치</a:t>
            </a:r>
          </a:p>
        </p:txBody>
      </p:sp>
      <p:sp>
        <p:nvSpPr>
          <p:cNvPr id="3" name="">
            <a:extLst xmlns:a="http://schemas.openxmlformats.org/drawingml/2006/main">
              <a:ext uri="{FF2B5EF4-FFF2-40B4-BE49-F238E27FC236}">
                <a16:creationId xmlns:a16="http://schemas.microsoft.com/office/drawing/2014/main" id="{6957308E-3CD8-4A70-8C41-64CFE1749CC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11</a:t>
            </a:r>
          </a:p>
        </p:txBody>
      </p:sp>
      <p:sp>
        <p:nvSpPr>
          <p:cNvPr id="4" name="">
            <a:extLst xmlns:a="http://schemas.openxmlformats.org/drawingml/2006/main">
              <a:ext uri="{FF2B5EF4-FFF2-40B4-BE49-F238E27FC236}">
                <a16:creationId xmlns:a16="http://schemas.microsoft.com/office/drawing/2014/main" id="{12A45D93-23E6-4DFB-931D-58EB8EDDF2E9}"/>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graphicFrame>
        <p:nvGraphicFramePr>
          <p:cNvPr id="11" name=""/>
          <p:cNvGraphicFramePr/>
          <p:nvPr/>
        </p:nvGraphicFramePr>
        <p:xfrm>
          <a:off xmlns:a="http://schemas.openxmlformats.org/drawingml/2006/main" x="609600" y="1285875"/>
          <a:ext xmlns:a="http://schemas.openxmlformats.org/drawingml/2006/main" cx="10972800" cy="4381500"/>
        </p:xfrm>
        <a:graphic xmlns:a="http://schemas.openxmlformats.org/drawingml/2006/main">
          <a:graphicData uri="http://schemas.openxmlformats.org/drawingml/2006/table">
            <a:tbl>
              <a:tblPr/>
              <a:tblGrid>
                <a:gridCol w="2476500"/>
                <a:gridCol w="4476750"/>
                <a:gridCol w="4019550"/>
              </a:tblGrid>
              <a:tr h="625929">
                <a:tc>
                  <a:txBody>
                    <a:bodyPr>
                      <a:normAutofit/>
                    </a:bodyPr>
                    <a:lstStyle/>
                    <a:p>
                      <a:r>
                        <a:rPr sz="1125" b="1">
                          <a:solidFill>
                            <a:srgbClr val="FFFFFF"/>
                          </a:solidFill>
                          <a:latin typeface="NanumGothic"/>
                          <a:ea typeface="NanumGothic"/>
                          <a:cs typeface="NanumGothic"/>
                        </a:rPr>
                        <a:t>연구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확인된 원리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JARVIS-PC에 적용한 부분</a:t>
                      </a:r>
                    </a:p>
                  </a:txBody>
                  <a:tcPr marL="91440" marR="91440" marT="45720" marB="45720">
                    <a:solidFill>
                      <a:srgbClr val="173A68"/>
                    </a:solidFill>
                  </a:tcPr>
                </a:tc>
              </a:tr>
              <a:tr h="625929">
                <a:tc>
                  <a:txBody>
                    <a:bodyPr>
                      <a:normAutofit/>
                    </a:bodyPr>
                    <a:lstStyle/>
                    <a:p>
                      <a:r>
                        <a:rPr sz="1050" b="0">
                          <a:solidFill>
                            <a:srgbClr val="172033"/>
                          </a:solidFill>
                          <a:latin typeface="NanumGothic"/>
                          <a:ea typeface="NanumGothic"/>
                          <a:cs typeface="NanumGothic"/>
                        </a:rPr>
                        <a:t>ReAct (2023)</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추론과 행동을 번갈아 수행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관찰 후 계획 갱신</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Voyager (2023)</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성공 절차를 스킬로 저장·재사용</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향후 검토된 절차 재사용</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SWE-agent (2024)</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에이전트용 인터페이스가 성능에 영향</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구조화된 기능·도구 경계</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 WAA (2024)</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실제 PC 상태와 초기 환경으로 평가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Windows 작업·snapshot 실험</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OS-Harm (2025)</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오용·주입·모델 오작동을 분리 평가</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위험 정책과 안전 지표</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2.0 (2026)</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긴 작업에서 제약 기억·검증이 어려움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결과 검증과 제한된 복구</a:t>
                      </a:r>
                    </a:p>
                  </a:txBody>
                  <a:tcPr marL="91440" marR="91440" marT="45720" marB="45720">
                    <a:solidFill>
                      <a:srgbClr val="F7F9FC"/>
                    </a:solidFill>
                  </a:tcPr>
                </a:tc>
              </a:tr>
            </a:tbl>
          </a:graphicData>
        </a:graphic>
      </p:graphicFrame>
      <p:sp>
        <p:nvSpPr>
          <p:cNvPr id="6" name="">
            <a:extLst xmlns:a="http://schemas.openxmlformats.org/drawingml/2006/main">
              <a:ext uri="{FF2B5EF4-FFF2-40B4-BE49-F238E27FC236}">
                <a16:creationId xmlns:a16="http://schemas.microsoft.com/office/drawing/2014/main" id="{F91365DE-C0DC-47E6-A229-9AA9EF3081B5}"/>
              </a:ext>
            </a:extLst>
          </p:cNvPr>
          <p:cNvSpPr>
            <a:spLocks xmlns:a="http://schemas.openxmlformats.org/drawingml/2006/main" noGrp="1"/>
          </p:cNvSpPr>
          <p:nvPr/>
        </p:nvSpPr>
        <p:spPr>
          <a:xfrm xmlns:a="http://schemas.openxmlformats.org/drawingml/2006/main">
            <a:off x="714375" y="5905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A68"/>
                </a:solidFill>
                <a:latin typeface="NanumGothic"/>
                <a:ea typeface="NanumGothic"/>
                <a:cs typeface="NanumGothic"/>
              </a:defRPr>
            </a:pPr>
            <a:r>
              <a:rPr sz="1425" b="1">
                <a:solidFill>
                  <a:srgbClr val="173A68"/>
                </a:solidFill>
                <a:latin typeface="NanumGothic"/>
                <a:ea typeface="NanumGothic"/>
                <a:cs typeface="NanumGothic"/>
              </a:rPr>
              <a:t>선행 연구는 각 설계 원리를 뒷받침하지만, JARVIS-PC의 우월성은 자체 실험으로 검증해야 한다.</a:t>
            </a:r>
          </a:p>
        </p:txBody>
      </p:sp>
    </p:spTree>
    <p:extLst>
      <p:ext uri="{BB962C8B-B14F-4D97-AF65-F5344CB8AC3E}">
        <p14:creationId xmlns:p14="http://schemas.microsoft.com/office/powerpoint/2010/main" val="83697755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117A0EF-21EA-4C6C-BDA8-7D579A7247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B3DABA-CEC0-473B-ABCF-6C688D8A04B0}"/>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효율성은 성공률과 비용을 함께 본다</a:t>
            </a:r>
          </a:p>
        </p:txBody>
      </p:sp>
      <p:sp>
        <p:nvSpPr>
          <p:cNvPr id="3" name="">
            <a:extLst xmlns:a="http://schemas.openxmlformats.org/drawingml/2006/main">
              <a:ext uri="{FF2B5EF4-FFF2-40B4-BE49-F238E27FC236}">
                <a16:creationId xmlns:a16="http://schemas.microsoft.com/office/drawing/2014/main" id="{81A47EB1-E2C2-4E84-9B9A-614B5F202C3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12</a:t>
            </a:r>
          </a:p>
        </p:txBody>
      </p:sp>
      <p:sp>
        <p:nvSpPr>
          <p:cNvPr id="4" name="">
            <a:extLst xmlns:a="http://schemas.openxmlformats.org/drawingml/2006/main">
              <a:ext uri="{FF2B5EF4-FFF2-40B4-BE49-F238E27FC236}">
                <a16:creationId xmlns:a16="http://schemas.microsoft.com/office/drawing/2014/main" id="{6BD93987-8231-4597-90ED-E7BFF07BCB9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C3169142-2394-4DD3-92E1-C38F80F47E90}"/>
              </a:ext>
            </a:extLst>
          </p:cNvPr>
          <p:cNvSpPr>
            <a:spLocks xmlns:a="http://schemas.openxmlformats.org/drawingml/2006/main" noGrp="1"/>
          </p:cNvSpPr>
          <p:nvPr/>
        </p:nvSpPr>
        <p:spPr>
          <a:xfrm xmlns:a="http://schemas.openxmlformats.org/drawingml/2006/main">
            <a:off x="742950" y="13811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A6475"/>
                </a:solidFill>
                <a:latin typeface="NanumGothic"/>
                <a:ea typeface="NanumGothic"/>
                <a:cs typeface="NanumGothic"/>
              </a:defRPr>
            </a:pPr>
            <a:r>
              <a:rPr sz="1425" b="1">
                <a:solidFill>
                  <a:srgbClr val="5A6475"/>
                </a:solidFill>
                <a:latin typeface="NanumGothic"/>
                <a:ea typeface="NanumGothic"/>
                <a:cs typeface="NanumGothic"/>
              </a:rPr>
              <a:t>현재 수집</a:t>
            </a:r>
          </a:p>
        </p:txBody>
      </p:sp>
      <p:sp>
        <p:nvSpPr>
          <p:cNvPr id="6" name="">
            <a:extLst xmlns:a="http://schemas.openxmlformats.org/drawingml/2006/main">
              <a:ext uri="{FF2B5EF4-FFF2-40B4-BE49-F238E27FC236}">
                <a16:creationId xmlns:a16="http://schemas.microsoft.com/office/drawing/2014/main" id="{D936E509-797E-471C-8152-D7494910D450}"/>
              </a:ext>
            </a:extLst>
          </p:cNvPr>
          <p:cNvSpPr>
            <a:spLocks xmlns:a="http://schemas.openxmlformats.org/drawingml/2006/main" noGrp="1"/>
          </p:cNvSpPr>
          <p:nvPr/>
        </p:nvSpPr>
        <p:spPr>
          <a:xfrm xmlns:a="http://schemas.openxmlformats.org/drawingml/2006/main">
            <a:off x="742950" y="18097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A68"/>
                </a:solidFill>
                <a:latin typeface="NanumGothic"/>
                <a:ea typeface="NanumGothic"/>
                <a:cs typeface="NanumGothic"/>
              </a:defRPr>
            </a:pPr>
            <a:r>
              <a:rPr sz="3150" b="1">
                <a:solidFill>
                  <a:srgbClr val="173A68"/>
                </a:solidFill>
                <a:latin typeface="NanumGothic"/>
                <a:ea typeface="NanumGothic"/>
                <a:cs typeface="NanumGothic"/>
              </a:rPr>
              <a:t>70 / 120 셀</a:t>
            </a:r>
          </a:p>
        </p:txBody>
      </p:sp>
      <p:sp>
        <p:nvSpPr>
          <p:cNvPr id="7" name="">
            <a:extLst xmlns:a="http://schemas.openxmlformats.org/drawingml/2006/main">
              <a:ext uri="{FF2B5EF4-FFF2-40B4-BE49-F238E27FC236}">
                <a16:creationId xmlns:a16="http://schemas.microsoft.com/office/drawing/2014/main" id="{C3E0685E-D719-4AFD-9956-B3A5090AD53F}"/>
              </a:ext>
            </a:extLst>
          </p:cNvPr>
          <p:cNvSpPr>
            <a:spLocks xmlns:a="http://schemas.openxmlformats.org/drawingml/2006/main" noGrp="1"/>
          </p:cNvSpPr>
          <p:nvPr/>
        </p:nvSpPr>
        <p:spPr>
          <a:xfrm xmlns:a="http://schemas.openxmlformats.org/drawingml/2006/main">
            <a:off x="742950" y="2524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A8C4"/>
                </a:solidFill>
                <a:latin typeface="NanumGothic"/>
                <a:ea typeface="NanumGothic"/>
                <a:cs typeface="NanumGothic"/>
              </a:defRPr>
            </a:pPr>
            <a:r>
              <a:rPr sz="1500" b="1">
                <a:solidFill>
                  <a:srgbClr val="14A8C4"/>
                </a:solidFill>
                <a:latin typeface="NanumGothic"/>
                <a:ea typeface="NanumGothic"/>
                <a:cs typeface="NanumGothic"/>
              </a:rPr>
              <a:t>58.3% 수집 완료</a:t>
            </a:r>
          </a:p>
        </p:txBody>
      </p:sp>
      <p:sp>
        <p:nvSpPr>
          <p:cNvPr id="8" name="">
            <a:extLst xmlns:a="http://schemas.openxmlformats.org/drawingml/2006/main">
              <a:ext uri="{FF2B5EF4-FFF2-40B4-BE49-F238E27FC236}">
                <a16:creationId xmlns:a16="http://schemas.microsoft.com/office/drawing/2014/main" id="{A0220CED-30CA-475F-B31A-CAFBD1844AC3}"/>
              </a:ext>
            </a:extLst>
          </p:cNvPr>
          <p:cNvSpPr>
            <a:spLocks xmlns:a="http://schemas.openxmlformats.org/drawingml/2006/main" noGrp="1"/>
          </p:cNvSpPr>
          <p:nvPr/>
        </p:nvSpPr>
        <p:spPr>
          <a:xfrm xmlns:a="http://schemas.openxmlformats.org/drawingml/2006/main">
            <a:off x="742950" y="3095625"/>
            <a:ext cx="4191000" cy="266700"/>
          </a:xfrm>
          <a:prstGeom xmlns:a="http://schemas.openxmlformats.org/drawingml/2006/main" prst="roundRect">
            <a:avLst>
              <a:gd name="adj" fmla="val 50000"/>
            </a:avLst>
          </a:prstGeom>
          <a:solidFill xmlns:a="http://schemas.openxmlformats.org/drawingml/2006/main">
            <a:srgbClr val="E5EAF0"/>
          </a:solidFill>
          <a:ln xmlns:a="http://schemas.openxmlformats.org/drawingml/2006/main" w="9525">
            <a:solidFill>
              <a:srgbClr val="E5EAF0"/>
            </a:solidFill>
            <a:prstDash val="solid"/>
          </a:ln>
        </p:spPr>
      </p:sp>
      <p:sp>
        <p:nvSpPr>
          <p:cNvPr id="9" name="">
            <a:extLst xmlns:a="http://schemas.openxmlformats.org/drawingml/2006/main">
              <a:ext uri="{FF2B5EF4-FFF2-40B4-BE49-F238E27FC236}">
                <a16:creationId xmlns:a16="http://schemas.microsoft.com/office/drawing/2014/main" id="{7B4CD1E4-AD1F-4F3A-92A0-D9184420EE91}"/>
              </a:ext>
            </a:extLst>
          </p:cNvPr>
          <p:cNvSpPr>
            <a:spLocks xmlns:a="http://schemas.openxmlformats.org/drawingml/2006/main" noGrp="1"/>
          </p:cNvSpPr>
          <p:nvPr/>
        </p:nvSpPr>
        <p:spPr>
          <a:xfrm xmlns:a="http://schemas.openxmlformats.org/drawingml/2006/main">
            <a:off x="742950" y="3095625"/>
            <a:ext cx="2447925" cy="26670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10" name="">
            <a:extLst xmlns:a="http://schemas.openxmlformats.org/drawingml/2006/main">
              <a:ext uri="{FF2B5EF4-FFF2-40B4-BE49-F238E27FC236}">
                <a16:creationId xmlns:a16="http://schemas.microsoft.com/office/drawing/2014/main" id="{130337C8-8C03-49B1-9A74-3583C7D010B2}"/>
              </a:ext>
            </a:extLst>
          </p:cNvPr>
          <p:cNvSpPr>
            <a:spLocks xmlns:a="http://schemas.openxmlformats.org/drawingml/2006/main" noGrp="1"/>
          </p:cNvSpPr>
          <p:nvPr/>
        </p:nvSpPr>
        <p:spPr>
          <a:xfrm xmlns:a="http://schemas.openxmlformats.org/drawingml/2006/main">
            <a:off x="742950" y="35433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현재 PC에서 가능한 70셀 완료</a:t>
            </a:r>
          </a:p>
        </p:txBody>
      </p:sp>
      <p:sp>
        <p:nvSpPr>
          <p:cNvPr id="11" name="">
            <a:extLst xmlns:a="http://schemas.openxmlformats.org/drawingml/2006/main">
              <a:ext uri="{FF2B5EF4-FFF2-40B4-BE49-F238E27FC236}">
                <a16:creationId xmlns:a16="http://schemas.microsoft.com/office/drawing/2014/main" id="{0009A9F1-D6E4-4C3B-960D-3D59C576C581}"/>
              </a:ext>
            </a:extLst>
          </p:cNvPr>
          <p:cNvSpPr>
            <a:spLocks xmlns:a="http://schemas.openxmlformats.org/drawingml/2006/main" noGrp="1"/>
          </p:cNvSpPr>
          <p:nvPr/>
        </p:nvSpPr>
        <p:spPr>
          <a:xfrm xmlns:a="http://schemas.openxmlformats.org/drawingml/2006/main">
            <a:off x="742950" y="39052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45757"/>
                </a:solidFill>
                <a:latin typeface="NanumGothic"/>
                <a:ea typeface="NanumGothic"/>
                <a:cs typeface="NanumGothic"/>
              </a:defRPr>
            </a:pPr>
            <a:r>
              <a:rPr sz="1350" b="0">
                <a:solidFill>
                  <a:srgbClr val="E45757"/>
                </a:solidFill>
                <a:latin typeface="NanumGothic"/>
                <a:ea typeface="NanumGothic"/>
                <a:cs typeface="NanumGothic"/>
              </a:rPr>
              <a:t>snapshot VM이 필요한 50셀은 남아 있음</a:t>
            </a:r>
          </a:p>
        </p:txBody>
      </p:sp>
      <p:sp>
        <p:nvSpPr>
          <p:cNvPr id="12" name="">
            <a:extLst xmlns:a="http://schemas.openxmlformats.org/drawingml/2006/main">
              <a:ext uri="{FF2B5EF4-FFF2-40B4-BE49-F238E27FC236}">
                <a16:creationId xmlns:a16="http://schemas.microsoft.com/office/drawing/2014/main" id="{8EC0AA01-AC0F-4308-A705-98D1168914A8}"/>
              </a:ext>
            </a:extLst>
          </p:cNvPr>
          <p:cNvSpPr>
            <a:spLocks xmlns:a="http://schemas.openxmlformats.org/drawingml/2006/main" noGrp="1"/>
          </p:cNvSpPr>
          <p:nvPr/>
        </p:nvSpPr>
        <p:spPr>
          <a:xfrm xmlns:a="http://schemas.openxmlformats.org/drawingml/2006/main">
            <a:off x="5572125" y="1381125"/>
            <a:ext cx="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43CED065-A01D-4D4B-91CA-750082758ACE}"/>
              </a:ext>
            </a:extLst>
          </p:cNvPr>
          <p:cNvSpPr>
            <a:spLocks xmlns:a="http://schemas.openxmlformats.org/drawingml/2006/main" noGrp="1"/>
          </p:cNvSpPr>
          <p:nvPr/>
        </p:nvSpPr>
        <p:spPr>
          <a:xfrm xmlns:a="http://schemas.openxmlformats.org/drawingml/2006/main">
            <a:off x="619125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효율성 판단식</a:t>
            </a:r>
          </a:p>
        </p:txBody>
      </p:sp>
      <p:sp>
        <p:nvSpPr>
          <p:cNvPr id="14" name="">
            <a:extLst xmlns:a="http://schemas.openxmlformats.org/drawingml/2006/main">
              <a:ext uri="{FF2B5EF4-FFF2-40B4-BE49-F238E27FC236}">
                <a16:creationId xmlns:a16="http://schemas.microsoft.com/office/drawing/2014/main" id="{392F454C-0DD3-4E3E-B96A-A1B05C481AE5}"/>
              </a:ext>
            </a:extLst>
          </p:cNvPr>
          <p:cNvSpPr>
            <a:spLocks xmlns:a="http://schemas.openxmlformats.org/drawingml/2006/main" noGrp="1"/>
          </p:cNvSpPr>
          <p:nvPr/>
        </p:nvSpPr>
        <p:spPr>
          <a:xfrm xmlns:a="http://schemas.openxmlformats.org/drawingml/2006/main">
            <a:off x="6191250" y="20002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검증된 작업 성공</a:t>
            </a:r>
          </a:p>
        </p:txBody>
      </p:sp>
      <p:sp>
        <p:nvSpPr>
          <p:cNvPr id="15" name="">
            <a:extLst xmlns:a="http://schemas.openxmlformats.org/drawingml/2006/main">
              <a:ext uri="{FF2B5EF4-FFF2-40B4-BE49-F238E27FC236}">
                <a16:creationId xmlns:a16="http://schemas.microsoft.com/office/drawing/2014/main" id="{324B004E-AB3A-4658-B809-4BDB547CA9FB}"/>
              </a:ext>
            </a:extLst>
          </p:cNvPr>
          <p:cNvSpPr>
            <a:spLocks xmlns:a="http://schemas.openxmlformats.org/drawingml/2006/main" noGrp="1"/>
          </p:cNvSpPr>
          <p:nvPr/>
        </p:nvSpPr>
        <p:spPr>
          <a:xfrm xmlns:a="http://schemas.openxmlformats.org/drawingml/2006/main">
            <a:off x="6191250" y="2457450"/>
            <a:ext cx="3143250" cy="0"/>
          </a:xfrm>
          <a:prstGeom xmlns:a="http://schemas.openxmlformats.org/drawingml/2006/main" prst="line">
            <a:avLst/>
          </a:prstGeom>
          <a:noFill xmlns:a="http://schemas.openxmlformats.org/drawingml/2006/main"/>
          <a:ln xmlns:a="http://schemas.openxmlformats.org/drawingml/2006/main" w="19050">
            <a:solidFill>
              <a:srgbClr val="172033"/>
            </a:solidFill>
            <a:prstDash val="solid"/>
          </a:ln>
        </p:spPr>
      </p:sp>
      <p:sp>
        <p:nvSpPr>
          <p:cNvPr id="16" name="">
            <a:extLst xmlns:a="http://schemas.openxmlformats.org/drawingml/2006/main">
              <a:ext uri="{FF2B5EF4-FFF2-40B4-BE49-F238E27FC236}">
                <a16:creationId xmlns:a16="http://schemas.microsoft.com/office/drawing/2014/main" id="{7271DA0A-B342-4565-B931-9A46C4B4101B}"/>
              </a:ext>
            </a:extLst>
          </p:cNvPr>
          <p:cNvSpPr>
            <a:spLocks xmlns:a="http://schemas.openxmlformats.org/drawingml/2006/main" noGrp="1"/>
          </p:cNvSpPr>
          <p:nvPr/>
        </p:nvSpPr>
        <p:spPr>
          <a:xfrm xmlns:a="http://schemas.openxmlformats.org/drawingml/2006/main">
            <a:off x="6191250" y="2619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anumGothic"/>
                <a:ea typeface="NanumGothic"/>
                <a:cs typeface="NanumGothic"/>
              </a:defRPr>
            </a:pPr>
            <a:r>
              <a:rPr sz="1650" b="0">
                <a:solidFill>
                  <a:srgbClr val="172033"/>
                </a:solidFill>
                <a:latin typeface="NanumGothic"/>
                <a:ea typeface="NanumGothic"/>
                <a:cs typeface="NanumGothic"/>
              </a:rPr>
              <a:t>시간 + 모델 호출 + 사용자 확인</a:t>
            </a:r>
          </a:p>
        </p:txBody>
      </p:sp>
      <p:sp>
        <p:nvSpPr>
          <p:cNvPr id="17" name="">
            <a:extLst xmlns:a="http://schemas.openxmlformats.org/drawingml/2006/main">
              <a:ext uri="{FF2B5EF4-FFF2-40B4-BE49-F238E27FC236}">
                <a16:creationId xmlns:a16="http://schemas.microsoft.com/office/drawing/2014/main" id="{C56DBF86-B77F-4ED7-B784-C133EE5C6E3E}"/>
              </a:ext>
            </a:extLst>
          </p:cNvPr>
          <p:cNvSpPr>
            <a:spLocks xmlns:a="http://schemas.openxmlformats.org/drawingml/2006/main" noGrp="1"/>
          </p:cNvSpPr>
          <p:nvPr/>
        </p:nvSpPr>
        <p:spPr>
          <a:xfrm xmlns:a="http://schemas.openxmlformats.org/drawingml/2006/main">
            <a:off x="6191250" y="3524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1A66B"/>
                </a:solidFill>
                <a:latin typeface="NanumGothic"/>
                <a:ea typeface="NanumGothic"/>
                <a:cs typeface="NanumGothic"/>
              </a:defRPr>
            </a:pPr>
            <a:r>
              <a:rPr sz="1500" b="1">
                <a:solidFill>
                  <a:srgbClr val="21A66B"/>
                </a:solidFill>
                <a:latin typeface="NanumGothic"/>
                <a:ea typeface="NanumGothic"/>
                <a:cs typeface="NanumGothic"/>
              </a:rPr>
              <a:t>P2의 예상 효과</a:t>
            </a:r>
          </a:p>
        </p:txBody>
      </p:sp>
      <p:sp>
        <p:nvSpPr>
          <p:cNvPr id="18" name="">
            <a:extLst xmlns:a="http://schemas.openxmlformats.org/drawingml/2006/main">
              <a:ext uri="{FF2B5EF4-FFF2-40B4-BE49-F238E27FC236}">
                <a16:creationId xmlns:a16="http://schemas.microsoft.com/office/drawing/2014/main" id="{B268D217-04FD-4353-92EF-2128DE914756}"/>
              </a:ext>
            </a:extLst>
          </p:cNvPr>
          <p:cNvSpPr>
            <a:spLocks xmlns:a="http://schemas.openxmlformats.org/drawingml/2006/main" noGrp="1"/>
          </p:cNvSpPr>
          <p:nvPr/>
        </p:nvSpPr>
        <p:spPr>
          <a:xfrm xmlns:a="http://schemas.openxmlformats.org/drawingml/2006/main">
            <a:off x="6191250" y="39528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오실행·거짓 성공 감소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일부 실패 복구</a:t>
            </a:r>
          </a:p>
        </p:txBody>
      </p:sp>
      <p:sp>
        <p:nvSpPr>
          <p:cNvPr id="19" name="">
            <a:extLst xmlns:a="http://schemas.openxmlformats.org/drawingml/2006/main">
              <a:ext uri="{FF2B5EF4-FFF2-40B4-BE49-F238E27FC236}">
                <a16:creationId xmlns:a16="http://schemas.microsoft.com/office/drawing/2014/main" id="{E308CAE9-CBC0-4287-9AC5-02B341713A17}"/>
              </a:ext>
            </a:extLst>
          </p:cNvPr>
          <p:cNvSpPr>
            <a:spLocks xmlns:a="http://schemas.openxmlformats.org/drawingml/2006/main" noGrp="1"/>
          </p:cNvSpPr>
          <p:nvPr/>
        </p:nvSpPr>
        <p:spPr>
          <a:xfrm xmlns:a="http://schemas.openxmlformats.org/drawingml/2006/main">
            <a:off x="9429750" y="35242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2A72A"/>
                </a:solidFill>
                <a:latin typeface="NanumGothic"/>
                <a:ea typeface="NanumGothic"/>
                <a:cs typeface="NanumGothic"/>
              </a:defRPr>
            </a:pPr>
            <a:r>
              <a:rPr sz="1500" b="1">
                <a:solidFill>
                  <a:srgbClr val="F2A72A"/>
                </a:solidFill>
                <a:latin typeface="NanumGothic"/>
                <a:ea typeface="NanumGothic"/>
                <a:cs typeface="NanumGothic"/>
              </a:rPr>
              <a:t>예상 비용</a:t>
            </a:r>
          </a:p>
        </p:txBody>
      </p:sp>
      <p:sp>
        <p:nvSpPr>
          <p:cNvPr id="20" name="">
            <a:extLst xmlns:a="http://schemas.openxmlformats.org/drawingml/2006/main">
              <a:ext uri="{FF2B5EF4-FFF2-40B4-BE49-F238E27FC236}">
                <a16:creationId xmlns:a16="http://schemas.microsoft.com/office/drawing/2014/main" id="{8D96C90A-04BA-49AA-B90D-E7CD390AE233}"/>
              </a:ext>
            </a:extLst>
          </p:cNvPr>
          <p:cNvSpPr>
            <a:spLocks xmlns:a="http://schemas.openxmlformats.org/drawingml/2006/main" noGrp="1"/>
          </p:cNvSpPr>
          <p:nvPr/>
        </p:nvSpPr>
        <p:spPr>
          <a:xfrm xmlns:a="http://schemas.openxmlformats.org/drawingml/2006/main">
            <a:off x="9429750" y="395287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추가 관찰·검증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지연시간 증가</a:t>
            </a:r>
          </a:p>
        </p:txBody>
      </p:sp>
      <p:sp>
        <p:nvSpPr>
          <p:cNvPr id="21" name="">
            <a:extLst xmlns:a="http://schemas.openxmlformats.org/drawingml/2006/main">
              <a:ext uri="{FF2B5EF4-FFF2-40B4-BE49-F238E27FC236}">
                <a16:creationId xmlns:a16="http://schemas.microsoft.com/office/drawing/2014/main" id="{4795D4BF-D269-44D9-8824-A776036E544F}"/>
              </a:ext>
            </a:extLst>
          </p:cNvPr>
          <p:cNvSpPr>
            <a:spLocks xmlns:a="http://schemas.openxmlformats.org/drawingml/2006/main" noGrp="1"/>
          </p:cNvSpPr>
          <p:nvPr/>
        </p:nvSpPr>
        <p:spPr>
          <a:xfrm xmlns:a="http://schemas.openxmlformats.org/drawingml/2006/main">
            <a:off x="742950" y="56673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57"/>
                </a:solidFill>
                <a:latin typeface="NanumGothic"/>
                <a:ea typeface="NanumGothic"/>
                <a:cs typeface="NanumGothic"/>
              </a:defRPr>
            </a:pPr>
            <a:r>
              <a:rPr sz="1500" b="1">
                <a:solidFill>
                  <a:srgbClr val="E45757"/>
                </a:solidFill>
                <a:latin typeface="NanumGothic"/>
                <a:ea typeface="NanumGothic"/>
                <a:cs typeface="NanumGothic"/>
              </a:rPr>
              <a:t>현재 단계에서는 기존 에이전트보다 몇 % 효율적이라고 주장하지 않는다. 완전한 paired 실험 뒤 계산한다.</a:t>
            </a:r>
          </a:p>
        </p:txBody>
      </p:sp>
    </p:spTree>
    <p:extLst>
      <p:ext uri="{BB962C8B-B14F-4D97-AF65-F5344CB8AC3E}">
        <p14:creationId xmlns:p14="http://schemas.microsoft.com/office/powerpoint/2010/main" val="158029342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49D4FB8-8108-4AA7-9D01-E41D7259884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534E4E-39F5-4036-9425-B0EDF81FFFD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진행 현황</a:t>
            </a:r>
          </a:p>
        </p:txBody>
      </p:sp>
      <p:sp>
        <p:nvSpPr>
          <p:cNvPr id="3" name="">
            <a:extLst xmlns:a="http://schemas.openxmlformats.org/drawingml/2006/main">
              <a:ext uri="{FF2B5EF4-FFF2-40B4-BE49-F238E27FC236}">
                <a16:creationId xmlns:a16="http://schemas.microsoft.com/office/drawing/2014/main" id="{0DA93E94-FBC3-4971-B09F-300B2CD42F1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13</a:t>
            </a:r>
          </a:p>
        </p:txBody>
      </p:sp>
      <p:sp>
        <p:nvSpPr>
          <p:cNvPr id="4" name="">
            <a:extLst xmlns:a="http://schemas.openxmlformats.org/drawingml/2006/main">
              <a:ext uri="{FF2B5EF4-FFF2-40B4-BE49-F238E27FC236}">
                <a16:creationId xmlns:a16="http://schemas.microsoft.com/office/drawing/2014/main" id="{50FF1ED0-ABB7-4E1E-8936-1F5AFA77CE9B}"/>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B5276B6C-C0FE-4452-BD8E-F7E74EAD60B3}"/>
              </a:ext>
            </a:extLst>
          </p:cNvPr>
          <p:cNvSpPr>
            <a:spLocks xmlns:a="http://schemas.openxmlformats.org/drawingml/2006/main" noGrp="1"/>
          </p:cNvSpPr>
          <p:nvPr/>
        </p:nvSpPr>
        <p:spPr>
          <a:xfrm xmlns:a="http://schemas.openxmlformats.org/drawingml/2006/main">
            <a:off x="723900" y="11239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A6475"/>
                </a:solidFill>
                <a:latin typeface="NanumGothic"/>
                <a:ea typeface="NanumGothic"/>
                <a:cs typeface="NanumGothic"/>
              </a:defRPr>
            </a:pPr>
            <a:r>
              <a:rPr sz="1500" b="0">
                <a:solidFill>
                  <a:srgbClr val="5A6475"/>
                </a:solidFill>
                <a:latin typeface="NanumGothic"/>
                <a:ea typeface="NanumGothic"/>
                <a:cs typeface="NanumGothic"/>
              </a:rPr>
              <a:t>핵심 프로그램은 동작하며, 지금은 논문 결론을 위한 외부 실험 증거를 채우는 단계입니다.</a:t>
            </a:r>
          </a:p>
        </p:txBody>
      </p:sp>
      <p:sp>
        <p:nvSpPr>
          <p:cNvPr id="6" name="">
            <a:extLst xmlns:a="http://schemas.openxmlformats.org/drawingml/2006/main">
              <a:ext uri="{FF2B5EF4-FFF2-40B4-BE49-F238E27FC236}">
                <a16:creationId xmlns:a16="http://schemas.microsoft.com/office/drawing/2014/main" id="{AADF69E9-361A-403E-8AC8-55FF68129911}"/>
              </a:ext>
            </a:extLst>
          </p:cNvPr>
          <p:cNvSpPr>
            <a:spLocks xmlns:a="http://schemas.openxmlformats.org/drawingml/2006/main" noGrp="1"/>
          </p:cNvSpPr>
          <p:nvPr/>
        </p:nvSpPr>
        <p:spPr>
          <a:xfrm xmlns:a="http://schemas.openxmlformats.org/drawingml/2006/main">
            <a:off x="762000" y="16192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안전 제어 핵심</a:t>
            </a:r>
          </a:p>
        </p:txBody>
      </p:sp>
      <p:sp>
        <p:nvSpPr>
          <p:cNvPr id="7" name="">
            <a:extLst xmlns:a="http://schemas.openxmlformats.org/drawingml/2006/main">
              <a:ext uri="{FF2B5EF4-FFF2-40B4-BE49-F238E27FC236}">
                <a16:creationId xmlns:a16="http://schemas.microsoft.com/office/drawing/2014/main" id="{14C7AB9B-3E0E-4120-AF80-1F82C298504F}"/>
              </a:ext>
            </a:extLst>
          </p:cNvPr>
          <p:cNvSpPr>
            <a:spLocks xmlns:a="http://schemas.openxmlformats.org/drawingml/2006/main" noGrp="1"/>
          </p:cNvSpPr>
          <p:nvPr/>
        </p:nvSpPr>
        <p:spPr>
          <a:xfrm xmlns:a="http://schemas.openxmlformats.org/drawingml/2006/main">
            <a:off x="3714750" y="1619250"/>
            <a:ext cx="1714500"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8" name="">
            <a:extLst xmlns:a="http://schemas.openxmlformats.org/drawingml/2006/main">
              <a:ext uri="{FF2B5EF4-FFF2-40B4-BE49-F238E27FC236}">
                <a16:creationId xmlns:a16="http://schemas.microsoft.com/office/drawing/2014/main" id="{90EF18A9-2E04-4A6D-A022-000873689E80}"/>
              </a:ext>
            </a:extLst>
          </p:cNvPr>
          <p:cNvSpPr>
            <a:spLocks xmlns:a="http://schemas.openxmlformats.org/drawingml/2006/main" noGrp="1"/>
          </p:cNvSpPr>
          <p:nvPr/>
        </p:nvSpPr>
        <p:spPr>
          <a:xfrm xmlns:a="http://schemas.openxmlformats.org/drawingml/2006/main">
            <a:off x="3810000" y="16668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a:t>
            </a:r>
          </a:p>
        </p:txBody>
      </p:sp>
      <p:sp>
        <p:nvSpPr>
          <p:cNvPr id="9" name="">
            <a:extLst xmlns:a="http://schemas.openxmlformats.org/drawingml/2006/main">
              <a:ext uri="{FF2B5EF4-FFF2-40B4-BE49-F238E27FC236}">
                <a16:creationId xmlns:a16="http://schemas.microsoft.com/office/drawing/2014/main" id="{D575F3CF-BFE8-47A6-8F39-A4EE69C75155}"/>
              </a:ext>
            </a:extLst>
          </p:cNvPr>
          <p:cNvSpPr>
            <a:spLocks xmlns:a="http://schemas.openxmlformats.org/drawingml/2006/main" noGrp="1"/>
          </p:cNvSpPr>
          <p:nvPr/>
        </p:nvSpPr>
        <p:spPr>
          <a:xfrm xmlns:a="http://schemas.openxmlformats.org/drawingml/2006/main">
            <a:off x="5857875" y="16192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계획 · 정책 · 승인 · 결과 검증 · STOP · 감사 기록</a:t>
            </a:r>
          </a:p>
        </p:txBody>
      </p:sp>
      <p:sp>
        <p:nvSpPr>
          <p:cNvPr id="10" name="">
            <a:extLst xmlns:a="http://schemas.openxmlformats.org/drawingml/2006/main">
              <a:ext uri="{FF2B5EF4-FFF2-40B4-BE49-F238E27FC236}">
                <a16:creationId xmlns:a16="http://schemas.microsoft.com/office/drawing/2014/main" id="{961C4A0D-DE6F-4848-B7B1-06C11A69A3A8}"/>
              </a:ext>
            </a:extLst>
          </p:cNvPr>
          <p:cNvSpPr>
            <a:spLocks xmlns:a="http://schemas.openxmlformats.org/drawingml/2006/main" noGrp="1"/>
          </p:cNvSpPr>
          <p:nvPr/>
        </p:nvSpPr>
        <p:spPr>
          <a:xfrm xmlns:a="http://schemas.openxmlformats.org/drawingml/2006/main">
            <a:off x="762000" y="21621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1" name="">
            <a:extLst xmlns:a="http://schemas.openxmlformats.org/drawingml/2006/main">
              <a:ext uri="{FF2B5EF4-FFF2-40B4-BE49-F238E27FC236}">
                <a16:creationId xmlns:a16="http://schemas.microsoft.com/office/drawing/2014/main" id="{8EE702F1-FC8B-4A82-BEAC-E76A9A96FF0C}"/>
              </a:ext>
            </a:extLst>
          </p:cNvPr>
          <p:cNvSpPr>
            <a:spLocks xmlns:a="http://schemas.openxmlformats.org/drawingml/2006/main" noGrp="1"/>
          </p:cNvSpPr>
          <p:nvPr/>
        </p:nvSpPr>
        <p:spPr>
          <a:xfrm xmlns:a="http://schemas.openxmlformats.org/drawingml/2006/main">
            <a:off x="762000" y="24574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Windows 제품 조립</a:t>
            </a:r>
          </a:p>
        </p:txBody>
      </p:sp>
      <p:sp>
        <p:nvSpPr>
          <p:cNvPr id="12" name="">
            <a:extLst xmlns:a="http://schemas.openxmlformats.org/drawingml/2006/main">
              <a:ext uri="{FF2B5EF4-FFF2-40B4-BE49-F238E27FC236}">
                <a16:creationId xmlns:a16="http://schemas.microsoft.com/office/drawing/2014/main" id="{1EAAF77E-1817-4A53-B4AF-B6A72D8C1737}"/>
              </a:ext>
            </a:extLst>
          </p:cNvPr>
          <p:cNvSpPr>
            <a:spLocks xmlns:a="http://schemas.openxmlformats.org/drawingml/2006/main" noGrp="1"/>
          </p:cNvSpPr>
          <p:nvPr/>
        </p:nvSpPr>
        <p:spPr>
          <a:xfrm xmlns:a="http://schemas.openxmlformats.org/drawingml/2006/main">
            <a:off x="3714750" y="2457450"/>
            <a:ext cx="1714500"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3" name="">
            <a:extLst xmlns:a="http://schemas.openxmlformats.org/drawingml/2006/main">
              <a:ext uri="{FF2B5EF4-FFF2-40B4-BE49-F238E27FC236}">
                <a16:creationId xmlns:a16="http://schemas.microsoft.com/office/drawing/2014/main" id="{BA16A728-5AA5-41CD-BE13-25B05505E80C}"/>
              </a:ext>
            </a:extLst>
          </p:cNvPr>
          <p:cNvSpPr>
            <a:spLocks xmlns:a="http://schemas.openxmlformats.org/drawingml/2006/main" noGrp="1"/>
          </p:cNvSpPr>
          <p:nvPr/>
        </p:nvSpPr>
        <p:spPr>
          <a:xfrm xmlns:a="http://schemas.openxmlformats.org/drawingml/2006/main">
            <a:off x="3810000" y="25050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a:t>
            </a:r>
          </a:p>
        </p:txBody>
      </p:sp>
      <p:sp>
        <p:nvSpPr>
          <p:cNvPr id="14" name="">
            <a:extLst xmlns:a="http://schemas.openxmlformats.org/drawingml/2006/main">
              <a:ext uri="{FF2B5EF4-FFF2-40B4-BE49-F238E27FC236}">
                <a16:creationId xmlns:a16="http://schemas.microsoft.com/office/drawing/2014/main" id="{CF63D264-0F5E-4D38-A44D-4D94742F3D5B}"/>
              </a:ext>
            </a:extLst>
          </p:cNvPr>
          <p:cNvSpPr>
            <a:spLocks xmlns:a="http://schemas.openxmlformats.org/drawingml/2006/main" noGrp="1"/>
          </p:cNvSpPr>
          <p:nvPr/>
        </p:nvSpPr>
        <p:spPr>
          <a:xfrm xmlns:a="http://schemas.openxmlformats.org/drawingml/2006/main">
            <a:off x="5857875" y="24574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13개 기능 · 자격 증명 관리자 · 문맥/기억 · 서비스 경로</a:t>
            </a:r>
          </a:p>
        </p:txBody>
      </p:sp>
      <p:sp>
        <p:nvSpPr>
          <p:cNvPr id="15" name="">
            <a:extLst xmlns:a="http://schemas.openxmlformats.org/drawingml/2006/main">
              <a:ext uri="{FF2B5EF4-FFF2-40B4-BE49-F238E27FC236}">
                <a16:creationId xmlns:a16="http://schemas.microsoft.com/office/drawing/2014/main" id="{07831CB0-51AB-4E65-9DC1-4FB63FE19B95}"/>
              </a:ext>
            </a:extLst>
          </p:cNvPr>
          <p:cNvSpPr>
            <a:spLocks xmlns:a="http://schemas.openxmlformats.org/drawingml/2006/main" noGrp="1"/>
          </p:cNvSpPr>
          <p:nvPr/>
        </p:nvSpPr>
        <p:spPr>
          <a:xfrm xmlns:a="http://schemas.openxmlformats.org/drawingml/2006/main">
            <a:off x="762000" y="30003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6" name="">
            <a:extLst xmlns:a="http://schemas.openxmlformats.org/drawingml/2006/main">
              <a:ext uri="{FF2B5EF4-FFF2-40B4-BE49-F238E27FC236}">
                <a16:creationId xmlns:a16="http://schemas.microsoft.com/office/drawing/2014/main" id="{0520CF18-736E-4080-921E-60BDA4482CFB}"/>
              </a:ext>
            </a:extLst>
          </p:cNvPr>
          <p:cNvSpPr>
            <a:spLocks xmlns:a="http://schemas.openxmlformats.org/drawingml/2006/main" noGrp="1"/>
          </p:cNvSpPr>
          <p:nvPr/>
        </p:nvSpPr>
        <p:spPr>
          <a:xfrm xmlns:a="http://schemas.openxmlformats.org/drawingml/2006/main">
            <a:off x="762000" y="32956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자동 시험·배포 산출물</a:t>
            </a:r>
          </a:p>
        </p:txBody>
      </p:sp>
      <p:sp>
        <p:nvSpPr>
          <p:cNvPr id="17" name="">
            <a:extLst xmlns:a="http://schemas.openxmlformats.org/drawingml/2006/main">
              <a:ext uri="{FF2B5EF4-FFF2-40B4-BE49-F238E27FC236}">
                <a16:creationId xmlns:a16="http://schemas.microsoft.com/office/drawing/2014/main" id="{A4F44CE5-D197-4AC1-B56C-1094114D0788}"/>
              </a:ext>
            </a:extLst>
          </p:cNvPr>
          <p:cNvSpPr>
            <a:spLocks xmlns:a="http://schemas.openxmlformats.org/drawingml/2006/main" noGrp="1"/>
          </p:cNvSpPr>
          <p:nvPr/>
        </p:nvSpPr>
        <p:spPr>
          <a:xfrm xmlns:a="http://schemas.openxmlformats.org/drawingml/2006/main">
            <a:off x="3714750" y="3295650"/>
            <a:ext cx="1714500"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18" name="">
            <a:extLst xmlns:a="http://schemas.openxmlformats.org/drawingml/2006/main">
              <a:ext uri="{FF2B5EF4-FFF2-40B4-BE49-F238E27FC236}">
                <a16:creationId xmlns:a16="http://schemas.microsoft.com/office/drawing/2014/main" id="{63A50D65-C5BE-4CFF-B992-0BF5FECE5A34}"/>
              </a:ext>
            </a:extLst>
          </p:cNvPr>
          <p:cNvSpPr>
            <a:spLocks xmlns:a="http://schemas.openxmlformats.org/drawingml/2006/main" noGrp="1"/>
          </p:cNvSpPr>
          <p:nvPr/>
        </p:nvSpPr>
        <p:spPr>
          <a:xfrm xmlns:a="http://schemas.openxmlformats.org/drawingml/2006/main">
            <a:off x="3810000" y="33432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완료(서명 제외)</a:t>
            </a:r>
          </a:p>
        </p:txBody>
      </p:sp>
      <p:sp>
        <p:nvSpPr>
          <p:cNvPr id="19" name="">
            <a:extLst xmlns:a="http://schemas.openxmlformats.org/drawingml/2006/main">
              <a:ext uri="{FF2B5EF4-FFF2-40B4-BE49-F238E27FC236}">
                <a16:creationId xmlns:a16="http://schemas.microsoft.com/office/drawing/2014/main" id="{BC86DD7E-ECA7-4F5E-BF3F-6D8FD29054E5}"/>
              </a:ext>
            </a:extLst>
          </p:cNvPr>
          <p:cNvSpPr>
            <a:spLocks xmlns:a="http://schemas.openxmlformats.org/drawingml/2006/main" noGrp="1"/>
          </p:cNvSpPr>
          <p:nvPr/>
        </p:nvSpPr>
        <p:spPr>
          <a:xfrm xmlns:a="http://schemas.openxmlformats.org/drawingml/2006/main">
            <a:off x="5857875" y="32956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762 통과 / 3 건너뜀 · 시험 범위 83% · 배포 manifest 검증</a:t>
            </a:r>
          </a:p>
        </p:txBody>
      </p:sp>
      <p:sp>
        <p:nvSpPr>
          <p:cNvPr id="20" name="">
            <a:extLst xmlns:a="http://schemas.openxmlformats.org/drawingml/2006/main">
              <a:ext uri="{FF2B5EF4-FFF2-40B4-BE49-F238E27FC236}">
                <a16:creationId xmlns:a16="http://schemas.microsoft.com/office/drawing/2014/main" id="{ABDA3520-344F-43AF-B53F-5D706521FEB3}"/>
              </a:ext>
            </a:extLst>
          </p:cNvPr>
          <p:cNvSpPr>
            <a:spLocks xmlns:a="http://schemas.openxmlformats.org/drawingml/2006/main" noGrp="1"/>
          </p:cNvSpPr>
          <p:nvPr/>
        </p:nvSpPr>
        <p:spPr>
          <a:xfrm xmlns:a="http://schemas.openxmlformats.org/drawingml/2006/main">
            <a:off x="762000" y="38385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29B8DB67-6BE9-471B-8509-C9E5E9B1E13C}"/>
              </a:ext>
            </a:extLst>
          </p:cNvPr>
          <p:cNvSpPr>
            <a:spLocks xmlns:a="http://schemas.openxmlformats.org/drawingml/2006/main" noGrp="1"/>
          </p:cNvSpPr>
          <p:nvPr/>
        </p:nvSpPr>
        <p:spPr>
          <a:xfrm xmlns:a="http://schemas.openxmlformats.org/drawingml/2006/main">
            <a:off x="762000" y="41338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벤치마크 수집</a:t>
            </a:r>
          </a:p>
        </p:txBody>
      </p:sp>
      <p:sp>
        <p:nvSpPr>
          <p:cNvPr id="22" name="">
            <a:extLst xmlns:a="http://schemas.openxmlformats.org/drawingml/2006/main">
              <a:ext uri="{FF2B5EF4-FFF2-40B4-BE49-F238E27FC236}">
                <a16:creationId xmlns:a16="http://schemas.microsoft.com/office/drawing/2014/main" id="{7989FAD4-A1A6-4218-8B7B-37D4B1E96DBF}"/>
              </a:ext>
            </a:extLst>
          </p:cNvPr>
          <p:cNvSpPr>
            <a:spLocks xmlns:a="http://schemas.openxmlformats.org/drawingml/2006/main" noGrp="1"/>
          </p:cNvSpPr>
          <p:nvPr/>
        </p:nvSpPr>
        <p:spPr>
          <a:xfrm xmlns:a="http://schemas.openxmlformats.org/drawingml/2006/main">
            <a:off x="3714750" y="4133850"/>
            <a:ext cx="1714500"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23" name="">
            <a:extLst xmlns:a="http://schemas.openxmlformats.org/drawingml/2006/main">
              <a:ext uri="{FF2B5EF4-FFF2-40B4-BE49-F238E27FC236}">
                <a16:creationId xmlns:a16="http://schemas.microsoft.com/office/drawing/2014/main" id="{76C05907-C66C-46EC-B3CE-7846850E0B95}"/>
              </a:ext>
            </a:extLst>
          </p:cNvPr>
          <p:cNvSpPr>
            <a:spLocks xmlns:a="http://schemas.openxmlformats.org/drawingml/2006/main" noGrp="1"/>
          </p:cNvSpPr>
          <p:nvPr/>
        </p:nvSpPr>
        <p:spPr>
          <a:xfrm xmlns:a="http://schemas.openxmlformats.org/drawingml/2006/main">
            <a:off x="3810000" y="41814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진행 중</a:t>
            </a:r>
          </a:p>
        </p:txBody>
      </p:sp>
      <p:sp>
        <p:nvSpPr>
          <p:cNvPr id="24" name="">
            <a:extLst xmlns:a="http://schemas.openxmlformats.org/drawingml/2006/main">
              <a:ext uri="{FF2B5EF4-FFF2-40B4-BE49-F238E27FC236}">
                <a16:creationId xmlns:a16="http://schemas.microsoft.com/office/drawing/2014/main" id="{2AFBB725-4A6A-4EED-9310-BADB96DDFF6E}"/>
              </a:ext>
            </a:extLst>
          </p:cNvPr>
          <p:cNvSpPr>
            <a:spLocks xmlns:a="http://schemas.openxmlformats.org/drawingml/2006/main" noGrp="1"/>
          </p:cNvSpPr>
          <p:nvPr/>
        </p:nvSpPr>
        <p:spPr>
          <a:xfrm xmlns:a="http://schemas.openxmlformats.org/drawingml/2006/main">
            <a:off x="5857875" y="41338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70/120칸(58.3%) · 현재 PC 70/70 · snapshot VM 50칸 남음</a:t>
            </a:r>
          </a:p>
        </p:txBody>
      </p:sp>
      <p:sp>
        <p:nvSpPr>
          <p:cNvPr id="25" name="">
            <a:extLst xmlns:a="http://schemas.openxmlformats.org/drawingml/2006/main">
              <a:ext uri="{FF2B5EF4-FFF2-40B4-BE49-F238E27FC236}">
                <a16:creationId xmlns:a16="http://schemas.microsoft.com/office/drawing/2014/main" id="{206769A2-417B-45BD-94D2-E9EC9F399242}"/>
              </a:ext>
            </a:extLst>
          </p:cNvPr>
          <p:cNvSpPr>
            <a:spLocks xmlns:a="http://schemas.openxmlformats.org/drawingml/2006/main" noGrp="1"/>
          </p:cNvSpPr>
          <p:nvPr/>
        </p:nvSpPr>
        <p:spPr>
          <a:xfrm xmlns:a="http://schemas.openxmlformats.org/drawingml/2006/main">
            <a:off x="762000" y="46767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6" name="">
            <a:extLst xmlns:a="http://schemas.openxmlformats.org/drawingml/2006/main">
              <a:ext uri="{FF2B5EF4-FFF2-40B4-BE49-F238E27FC236}">
                <a16:creationId xmlns:a16="http://schemas.microsoft.com/office/drawing/2014/main" id="{ADE03A0D-AA48-4B00-AD0D-3F50D6465BED}"/>
              </a:ext>
            </a:extLst>
          </p:cNvPr>
          <p:cNvSpPr>
            <a:spLocks xmlns:a="http://schemas.openxmlformats.org/drawingml/2006/main" noGrp="1"/>
          </p:cNvSpPr>
          <p:nvPr/>
        </p:nvSpPr>
        <p:spPr>
          <a:xfrm xmlns:a="http://schemas.openxmlformats.org/drawingml/2006/main">
            <a:off x="762000" y="49720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실장비·사용자 연구</a:t>
            </a:r>
          </a:p>
        </p:txBody>
      </p:sp>
      <p:sp>
        <p:nvSpPr>
          <p:cNvPr id="27" name="">
            <a:extLst xmlns:a="http://schemas.openxmlformats.org/drawingml/2006/main">
              <a:ext uri="{FF2B5EF4-FFF2-40B4-BE49-F238E27FC236}">
                <a16:creationId xmlns:a16="http://schemas.microsoft.com/office/drawing/2014/main" id="{E4381283-5BDA-433F-BD0E-861CE106D300}"/>
              </a:ext>
            </a:extLst>
          </p:cNvPr>
          <p:cNvSpPr>
            <a:spLocks xmlns:a="http://schemas.openxmlformats.org/drawingml/2006/main" noGrp="1"/>
          </p:cNvSpPr>
          <p:nvPr/>
        </p:nvSpPr>
        <p:spPr>
          <a:xfrm xmlns:a="http://schemas.openxmlformats.org/drawingml/2006/main">
            <a:off x="3714750" y="4972050"/>
            <a:ext cx="1714500"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8" name="">
            <a:extLst xmlns:a="http://schemas.openxmlformats.org/drawingml/2006/main">
              <a:ext uri="{FF2B5EF4-FFF2-40B4-BE49-F238E27FC236}">
                <a16:creationId xmlns:a16="http://schemas.microsoft.com/office/drawing/2014/main" id="{3F4D1B58-5FB2-41BE-8071-52007CA056FD}"/>
              </a:ext>
            </a:extLst>
          </p:cNvPr>
          <p:cNvSpPr>
            <a:spLocks xmlns:a="http://schemas.openxmlformats.org/drawingml/2006/main" noGrp="1"/>
          </p:cNvSpPr>
          <p:nvPr/>
        </p:nvSpPr>
        <p:spPr>
          <a:xfrm xmlns:a="http://schemas.openxmlformats.org/drawingml/2006/main">
            <a:off x="3810000" y="50196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대기</a:t>
            </a:r>
          </a:p>
        </p:txBody>
      </p:sp>
      <p:sp>
        <p:nvSpPr>
          <p:cNvPr id="29" name="">
            <a:extLst xmlns:a="http://schemas.openxmlformats.org/drawingml/2006/main">
              <a:ext uri="{FF2B5EF4-FFF2-40B4-BE49-F238E27FC236}">
                <a16:creationId xmlns:a16="http://schemas.microsoft.com/office/drawing/2014/main" id="{6ABC6EBB-8283-415F-8638-4096EB945E4F}"/>
              </a:ext>
            </a:extLst>
          </p:cNvPr>
          <p:cNvSpPr>
            <a:spLocks xmlns:a="http://schemas.openxmlformats.org/drawingml/2006/main" noGrp="1"/>
          </p:cNvSpPr>
          <p:nvPr/>
        </p:nvSpPr>
        <p:spPr>
          <a:xfrm xmlns:a="http://schemas.openxmlformats.org/drawingml/2006/main">
            <a:off x="5857875" y="49720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음성 · Windows Hello · 참가자 연구는 새 동의와 외부 조건 필요</a:t>
            </a:r>
          </a:p>
        </p:txBody>
      </p:sp>
      <p:sp>
        <p:nvSpPr>
          <p:cNvPr id="30" name="">
            <a:extLst xmlns:a="http://schemas.openxmlformats.org/drawingml/2006/main">
              <a:ext uri="{FF2B5EF4-FFF2-40B4-BE49-F238E27FC236}">
                <a16:creationId xmlns:a16="http://schemas.microsoft.com/office/drawing/2014/main" id="{8C2A18A8-82A7-4CA5-B087-0ACC974587AE}"/>
              </a:ext>
            </a:extLst>
          </p:cNvPr>
          <p:cNvSpPr>
            <a:spLocks xmlns:a="http://schemas.openxmlformats.org/drawingml/2006/main" noGrp="1"/>
          </p:cNvSpPr>
          <p:nvPr/>
        </p:nvSpPr>
        <p:spPr>
          <a:xfrm xmlns:a="http://schemas.openxmlformats.org/drawingml/2006/main">
            <a:off x="762000" y="55149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31" name="">
            <a:extLst xmlns:a="http://schemas.openxmlformats.org/drawingml/2006/main">
              <a:ext uri="{FF2B5EF4-FFF2-40B4-BE49-F238E27FC236}">
                <a16:creationId xmlns:a16="http://schemas.microsoft.com/office/drawing/2014/main" id="{C09BA5A5-9FF8-4C3C-86C7-318C7FA9D0F3}"/>
              </a:ext>
            </a:extLst>
          </p:cNvPr>
          <p:cNvSpPr>
            <a:spLocks xmlns:a="http://schemas.openxmlformats.org/drawingml/2006/main" noGrp="1"/>
          </p:cNvSpPr>
          <p:nvPr/>
        </p:nvSpPr>
        <p:spPr>
          <a:xfrm xmlns:a="http://schemas.openxmlformats.org/drawingml/2006/main">
            <a:off x="723900" y="5953125"/>
            <a:ext cx="10668000" cy="495300"/>
          </a:xfrm>
          <a:prstGeom xmlns:a="http://schemas.openxmlformats.org/drawingml/2006/main" prst="roundRect">
            <a:avLst>
              <a:gd name="adj" fmla="val 15385"/>
            </a:avLst>
          </a:prstGeom>
          <a:solidFill xmlns:a="http://schemas.openxmlformats.org/drawingml/2006/main">
            <a:srgbClr val="0F1B2D"/>
          </a:solidFill>
          <a:ln xmlns:a="http://schemas.openxmlformats.org/drawingml/2006/main" w="9525">
            <a:solidFill>
              <a:srgbClr val="0F1B2D"/>
            </a:solidFill>
            <a:prstDash val="solid"/>
          </a:ln>
        </p:spPr>
      </p:sp>
      <p:sp>
        <p:nvSpPr>
          <p:cNvPr id="32" name="">
            <a:extLst xmlns:a="http://schemas.openxmlformats.org/drawingml/2006/main">
              <a:ext uri="{FF2B5EF4-FFF2-40B4-BE49-F238E27FC236}">
                <a16:creationId xmlns:a16="http://schemas.microsoft.com/office/drawing/2014/main" id="{E877660C-DAA3-4955-9A53-BC2D96070CC6}"/>
              </a:ext>
            </a:extLst>
          </p:cNvPr>
          <p:cNvSpPr>
            <a:spLocks xmlns:a="http://schemas.openxmlformats.org/drawingml/2006/main" noGrp="1"/>
          </p:cNvSpPr>
          <p:nvPr/>
        </p:nvSpPr>
        <p:spPr>
          <a:xfrm xmlns:a="http://schemas.openxmlformats.org/drawingml/2006/main">
            <a:off x="904875" y="60674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정리: 구현 자체는 발표 가능한 상태이고, 비교 결론을 확정할 실험과 외부 검증이 남아 있습니다.</a:t>
            </a:r>
          </a:p>
        </p:txBody>
      </p:sp>
    </p:spTree>
    <p:extLst>
      <p:ext uri="{BB962C8B-B14F-4D97-AF65-F5344CB8AC3E}">
        <p14:creationId xmlns:p14="http://schemas.microsoft.com/office/powerpoint/2010/main" val="79109235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C977DAF-42F5-457D-B389-0C8918A9BF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09ACB6-73D7-4351-915A-B75D6D361573}"/>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구현과 남은 검증</a:t>
            </a:r>
          </a:p>
        </p:txBody>
      </p:sp>
      <p:sp>
        <p:nvSpPr>
          <p:cNvPr id="3" name="">
            <a:extLst xmlns:a="http://schemas.openxmlformats.org/drawingml/2006/main">
              <a:ext uri="{FF2B5EF4-FFF2-40B4-BE49-F238E27FC236}">
                <a16:creationId xmlns:a16="http://schemas.microsoft.com/office/drawing/2014/main" id="{F51BAF49-4399-4AFC-89B6-880C06ABD0B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14</a:t>
            </a:r>
          </a:p>
        </p:txBody>
      </p:sp>
      <p:sp>
        <p:nvSpPr>
          <p:cNvPr id="4" name="">
            <a:extLst xmlns:a="http://schemas.openxmlformats.org/drawingml/2006/main">
              <a:ext uri="{FF2B5EF4-FFF2-40B4-BE49-F238E27FC236}">
                <a16:creationId xmlns:a16="http://schemas.microsoft.com/office/drawing/2014/main" id="{F0D285CF-EF0C-47F6-995B-A116F8F8069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84291B52-44C8-45C5-8CA3-B9EB53D7534C}"/>
              </a:ext>
            </a:extLst>
          </p:cNvPr>
          <p:cNvSpPr>
            <a:spLocks xmlns:a="http://schemas.openxmlformats.org/drawingml/2006/main" noGrp="1"/>
          </p:cNvSpPr>
          <p:nvPr/>
        </p:nvSpPr>
        <p:spPr>
          <a:xfrm xmlns:a="http://schemas.openxmlformats.org/drawingml/2006/main">
            <a:off x="72390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1A66B"/>
                </a:solidFill>
                <a:latin typeface="NanumGothic"/>
                <a:ea typeface="NanumGothic"/>
                <a:cs typeface="NanumGothic"/>
              </a:defRPr>
            </a:pPr>
            <a:r>
              <a:rPr sz="1725" b="1">
                <a:solidFill>
                  <a:srgbClr val="21A66B"/>
                </a:solidFill>
                <a:latin typeface="NanumGothic"/>
                <a:ea typeface="NanumGothic"/>
                <a:cs typeface="NanumGothic"/>
              </a:rPr>
              <a:t>구현된 범위</a:t>
            </a:r>
          </a:p>
        </p:txBody>
      </p:sp>
      <p:sp>
        <p:nvSpPr>
          <p:cNvPr id="6" name="">
            <a:extLst xmlns:a="http://schemas.openxmlformats.org/drawingml/2006/main">
              <a:ext uri="{FF2B5EF4-FFF2-40B4-BE49-F238E27FC236}">
                <a16:creationId xmlns:a16="http://schemas.microsoft.com/office/drawing/2014/main" id="{D178F46C-70E8-4D3B-A108-4B913A17C33E}"/>
              </a:ext>
            </a:extLst>
          </p:cNvPr>
          <p:cNvSpPr>
            <a:spLocks xmlns:a="http://schemas.openxmlformats.org/drawingml/2006/main" noGrp="1"/>
          </p:cNvSpPr>
          <p:nvPr/>
        </p:nvSpPr>
        <p:spPr>
          <a:xfrm xmlns:a="http://schemas.openxmlformats.org/drawingml/2006/main">
            <a:off x="72390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13개 제한된 Windows 기능</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구조화된 계획과 위험 정책</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정확한 행동에 묶인 승인 토큰</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실행 후 독립 검증과 감사 로그</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로컬 중단, 기억 검색, 배포 패키지</a:t>
            </a:r>
          </a:p>
        </p:txBody>
      </p:sp>
      <p:sp>
        <p:nvSpPr>
          <p:cNvPr id="7" name="">
            <a:extLst xmlns:a="http://schemas.openxmlformats.org/drawingml/2006/main">
              <a:ext uri="{FF2B5EF4-FFF2-40B4-BE49-F238E27FC236}">
                <a16:creationId xmlns:a16="http://schemas.microsoft.com/office/drawing/2014/main" id="{F62979D5-228D-454B-BA80-D57892DFC425}"/>
              </a:ext>
            </a:extLst>
          </p:cNvPr>
          <p:cNvSpPr>
            <a:spLocks xmlns:a="http://schemas.openxmlformats.org/drawingml/2006/main" noGrp="1"/>
          </p:cNvSpPr>
          <p:nvPr/>
        </p:nvSpPr>
        <p:spPr>
          <a:xfrm xmlns:a="http://schemas.openxmlformats.org/drawingml/2006/main">
            <a:off x="619125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3A68"/>
                </a:solidFill>
                <a:latin typeface="NanumGothic"/>
                <a:ea typeface="NanumGothic"/>
                <a:cs typeface="NanumGothic"/>
              </a:defRPr>
            </a:pPr>
            <a:r>
              <a:rPr sz="1725" b="1">
                <a:solidFill>
                  <a:srgbClr val="173A68"/>
                </a:solidFill>
                <a:latin typeface="NanumGothic"/>
                <a:ea typeface="NanumGothic"/>
                <a:cs typeface="NanumGothic"/>
              </a:rPr>
              <a:t>확인된 증거</a:t>
            </a:r>
          </a:p>
        </p:txBody>
      </p:sp>
      <p:sp>
        <p:nvSpPr>
          <p:cNvPr id="8" name="">
            <a:extLst xmlns:a="http://schemas.openxmlformats.org/drawingml/2006/main">
              <a:ext uri="{FF2B5EF4-FFF2-40B4-BE49-F238E27FC236}">
                <a16:creationId xmlns:a16="http://schemas.microsoft.com/office/drawing/2014/main" id="{3BAFDC01-E3AC-4E0D-898E-71D041519967}"/>
              </a:ext>
            </a:extLst>
          </p:cNvPr>
          <p:cNvSpPr>
            <a:spLocks xmlns:a="http://schemas.openxmlformats.org/drawingml/2006/main" noGrp="1"/>
          </p:cNvSpPr>
          <p:nvPr/>
        </p:nvSpPr>
        <p:spPr>
          <a:xfrm xmlns:a="http://schemas.openxmlformats.org/drawingml/2006/main">
            <a:off x="619125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전체 회귀 762 통과, 3 건너뜀</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코드 줄 기준 시험 범위 83%</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시스템 점검 15/15 통과</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제품 서비스 13개 기능 조립 성공</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벤치마크 70/120 셀 수집</a:t>
            </a:r>
          </a:p>
        </p:txBody>
      </p:sp>
      <p:sp>
        <p:nvSpPr>
          <p:cNvPr id="9" name="">
            <a:extLst xmlns:a="http://schemas.openxmlformats.org/drawingml/2006/main">
              <a:ext uri="{FF2B5EF4-FFF2-40B4-BE49-F238E27FC236}">
                <a16:creationId xmlns:a16="http://schemas.microsoft.com/office/drawing/2014/main" id="{F4E61459-97A8-4657-9C14-B6175FAD2C57}"/>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45107974-3C8A-4A18-937F-6E3AFC562D92}"/>
              </a:ext>
            </a:extLst>
          </p:cNvPr>
          <p:cNvSpPr>
            <a:spLocks xmlns:a="http://schemas.openxmlformats.org/drawingml/2006/main" noGrp="1"/>
          </p:cNvSpPr>
          <p:nvPr/>
        </p:nvSpPr>
        <p:spPr>
          <a:xfrm xmlns:a="http://schemas.openxmlformats.org/drawingml/2006/main">
            <a:off x="723900" y="5238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남은 외부 증거</a:t>
            </a:r>
          </a:p>
        </p:txBody>
      </p:sp>
      <p:sp>
        <p:nvSpPr>
          <p:cNvPr id="11" name="">
            <a:extLst xmlns:a="http://schemas.openxmlformats.org/drawingml/2006/main">
              <a:ext uri="{FF2B5EF4-FFF2-40B4-BE49-F238E27FC236}">
                <a16:creationId xmlns:a16="http://schemas.microsoft.com/office/drawing/2014/main" id="{4BA07FAC-67AB-4102-AB35-278960F781B2}"/>
              </a:ext>
            </a:extLst>
          </p:cNvPr>
          <p:cNvSpPr>
            <a:spLocks xmlns:a="http://schemas.openxmlformats.org/drawingml/2006/main" noGrp="1"/>
          </p:cNvSpPr>
          <p:nvPr/>
        </p:nvSpPr>
        <p:spPr>
          <a:xfrm xmlns:a="http://schemas.openxmlformats.org/drawingml/2006/main">
            <a:off x="2857500" y="51911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snapshot VM 50셀 · 코드 서명 인증서 · 실제 음성/Windows Hello · 참가자 연구</a:t>
            </a:r>
          </a:p>
        </p:txBody>
      </p:sp>
      <p:sp>
        <p:nvSpPr>
          <p:cNvPr id="12" name="">
            <a:extLst xmlns:a="http://schemas.openxmlformats.org/drawingml/2006/main">
              <a:ext uri="{FF2B5EF4-FFF2-40B4-BE49-F238E27FC236}">
                <a16:creationId xmlns:a16="http://schemas.microsoft.com/office/drawing/2014/main" id="{45A5F954-BB85-4370-B3BB-5AB745962BC1}"/>
              </a:ext>
            </a:extLst>
          </p:cNvPr>
          <p:cNvSpPr>
            <a:spLocks xmlns:a="http://schemas.openxmlformats.org/drawingml/2006/main" noGrp="1"/>
          </p:cNvSpPr>
          <p:nvPr/>
        </p:nvSpPr>
        <p:spPr>
          <a:xfrm xmlns:a="http://schemas.openxmlformats.org/drawingml/2006/main">
            <a:off x="7239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현재 결과물은 강한 안전 제어 시제품이다. 논문 결론은 남은 실험을 마친 뒤 확정한다.</a:t>
            </a:r>
          </a:p>
        </p:txBody>
      </p:sp>
    </p:spTree>
    <p:extLst>
      <p:ext uri="{BB962C8B-B14F-4D97-AF65-F5344CB8AC3E}">
        <p14:creationId xmlns:p14="http://schemas.microsoft.com/office/powerpoint/2010/main" val="149094664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38E612B-0215-49CA-9613-EDCC1D4109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74F3FF-B7A8-48CA-99D7-03846C8E839C}"/>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교수님 예상 질문과 답변</a:t>
            </a:r>
          </a:p>
        </p:txBody>
      </p:sp>
      <p:sp>
        <p:nvSpPr>
          <p:cNvPr id="3" name="">
            <a:extLst xmlns:a="http://schemas.openxmlformats.org/drawingml/2006/main">
              <a:ext uri="{FF2B5EF4-FFF2-40B4-BE49-F238E27FC236}">
                <a16:creationId xmlns:a16="http://schemas.microsoft.com/office/drawing/2014/main" id="{58546A5B-DCAF-4725-BE56-D8F4732708A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15</a:t>
            </a:r>
          </a:p>
        </p:txBody>
      </p:sp>
      <p:sp>
        <p:nvSpPr>
          <p:cNvPr id="4" name="">
            <a:extLst xmlns:a="http://schemas.openxmlformats.org/drawingml/2006/main">
              <a:ext uri="{FF2B5EF4-FFF2-40B4-BE49-F238E27FC236}">
                <a16:creationId xmlns:a16="http://schemas.microsoft.com/office/drawing/2014/main" id="{66A06788-87A6-4C03-B28C-F440893B282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6F2366EF-368C-400A-8417-EC610B031EB0}"/>
              </a:ext>
            </a:extLst>
          </p:cNvPr>
          <p:cNvSpPr>
            <a:spLocks xmlns:a="http://schemas.openxmlformats.org/drawingml/2006/main" noGrp="1"/>
          </p:cNvSpPr>
          <p:nvPr/>
        </p:nvSpPr>
        <p:spPr>
          <a:xfrm xmlns:a="http://schemas.openxmlformats.org/drawingml/2006/main">
            <a:off x="704850" y="1285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Q1</a:t>
            </a:r>
          </a:p>
        </p:txBody>
      </p:sp>
      <p:sp>
        <p:nvSpPr>
          <p:cNvPr id="6" name="">
            <a:extLst xmlns:a="http://schemas.openxmlformats.org/drawingml/2006/main">
              <a:ext uri="{FF2B5EF4-FFF2-40B4-BE49-F238E27FC236}">
                <a16:creationId xmlns:a16="http://schemas.microsoft.com/office/drawing/2014/main" id="{3A34AC07-D10C-497A-B183-F90FC8BC13B8}"/>
              </a:ext>
            </a:extLst>
          </p:cNvPr>
          <p:cNvSpPr>
            <a:spLocks xmlns:a="http://schemas.openxmlformats.org/drawingml/2006/main" noGrp="1"/>
          </p:cNvSpPr>
          <p:nvPr/>
        </p:nvSpPr>
        <p:spPr>
          <a:xfrm xmlns:a="http://schemas.openxmlformats.org/drawingml/2006/main">
            <a:off x="1238250" y="1238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정확히 무엇을 만들었나?</a:t>
            </a:r>
          </a:p>
        </p:txBody>
      </p:sp>
      <p:sp>
        <p:nvSpPr>
          <p:cNvPr id="7" name="">
            <a:extLst xmlns:a="http://schemas.openxmlformats.org/drawingml/2006/main">
              <a:ext uri="{FF2B5EF4-FFF2-40B4-BE49-F238E27FC236}">
                <a16:creationId xmlns:a16="http://schemas.microsoft.com/office/drawing/2014/main" id="{F7EF2B8D-0F2A-47E5-970E-34A592A4E25C}"/>
              </a:ext>
            </a:extLst>
          </p:cNvPr>
          <p:cNvSpPr>
            <a:spLocks xmlns:a="http://schemas.openxmlformats.org/drawingml/2006/main" noGrp="1"/>
          </p:cNvSpPr>
          <p:nvPr/>
        </p:nvSpPr>
        <p:spPr>
          <a:xfrm xmlns:a="http://schemas.openxmlformats.org/drawingml/2006/main">
            <a:off x="4714875" y="1238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LLM이 제안한 Windows 행동을 의도·위험·승인·독립 검증으로 통제하는 음성 작업 에이전트입니다.</a:t>
            </a:r>
          </a:p>
        </p:txBody>
      </p:sp>
      <p:sp>
        <p:nvSpPr>
          <p:cNvPr id="8" name="">
            <a:extLst xmlns:a="http://schemas.openxmlformats.org/drawingml/2006/main">
              <a:ext uri="{FF2B5EF4-FFF2-40B4-BE49-F238E27FC236}">
                <a16:creationId xmlns:a16="http://schemas.microsoft.com/office/drawing/2014/main" id="{260B52FC-E2EB-48CD-A682-A02274BA6DDB}"/>
              </a:ext>
            </a:extLst>
          </p:cNvPr>
          <p:cNvSpPr>
            <a:spLocks xmlns:a="http://schemas.openxmlformats.org/drawingml/2006/main" noGrp="1"/>
          </p:cNvSpPr>
          <p:nvPr/>
        </p:nvSpPr>
        <p:spPr>
          <a:xfrm xmlns:a="http://schemas.openxmlformats.org/drawingml/2006/main">
            <a:off x="1238250" y="19050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9" name="">
            <a:extLst xmlns:a="http://schemas.openxmlformats.org/drawingml/2006/main">
              <a:ext uri="{FF2B5EF4-FFF2-40B4-BE49-F238E27FC236}">
                <a16:creationId xmlns:a16="http://schemas.microsoft.com/office/drawing/2014/main" id="{2E300F54-1AEB-4D04-BCC4-6DBC597C3CDA}"/>
              </a:ext>
            </a:extLst>
          </p:cNvPr>
          <p:cNvSpPr>
            <a:spLocks xmlns:a="http://schemas.openxmlformats.org/drawingml/2006/main" noGrp="1"/>
          </p:cNvSpPr>
          <p:nvPr/>
        </p:nvSpPr>
        <p:spPr>
          <a:xfrm xmlns:a="http://schemas.openxmlformats.org/drawingml/2006/main">
            <a:off x="704850" y="21240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Q2</a:t>
            </a:r>
          </a:p>
        </p:txBody>
      </p:sp>
      <p:sp>
        <p:nvSpPr>
          <p:cNvPr id="10" name="">
            <a:extLst xmlns:a="http://schemas.openxmlformats.org/drawingml/2006/main">
              <a:ext uri="{FF2B5EF4-FFF2-40B4-BE49-F238E27FC236}">
                <a16:creationId xmlns:a16="http://schemas.microsoft.com/office/drawing/2014/main" id="{38B9AB25-3BA9-4D28-AEAC-E0DB3A137D1F}"/>
              </a:ext>
            </a:extLst>
          </p:cNvPr>
          <p:cNvSpPr>
            <a:spLocks xmlns:a="http://schemas.openxmlformats.org/drawingml/2006/main" noGrp="1"/>
          </p:cNvSpPr>
          <p:nvPr/>
        </p:nvSpPr>
        <p:spPr>
          <a:xfrm xmlns:a="http://schemas.openxmlformats.org/drawingml/2006/main">
            <a:off x="1238250" y="20764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 PC 에이전트와 차이는?</a:t>
            </a:r>
          </a:p>
        </p:txBody>
      </p:sp>
      <p:sp>
        <p:nvSpPr>
          <p:cNvPr id="11" name="">
            <a:extLst xmlns:a="http://schemas.openxmlformats.org/drawingml/2006/main">
              <a:ext uri="{FF2B5EF4-FFF2-40B4-BE49-F238E27FC236}">
                <a16:creationId xmlns:a16="http://schemas.microsoft.com/office/drawing/2014/main" id="{5F59D1B7-9E79-4441-B0EB-2410DA8E00F9}"/>
              </a:ext>
            </a:extLst>
          </p:cNvPr>
          <p:cNvSpPr>
            <a:spLocks xmlns:a="http://schemas.openxmlformats.org/drawingml/2006/main" noGrp="1"/>
          </p:cNvSpPr>
          <p:nvPr/>
        </p:nvSpPr>
        <p:spPr>
          <a:xfrm xmlns:a="http://schemas.openxmlformats.org/drawingml/2006/main">
            <a:off x="4714875" y="20764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PC 조작 범위보다 상시 음성 명령 판별과 제안·권한·완료 판정의 분리에 연구 초점을 둡니다.</a:t>
            </a:r>
          </a:p>
        </p:txBody>
      </p:sp>
      <p:sp>
        <p:nvSpPr>
          <p:cNvPr id="12" name="">
            <a:extLst xmlns:a="http://schemas.openxmlformats.org/drawingml/2006/main">
              <a:ext uri="{FF2B5EF4-FFF2-40B4-BE49-F238E27FC236}">
                <a16:creationId xmlns:a16="http://schemas.microsoft.com/office/drawing/2014/main" id="{CD939131-86EF-4D05-9AD4-1901605074B1}"/>
              </a:ext>
            </a:extLst>
          </p:cNvPr>
          <p:cNvSpPr>
            <a:spLocks xmlns:a="http://schemas.openxmlformats.org/drawingml/2006/main" noGrp="1"/>
          </p:cNvSpPr>
          <p:nvPr/>
        </p:nvSpPr>
        <p:spPr>
          <a:xfrm xmlns:a="http://schemas.openxmlformats.org/drawingml/2006/main">
            <a:off x="1238250" y="27432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6C013EB4-6336-44FA-BD57-F3339784AF2D}"/>
              </a:ext>
            </a:extLst>
          </p:cNvPr>
          <p:cNvSpPr>
            <a:spLocks xmlns:a="http://schemas.openxmlformats.org/drawingml/2006/main" noGrp="1"/>
          </p:cNvSpPr>
          <p:nvPr/>
        </p:nvSpPr>
        <p:spPr>
          <a:xfrm xmlns:a="http://schemas.openxmlformats.org/drawingml/2006/main">
            <a:off x="704850" y="29622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Q3</a:t>
            </a:r>
          </a:p>
        </p:txBody>
      </p:sp>
      <p:sp>
        <p:nvSpPr>
          <p:cNvPr id="14" name="">
            <a:extLst xmlns:a="http://schemas.openxmlformats.org/drawingml/2006/main">
              <a:ext uri="{FF2B5EF4-FFF2-40B4-BE49-F238E27FC236}">
                <a16:creationId xmlns:a16="http://schemas.microsoft.com/office/drawing/2014/main" id="{E95043A5-6B53-40F2-9426-7ED0DE380104}"/>
              </a:ext>
            </a:extLst>
          </p:cNvPr>
          <p:cNvSpPr>
            <a:spLocks xmlns:a="http://schemas.openxmlformats.org/drawingml/2006/main" noGrp="1"/>
          </p:cNvSpPr>
          <p:nvPr/>
        </p:nvSpPr>
        <p:spPr>
          <a:xfrm xmlns:a="http://schemas.openxmlformats.org/drawingml/2006/main">
            <a:off x="1238250" y="2914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왜 NIM 모델을 쓰나?</a:t>
            </a:r>
          </a:p>
        </p:txBody>
      </p:sp>
      <p:sp>
        <p:nvSpPr>
          <p:cNvPr id="15" name="">
            <a:extLst xmlns:a="http://schemas.openxmlformats.org/drawingml/2006/main">
              <a:ext uri="{FF2B5EF4-FFF2-40B4-BE49-F238E27FC236}">
                <a16:creationId xmlns:a16="http://schemas.microsoft.com/office/drawing/2014/main" id="{3A7F7654-1AD2-4437-888C-D96AF34B81E0}"/>
              </a:ext>
            </a:extLst>
          </p:cNvPr>
          <p:cNvSpPr>
            <a:spLocks xmlns:a="http://schemas.openxmlformats.org/drawingml/2006/main" noGrp="1"/>
          </p:cNvSpPr>
          <p:nvPr/>
        </p:nvSpPr>
        <p:spPr>
          <a:xfrm xmlns:a="http://schemas.openxmlformats.org/drawingml/2006/main">
            <a:off x="4714875" y="29146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언어 이해와 계획 생성 부품으로 사용합니다. 모델은 교체 가능하며 연구 기여는 실행 하네스입니다.</a:t>
            </a:r>
          </a:p>
        </p:txBody>
      </p:sp>
      <p:sp>
        <p:nvSpPr>
          <p:cNvPr id="16" name="">
            <a:extLst xmlns:a="http://schemas.openxmlformats.org/drawingml/2006/main">
              <a:ext uri="{FF2B5EF4-FFF2-40B4-BE49-F238E27FC236}">
                <a16:creationId xmlns:a16="http://schemas.microsoft.com/office/drawing/2014/main" id="{E748E027-C387-4AC1-9D15-A40A3029043B}"/>
              </a:ext>
            </a:extLst>
          </p:cNvPr>
          <p:cNvSpPr>
            <a:spLocks xmlns:a="http://schemas.openxmlformats.org/drawingml/2006/main" noGrp="1"/>
          </p:cNvSpPr>
          <p:nvPr/>
        </p:nvSpPr>
        <p:spPr>
          <a:xfrm xmlns:a="http://schemas.openxmlformats.org/drawingml/2006/main">
            <a:off x="1238250" y="35814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7" name="">
            <a:extLst xmlns:a="http://schemas.openxmlformats.org/drawingml/2006/main">
              <a:ext uri="{FF2B5EF4-FFF2-40B4-BE49-F238E27FC236}">
                <a16:creationId xmlns:a16="http://schemas.microsoft.com/office/drawing/2014/main" id="{96E14B00-38CC-41B7-B0BC-B9136011AF88}"/>
              </a:ext>
            </a:extLst>
          </p:cNvPr>
          <p:cNvSpPr>
            <a:spLocks xmlns:a="http://schemas.openxmlformats.org/drawingml/2006/main" noGrp="1"/>
          </p:cNvSpPr>
          <p:nvPr/>
        </p:nvSpPr>
        <p:spPr>
          <a:xfrm xmlns:a="http://schemas.openxmlformats.org/drawingml/2006/main">
            <a:off x="704850" y="38004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Q4</a:t>
            </a:r>
          </a:p>
        </p:txBody>
      </p:sp>
      <p:sp>
        <p:nvSpPr>
          <p:cNvPr id="18" name="">
            <a:extLst xmlns:a="http://schemas.openxmlformats.org/drawingml/2006/main">
              <a:ext uri="{FF2B5EF4-FFF2-40B4-BE49-F238E27FC236}">
                <a16:creationId xmlns:a16="http://schemas.microsoft.com/office/drawing/2014/main" id="{F2B3F553-FB0D-49D7-83B4-16F4E376063B}"/>
              </a:ext>
            </a:extLst>
          </p:cNvPr>
          <p:cNvSpPr>
            <a:spLocks xmlns:a="http://schemas.openxmlformats.org/drawingml/2006/main" noGrp="1"/>
          </p:cNvSpPr>
          <p:nvPr/>
        </p:nvSpPr>
        <p:spPr>
          <a:xfrm xmlns:a="http://schemas.openxmlformats.org/drawingml/2006/main">
            <a:off x="1238250" y="3752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스킬을 쓰면 권한이 늘어나나?</a:t>
            </a:r>
          </a:p>
        </p:txBody>
      </p:sp>
      <p:sp>
        <p:nvSpPr>
          <p:cNvPr id="19" name="">
            <a:extLst xmlns:a="http://schemas.openxmlformats.org/drawingml/2006/main">
              <a:ext uri="{FF2B5EF4-FFF2-40B4-BE49-F238E27FC236}">
                <a16:creationId xmlns:a16="http://schemas.microsoft.com/office/drawing/2014/main" id="{3CD79F5B-007E-4562-8FB7-5B639E7FC7A4}"/>
              </a:ext>
            </a:extLst>
          </p:cNvPr>
          <p:cNvSpPr>
            <a:spLocks xmlns:a="http://schemas.openxmlformats.org/drawingml/2006/main" noGrp="1"/>
          </p:cNvSpPr>
          <p:nvPr/>
        </p:nvSpPr>
        <p:spPr>
          <a:xfrm xmlns:a="http://schemas.openxmlformats.org/drawingml/2006/main">
            <a:off x="4714875" y="37528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스킬은 작업 절차이고 실제 권한은 등록 기능과 정책·승인이 결정합니다.</a:t>
            </a:r>
          </a:p>
        </p:txBody>
      </p:sp>
      <p:sp>
        <p:nvSpPr>
          <p:cNvPr id="20" name="">
            <a:extLst xmlns:a="http://schemas.openxmlformats.org/drawingml/2006/main">
              <a:ext uri="{FF2B5EF4-FFF2-40B4-BE49-F238E27FC236}">
                <a16:creationId xmlns:a16="http://schemas.microsoft.com/office/drawing/2014/main" id="{1FF30024-3FF4-4FF4-860E-8F6A3A2E7FA2}"/>
              </a:ext>
            </a:extLst>
          </p:cNvPr>
          <p:cNvSpPr>
            <a:spLocks xmlns:a="http://schemas.openxmlformats.org/drawingml/2006/main" noGrp="1"/>
          </p:cNvSpPr>
          <p:nvPr/>
        </p:nvSpPr>
        <p:spPr>
          <a:xfrm xmlns:a="http://schemas.openxmlformats.org/drawingml/2006/main">
            <a:off x="1238250" y="44196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3120D0DA-6C9B-426F-A886-BFBB006AE29B}"/>
              </a:ext>
            </a:extLst>
          </p:cNvPr>
          <p:cNvSpPr>
            <a:spLocks xmlns:a="http://schemas.openxmlformats.org/drawingml/2006/main" noGrp="1"/>
          </p:cNvSpPr>
          <p:nvPr/>
        </p:nvSpPr>
        <p:spPr>
          <a:xfrm xmlns:a="http://schemas.openxmlformats.org/drawingml/2006/main">
            <a:off x="704850" y="46386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Q5</a:t>
            </a:r>
          </a:p>
        </p:txBody>
      </p:sp>
      <p:sp>
        <p:nvSpPr>
          <p:cNvPr id="22" name="">
            <a:extLst xmlns:a="http://schemas.openxmlformats.org/drawingml/2006/main">
              <a:ext uri="{FF2B5EF4-FFF2-40B4-BE49-F238E27FC236}">
                <a16:creationId xmlns:a16="http://schemas.microsoft.com/office/drawing/2014/main" id="{F57D56FF-C7FF-4A0D-9383-7439D73FFDE3}"/>
              </a:ext>
            </a:extLst>
          </p:cNvPr>
          <p:cNvSpPr>
            <a:spLocks xmlns:a="http://schemas.openxmlformats.org/drawingml/2006/main" noGrp="1"/>
          </p:cNvSpPr>
          <p:nvPr/>
        </p:nvSpPr>
        <p:spPr>
          <a:xfrm xmlns:a="http://schemas.openxmlformats.org/drawingml/2006/main">
            <a:off x="1238250" y="45910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기존보다 얼마나 효율적인가?</a:t>
            </a:r>
          </a:p>
        </p:txBody>
      </p:sp>
      <p:sp>
        <p:nvSpPr>
          <p:cNvPr id="23" name="">
            <a:extLst xmlns:a="http://schemas.openxmlformats.org/drawingml/2006/main">
              <a:ext uri="{FF2B5EF4-FFF2-40B4-BE49-F238E27FC236}">
                <a16:creationId xmlns:a16="http://schemas.microsoft.com/office/drawing/2014/main" id="{5EAF2E2C-F9D5-495B-9ED2-F7D7FC05F4FD}"/>
              </a:ext>
            </a:extLst>
          </p:cNvPr>
          <p:cNvSpPr>
            <a:spLocks xmlns:a="http://schemas.openxmlformats.org/drawingml/2006/main" noGrp="1"/>
          </p:cNvSpPr>
          <p:nvPr/>
        </p:nvSpPr>
        <p:spPr>
          <a:xfrm xmlns:a="http://schemas.openxmlformats.org/drawingml/2006/main">
            <a:off x="4714875" y="45910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아직 완전 실험 전이라 수치를 주장하지 않습니다. 성공률·시간·호출·확인 부담을 함께 계산합니다.</a:t>
            </a:r>
          </a:p>
        </p:txBody>
      </p:sp>
      <p:sp>
        <p:nvSpPr>
          <p:cNvPr id="24" name="">
            <a:extLst xmlns:a="http://schemas.openxmlformats.org/drawingml/2006/main">
              <a:ext uri="{FF2B5EF4-FFF2-40B4-BE49-F238E27FC236}">
                <a16:creationId xmlns:a16="http://schemas.microsoft.com/office/drawing/2014/main" id="{09D1A4B4-146F-41DB-8633-D11F04DBDAA9}"/>
              </a:ext>
            </a:extLst>
          </p:cNvPr>
          <p:cNvSpPr>
            <a:spLocks xmlns:a="http://schemas.openxmlformats.org/drawingml/2006/main" noGrp="1"/>
          </p:cNvSpPr>
          <p:nvPr/>
        </p:nvSpPr>
        <p:spPr>
          <a:xfrm xmlns:a="http://schemas.openxmlformats.org/drawingml/2006/main">
            <a:off x="1238250" y="52578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376EDB55-EF84-42EE-84FC-C3B73A737207}"/>
              </a:ext>
            </a:extLst>
          </p:cNvPr>
          <p:cNvSpPr>
            <a:spLocks xmlns:a="http://schemas.openxmlformats.org/drawingml/2006/main" noGrp="1"/>
          </p:cNvSpPr>
          <p:nvPr/>
        </p:nvSpPr>
        <p:spPr>
          <a:xfrm xmlns:a="http://schemas.openxmlformats.org/drawingml/2006/main">
            <a:off x="704850" y="5476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Q6</a:t>
            </a:r>
          </a:p>
        </p:txBody>
      </p:sp>
      <p:sp>
        <p:nvSpPr>
          <p:cNvPr id="26" name="">
            <a:extLst xmlns:a="http://schemas.openxmlformats.org/drawingml/2006/main">
              <a:ext uri="{FF2B5EF4-FFF2-40B4-BE49-F238E27FC236}">
                <a16:creationId xmlns:a16="http://schemas.microsoft.com/office/drawing/2014/main" id="{5FED3D56-09A7-4765-9328-4AA5F8CCCC69}"/>
              </a:ext>
            </a:extLst>
          </p:cNvPr>
          <p:cNvSpPr>
            <a:spLocks xmlns:a="http://schemas.openxmlformats.org/drawingml/2006/main" noGrp="1"/>
          </p:cNvSpPr>
          <p:nvPr/>
        </p:nvSpPr>
        <p:spPr>
          <a:xfrm xmlns:a="http://schemas.openxmlformats.org/drawingml/2006/main">
            <a:off x="1238250" y="5429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완전 자율 시스템인가?</a:t>
            </a:r>
          </a:p>
        </p:txBody>
      </p:sp>
      <p:sp>
        <p:nvSpPr>
          <p:cNvPr id="27" name="">
            <a:extLst xmlns:a="http://schemas.openxmlformats.org/drawingml/2006/main">
              <a:ext uri="{FF2B5EF4-FFF2-40B4-BE49-F238E27FC236}">
                <a16:creationId xmlns:a16="http://schemas.microsoft.com/office/drawing/2014/main" id="{6837E96F-E8CA-4188-8060-5AB7B86CD8D1}"/>
              </a:ext>
            </a:extLst>
          </p:cNvPr>
          <p:cNvSpPr>
            <a:spLocks xmlns:a="http://schemas.openxmlformats.org/drawingml/2006/main" noGrp="1"/>
          </p:cNvSpPr>
          <p:nvPr/>
        </p:nvSpPr>
        <p:spPr>
          <a:xfrm xmlns:a="http://schemas.openxmlformats.org/drawingml/2006/main">
            <a:off x="4714875" y="5429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허용된 기능만 실행하고 위험 행동은 사용자 승인이나 강한 인증을 요구합니다.</a:t>
            </a:r>
          </a:p>
        </p:txBody>
      </p:sp>
    </p:spTree>
    <p:extLst>
      <p:ext uri="{BB962C8B-B14F-4D97-AF65-F5344CB8AC3E}">
        <p14:creationId xmlns:p14="http://schemas.microsoft.com/office/powerpoint/2010/main" val="170247419"/>
      </p:ext>
    </p:extLst>
  </p:cSld>
</p:sld>
</file>

<file path=ppt/slides/slide16.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4AF31B-2756-41B3-AD79-3446858D6439}"/>
              </a:ext>
            </a:extLst>
          </p:cNvPr>
          <p:cNvSpPr>
            <a:spLocks xmlns:a="http://schemas.openxmlformats.org/drawingml/2006/main" noGrp="1"/>
          </p:cNvSpPr>
          <p:nvPr/>
        </p:nvSpPr>
        <p:spPr>
          <a:xfrm xmlns:a="http://schemas.openxmlformats.org/drawingml/2006/main">
            <a:off x="685800" y="5143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FFFFFF"/>
                </a:solidFill>
                <a:latin typeface="NanumGothic"/>
                <a:ea typeface="NanumGothic"/>
                <a:cs typeface="NanumGothic"/>
              </a:defRPr>
            </a:pPr>
            <a:r>
              <a:rPr sz="2700" b="1">
                <a:solidFill>
                  <a:srgbClr val="FFFFFF"/>
                </a:solidFill>
                <a:latin typeface="NanumGothic"/>
                <a:ea typeface="NanumGothic"/>
                <a:cs typeface="NanumGothic"/>
              </a:rPr>
              <a:t>결론</a:t>
            </a:r>
          </a:p>
        </p:txBody>
      </p:sp>
      <p:sp>
        <p:nvSpPr>
          <p:cNvPr id="2" name="">
            <a:extLst xmlns:a="http://schemas.openxmlformats.org/drawingml/2006/main">
              <a:ext uri="{FF2B5EF4-FFF2-40B4-BE49-F238E27FC236}">
                <a16:creationId xmlns:a16="http://schemas.microsoft.com/office/drawing/2014/main" id="{DEC40653-FC5B-4F83-93E2-45917C001931}"/>
              </a:ext>
            </a:extLst>
          </p:cNvPr>
          <p:cNvSpPr>
            <a:spLocks xmlns:a="http://schemas.openxmlformats.org/drawingml/2006/main" noGrp="1"/>
          </p:cNvSpPr>
          <p:nvPr/>
        </p:nvSpPr>
        <p:spPr>
          <a:xfrm xmlns:a="http://schemas.openxmlformats.org/drawingml/2006/main">
            <a:off x="685800" y="12573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모델은 행동을 제안하고,</a:t>
            </a:r>
          </a:p>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권한과 완료 판정은 검증 가능한 하네스가 담당한다.</a:t>
            </a:r>
          </a:p>
        </p:txBody>
      </p:sp>
      <p:sp>
        <p:nvSpPr>
          <p:cNvPr id="3" name="">
            <a:extLst xmlns:a="http://schemas.openxmlformats.org/drawingml/2006/main">
              <a:ext uri="{FF2B5EF4-FFF2-40B4-BE49-F238E27FC236}">
                <a16:creationId xmlns:a16="http://schemas.microsoft.com/office/drawing/2014/main" id="{75EB779D-6FC3-4DD5-A641-C208F4B3B859}"/>
              </a:ext>
            </a:extLst>
          </p:cNvPr>
          <p:cNvSpPr>
            <a:spLocks xmlns:a="http://schemas.openxmlformats.org/drawingml/2006/main" noGrp="1"/>
          </p:cNvSpPr>
          <p:nvPr/>
        </p:nvSpPr>
        <p:spPr>
          <a:xfrm xmlns:a="http://schemas.openxmlformats.org/drawingml/2006/main">
            <a:off x="723900" y="27051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59C3E5"/>
                </a:solidFill>
                <a:latin typeface="NanumGothic"/>
                <a:ea typeface="NanumGothic"/>
                <a:cs typeface="NanumGothic"/>
              </a:defRPr>
            </a:pPr>
            <a:r>
              <a:rPr sz="1425" b="1">
                <a:solidFill>
                  <a:srgbClr val="59C3E5"/>
                </a:solidFill>
                <a:latin typeface="NanumGothic"/>
                <a:ea typeface="NanumGothic"/>
                <a:cs typeface="NanumGothic"/>
              </a:rPr>
              <a:t>졸업작품</a:t>
            </a:r>
          </a:p>
        </p:txBody>
      </p:sp>
      <p:sp>
        <p:nvSpPr>
          <p:cNvPr id="4" name="">
            <a:extLst xmlns:a="http://schemas.openxmlformats.org/drawingml/2006/main">
              <a:ext uri="{FF2B5EF4-FFF2-40B4-BE49-F238E27FC236}">
                <a16:creationId xmlns:a16="http://schemas.microsoft.com/office/drawing/2014/main" id="{46F86BB8-4B72-439C-B19C-D3CE107E7799}"/>
              </a:ext>
            </a:extLst>
          </p:cNvPr>
          <p:cNvSpPr>
            <a:spLocks xmlns:a="http://schemas.openxmlformats.org/drawingml/2006/main" noGrp="1"/>
          </p:cNvSpPr>
          <p:nvPr/>
        </p:nvSpPr>
        <p:spPr>
          <a:xfrm xmlns:a="http://schemas.openxmlformats.org/drawingml/2006/main">
            <a:off x="723900" y="30861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안전한 음성 기반 Windows 작업 에이전트</a:t>
            </a:r>
          </a:p>
        </p:txBody>
      </p:sp>
      <p:sp>
        <p:nvSpPr>
          <p:cNvPr id="5" name="">
            <a:extLst xmlns:a="http://schemas.openxmlformats.org/drawingml/2006/main">
              <a:ext uri="{FF2B5EF4-FFF2-40B4-BE49-F238E27FC236}">
                <a16:creationId xmlns:a16="http://schemas.microsoft.com/office/drawing/2014/main" id="{5CA00A88-DF24-4652-8E0F-2E6488F9408D}"/>
              </a:ext>
            </a:extLst>
          </p:cNvPr>
          <p:cNvSpPr>
            <a:spLocks xmlns:a="http://schemas.openxmlformats.org/drawingml/2006/main" noGrp="1"/>
          </p:cNvSpPr>
          <p:nvPr/>
        </p:nvSpPr>
        <p:spPr>
          <a:xfrm xmlns:a="http://schemas.openxmlformats.org/drawingml/2006/main">
            <a:off x="723900" y="37433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F2A93B"/>
                </a:solidFill>
                <a:latin typeface="NanumGothic"/>
                <a:ea typeface="NanumGothic"/>
                <a:cs typeface="NanumGothic"/>
              </a:defRPr>
            </a:pPr>
            <a:r>
              <a:rPr sz="1425" b="1">
                <a:solidFill>
                  <a:srgbClr val="F2A93B"/>
                </a:solidFill>
                <a:latin typeface="NanumGothic"/>
                <a:ea typeface="NanumGothic"/>
                <a:cs typeface="NanumGothic"/>
              </a:rPr>
              <a:t>졸업논문</a:t>
            </a:r>
          </a:p>
        </p:txBody>
      </p:sp>
      <p:sp>
        <p:nvSpPr>
          <p:cNvPr id="6" name="">
            <a:extLst xmlns:a="http://schemas.openxmlformats.org/drawingml/2006/main">
              <a:ext uri="{FF2B5EF4-FFF2-40B4-BE49-F238E27FC236}">
                <a16:creationId xmlns:a16="http://schemas.microsoft.com/office/drawing/2014/main" id="{D7F34851-88C8-48B0-AD6A-6F173339AC71}"/>
              </a:ext>
            </a:extLst>
          </p:cNvPr>
          <p:cNvSpPr>
            <a:spLocks xmlns:a="http://schemas.openxmlformats.org/drawingml/2006/main" noGrp="1"/>
          </p:cNvSpPr>
          <p:nvPr/>
        </p:nvSpPr>
        <p:spPr>
          <a:xfrm xmlns:a="http://schemas.openxmlformats.org/drawingml/2006/main">
            <a:off x="723900" y="412432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의도·위험·승인·독립 검증 하네스의 효과</a:t>
            </a:r>
          </a:p>
        </p:txBody>
      </p:sp>
      <p:sp>
        <p:nvSpPr>
          <p:cNvPr id="7" name="">
            <a:extLst xmlns:a="http://schemas.openxmlformats.org/drawingml/2006/main">
              <a:ext uri="{FF2B5EF4-FFF2-40B4-BE49-F238E27FC236}">
                <a16:creationId xmlns:a16="http://schemas.microsoft.com/office/drawing/2014/main" id="{B2CDC3CC-8219-4B9F-8C11-01ACE3FC837B}"/>
              </a:ext>
            </a:extLst>
          </p:cNvPr>
          <p:cNvSpPr>
            <a:spLocks xmlns:a="http://schemas.openxmlformats.org/drawingml/2006/main" noGrp="1"/>
          </p:cNvSpPr>
          <p:nvPr/>
        </p:nvSpPr>
        <p:spPr>
          <a:xfrm xmlns:a="http://schemas.openxmlformats.org/drawingml/2006/main">
            <a:off x="7905750" y="27051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1">
                <a:solidFill>
                  <a:srgbClr val="A9B9D0"/>
                </a:solidFill>
                <a:latin typeface="NanumGothic"/>
                <a:ea typeface="NanumGothic"/>
                <a:cs typeface="NanumGothic"/>
              </a:defRPr>
            </a:pPr>
            <a:r>
              <a:rPr sz="1350" b="1">
                <a:solidFill>
                  <a:srgbClr val="A9B9D0"/>
                </a:solidFill>
                <a:latin typeface="NanumGothic"/>
                <a:ea typeface="NanumGothic"/>
                <a:cs typeface="NanumGothic"/>
              </a:rPr>
              <a:t>주요 출처</a:t>
            </a:r>
          </a:p>
        </p:txBody>
      </p:sp>
      <p:sp>
        <p:nvSpPr>
          <p:cNvPr id="8" name="">
            <a:extLst xmlns:a="http://schemas.openxmlformats.org/drawingml/2006/main">
              <a:ext uri="{FF2B5EF4-FFF2-40B4-BE49-F238E27FC236}">
                <a16:creationId xmlns:a16="http://schemas.microsoft.com/office/drawing/2014/main" id="{8A3FF74E-D9FA-4911-B069-8A95CA7D92B4}"/>
              </a:ext>
            </a:extLst>
          </p:cNvPr>
          <p:cNvSpPr>
            <a:spLocks xmlns:a="http://schemas.openxmlformats.org/drawingml/2006/main" noGrp="1"/>
          </p:cNvSpPr>
          <p:nvPr/>
        </p:nvSpPr>
        <p:spPr>
          <a:xfrm xmlns:a="http://schemas.openxmlformats.org/drawingml/2006/main">
            <a:off x="7905750" y="3114675"/>
            <a:ext cx="342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ReAct · 행동과 관찰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Voyager · 스킬 재사용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SWE-agent · 인터페이스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 WAA · 실제 PC 평가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OS-Harm · 안전 평가 (2025)</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2.0 · 긴 작업 평가 (2026)</a:t>
            </a:r>
          </a:p>
        </p:txBody>
      </p:sp>
      <p:sp>
        <p:nvSpPr>
          <p:cNvPr id="9" name="">
            <a:extLst xmlns:a="http://schemas.openxmlformats.org/drawingml/2006/main">
              <a:ext uri="{FF2B5EF4-FFF2-40B4-BE49-F238E27FC236}">
                <a16:creationId xmlns:a16="http://schemas.microsoft.com/office/drawing/2014/main" id="{E96C8F70-A7A7-41DD-856D-6298222736A1}"/>
              </a:ext>
            </a:extLst>
          </p:cNvPr>
          <p:cNvSpPr>
            <a:spLocks xmlns:a="http://schemas.openxmlformats.org/drawingml/2006/main" noGrp="1"/>
          </p:cNvSpPr>
          <p:nvPr/>
        </p:nvSpPr>
        <p:spPr>
          <a:xfrm xmlns:a="http://schemas.openxmlformats.org/drawingml/2006/main">
            <a:off x="704850" y="56197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59C3E5"/>
                </a:solidFill>
                <a:latin typeface="NanumGothic"/>
                <a:ea typeface="NanumGothic"/>
                <a:cs typeface="NanumGothic"/>
              </a:defRPr>
            </a:pPr>
            <a:r>
              <a:rPr sz="2100" b="1">
                <a:solidFill>
                  <a:srgbClr val="59C3E5"/>
                </a:solidFill>
                <a:latin typeface="NanumGothic"/>
                <a:ea typeface="NanumGothic"/>
                <a:cs typeface="NanumGothic"/>
              </a:rPr>
              <a:t>감사합니다</a:t>
            </a:r>
          </a:p>
        </p:txBody>
      </p:sp>
    </p:spTree>
    <p:extLst>
      <p:ext uri="{BB962C8B-B14F-4D97-AF65-F5344CB8AC3E}">
        <p14:creationId xmlns:p14="http://schemas.microsoft.com/office/powerpoint/2010/main" val="903563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2026-10-05T22:12:00.4830000Z</dcterms:created>
  <dcterms:modified xsi:type="dcterms:W3CDTF">2026-10-05T22:12:00.4830000Z</dcterms:modified>
</coreProperties>
</file>